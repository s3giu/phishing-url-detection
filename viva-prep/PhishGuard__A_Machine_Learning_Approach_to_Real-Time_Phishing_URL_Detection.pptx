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Sergiu Ionut Pascaru. My dissertation is titled PhishGuard: A Machine Learning Approach to Real-Time Phishing URL Detection. This presentation will cover my research, methodology, and findings for my CMP600 dissertation.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Phishing is not a new problem, but it is a growing one. The APWG reported record-high phishing volumes in 2022. The key challenge is zero-hour attacks—brand new URLs that no blacklist has seen yet. Machine learning trained on the structural patterns of URLs can detect these instantly. My research question asks if machine learning using only lexical URL features can accurately detect phishing for real-world use, and which classifier performs best. This leads us to the existing literature and the gap my study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shows three generations of phishing detection. Blacklists are fast but reactive. Content-based ML is accurate but slow. The gap I identified is that no study had done a rigorous, controlled comparison of purely lexical classifiers on a large, modern dataset—with explicit False Positive Rate reporting. This study fills that gap by focusing solely on lexical features for real-time detection. Now, let's look at how I approached this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CRISP-DM because it is the industry-standard data mining methodology and maps naturally to Agile sprints. My philosophy is positivist—I believe knowledge comes from observable, measurable phenomena. My approach is deductive—I took hypotheses from the literature and tested them empirically. This structured approach ensured a robust and reproducible study. Next, I'll explain the specific features I engineered for this detection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10 features were selected based on the literature and validated by ANOVA F-test. The most discriminative feature is dot_count with an F-score of 31,994—phishing URLs stack subdomains to look legitimate. All features are purely structural—no DNS lookups, no page loading, which makes the system real-time capable. This focus on speed and privacy is central to PhishGuard's design. Now, let's see how these features performed with different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core results. Random Forest achieved 94.03% accuracy with a False Positive Rate of just 5.45%. This means only about 1 in 18 legitimate URLs would be incorrectly flagged. The linear models, Logistic Regression and SVM, plateaued at around 78-79% accuracy. This 15-percentage-point gap is significant. Cross-validation confirmed that Random Forest's performance is stable and not due to overfitting. It shows the model generalizes well to unseen data. This clear difference in performance leads us to the next question: why did Random Forest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15-percentage-point gap between Random Forest and the linear models is the central finding of this dissertation. It confirms that ensemble methods excel when decision boundaries are complex. First, phishing patterns are non-linear. A long URL with high entropy and many dots is far more suspicious than any single feature alone. Random Forest captures these complex interactions, but linear models cannot. Second, ensemble robustness is key. With 200 decision trees voting on each URL, no single tree dominates. This reduces variance and handles the diversity of phishing tactics. Finally, Random Forest handled class imbalance well. It adjusted for the 66/34 class split automatically, achieving 93% recall. Linear models struggled, missing half of all phishing URLs. This brings us to the limitations of the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what this study cannot do. The model is trained on historical data, so it will experience temporal drift as phishing tactics evolve. A production system would need periodic retraining. Also, it's lexical-only. This means sophisticated domain-spoofing attacks, like 'paypal.com.verify-login.net', might score lower than expected. Content-based features would improve this. Finally, the Kaggle dataset might not represent all current phishing campaigns, especially new mobile or homograph attacks. However, these limitations don't undermine the core contribution. This is a rigorous, reproducible baseline that others can build on. This leads me to the overall conclusion and contributions.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dissertation makes three key contributions. First, we have empirical evidence. Random Forest significantly outperforms linear classifiers for lexical phishing detection, achieving 94.03% accuracy and a low 5.45% False Positive Rate. This provides a strong, reproducible baseline. Second, I've created a complete open-source pipeline on GitHub. All the code for preprocessing, feature engineering, training, and evaluation is there for anyone to replicate. Finally, there's a working web prototype, PhishGuard. It demonstrates the real-world viability of this system. It's fast, accurate, and privacy-preserving, making it a viable first layer in a multi-layered security architecture. Now, let me show you PhishGuard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the system working live. This is the PhishGuard prototype. It takes any URL and analyses it using the Random Forest model we just discussed. It's trained on over 641,000 URLs. I'll show you a safe URL, a suspicious one, and a clearly malicious one. You'll see the risk score, how each of the 10 features contributes to that score, and how quickly it provides a verdict. This demonstrates its real-time capability. If the internet fails, I have screenshots in the appendix as a backup. So, let's start with a safe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4754863" cy="5143500"/>
          </a:xfrm>
          <a:prstGeom prst="rect">
            <a:avLst/>
          </a:prstGeom>
          <a:solidFill>
            <a:srgbClr val="0A192F"/>
          </a:solidFill>
          <a:ln/>
        </p:spPr>
      </p:sp>
      <p:sp>
        <p:nvSpPr>
          <p:cNvPr id="5" name="Text 1"/>
          <p:cNvSpPr/>
          <p:nvPr/>
        </p:nvSpPr>
        <p:spPr>
          <a:xfrm>
            <a:off x="400050" y="1058921"/>
            <a:ext cx="3954763" cy="121444"/>
          </a:xfrm>
          <a:prstGeom prst="rect">
            <a:avLst/>
          </a:prstGeom>
          <a:noFill/>
          <a:ln/>
        </p:spPr>
        <p:txBody>
          <a:bodyPr wrap="square" lIns="0" tIns="0" rIns="0" bIns="0" rtlCol="0" anchor="t">
            <a:spAutoFit/>
          </a:bodyPr>
          <a:lstStyle/>
          <a:p>
            <a:pPr algn="l" indent="0" marL="0">
              <a:buNone/>
            </a:pPr>
            <a:r>
              <a:rPr lang="en-US" sz="650" spc="2" kern="0" dirty="0">
                <a:solidFill>
                  <a:srgbClr val="4A90D9"/>
                </a:solidFill>
                <a:latin typeface="DM Mono" pitchFamily="34" charset="0"/>
                <a:ea typeface="DM Mono" pitchFamily="34" charset="-122"/>
                <a:cs typeface="DM Mono" pitchFamily="34" charset="-120"/>
              </a:rPr>
              <a:t>CMP600 · DISSERTATION</a:t>
            </a:r>
            <a:endParaRPr lang="en-US" sz="650" dirty="0"/>
          </a:p>
        </p:txBody>
      </p:sp>
      <p:sp>
        <p:nvSpPr>
          <p:cNvPr id="6" name="Text 2"/>
          <p:cNvSpPr/>
          <p:nvPr/>
        </p:nvSpPr>
        <p:spPr>
          <a:xfrm>
            <a:off x="400050" y="1601846"/>
            <a:ext cx="3954763" cy="1380083"/>
          </a:xfrm>
          <a:prstGeom prst="rect">
            <a:avLst/>
          </a:prstGeom>
          <a:noFill/>
          <a:ln/>
        </p:spPr>
        <p:txBody>
          <a:bodyPr wrap="square" lIns="0" tIns="0" rIns="0" bIns="0" rtlCol="0" anchor="t">
            <a:spAutoFit/>
          </a:bodyPr>
          <a:lstStyle/>
          <a:p>
            <a:pPr algn="l" indent="0" marL="0">
              <a:lnSpc>
                <a:spcPct val="92000"/>
              </a:lnSpc>
              <a:buNone/>
            </a:pPr>
            <a:r>
              <a:rPr lang="en-US" sz="2100" b="1" dirty="0">
                <a:solidFill>
                  <a:srgbClr val="4A90D9"/>
                </a:solidFill>
                <a:latin typeface="Space Grotesk Bold" pitchFamily="34" charset="0"/>
                <a:ea typeface="Space Grotesk Bold" pitchFamily="34" charset="-122"/>
                <a:cs typeface="Space Grotesk Bold" pitchFamily="34" charset="-120"/>
              </a:rPr>
              <a:t>PhishGuard</a:t>
            </a:r>
            <a:r>
              <a:rPr lang="en-US" sz="2100" b="1" dirty="0">
                <a:solidFill>
                  <a:srgbClr val="FFFFFF"/>
                </a:solidFill>
                <a:latin typeface="Space Grotesk Bold" pitchFamily="34" charset="0"/>
                <a:ea typeface="Space Grotesk Bold" pitchFamily="34" charset="-122"/>
                <a:cs typeface="Space Grotesk Bold" pitchFamily="34" charset="-120"/>
              </a:rPr>
              <a:t>
</a:t>
            </a:r>
            <a:r>
              <a:rPr lang="en-US" sz="2100" b="1" dirty="0">
                <a:solidFill>
                  <a:srgbClr val="4A90D9"/>
                </a:solidFill>
                <a:latin typeface="Space Grotesk Bold" pitchFamily="34" charset="0"/>
                <a:ea typeface="Space Grotesk Bold" pitchFamily="34" charset="-122"/>
                <a:cs typeface="Space Grotesk Bold" pitchFamily="34" charset="-120"/>
              </a:rPr>
              <a:t>A Machine Learning </a:t>
            </a:r>
            <a:r>
              <a:rPr lang="en-US" sz="2100" b="1" dirty="0">
                <a:solidFill>
                  <a:srgbClr val="4A90D9"/>
                </a:solidFill>
                <a:latin typeface="Space Grotesk Bold" pitchFamily="34" charset="0"/>
                <a:ea typeface="Space Grotesk Bold" pitchFamily="34" charset="-122"/>
                <a:cs typeface="Space Grotesk Bold" pitchFamily="34" charset="-120"/>
              </a:rPr>
              <a:t>Approach to Real-Time </a:t>
            </a:r>
            <a:r>
              <a:rPr lang="en-US" sz="2100" b="1" dirty="0">
                <a:solidFill>
                  <a:srgbClr val="4A90D9"/>
                </a:solidFill>
                <a:latin typeface="Space Grotesk Bold" pitchFamily="34" charset="0"/>
                <a:ea typeface="Space Grotesk Bold" pitchFamily="34" charset="-122"/>
                <a:cs typeface="Space Grotesk Bold" pitchFamily="34" charset="-120"/>
              </a:rPr>
              <a:t>Phishing URL Detection</a:t>
            </a:r>
            <a:endParaRPr lang="en-US" sz="2100" dirty="0"/>
          </a:p>
        </p:txBody>
      </p:sp>
      <p:sp>
        <p:nvSpPr>
          <p:cNvPr id="7" name="Text 3"/>
          <p:cNvSpPr/>
          <p:nvPr/>
        </p:nvSpPr>
        <p:spPr>
          <a:xfrm>
            <a:off x="400050" y="3124805"/>
            <a:ext cx="3954763"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8BA4C0"/>
                </a:solidFill>
                <a:latin typeface="Space Grotesk" pitchFamily="34" charset="0"/>
                <a:ea typeface="Space Grotesk" pitchFamily="34" charset="-122"/>
                <a:cs typeface="Space Grotesk" pitchFamily="34" charset="-120"/>
              </a:rPr>
              <a:t>Viva Voce Presentation · June 2026</a:t>
            </a:r>
            <a:endParaRPr lang="en-US" sz="850" dirty="0"/>
          </a:p>
        </p:txBody>
      </p:sp>
      <p:pic>
        <p:nvPicPr>
          <p:cNvPr id="8" name="Image 1" descr="preencoded.png">    </p:cNvPr>
          <p:cNvPicPr>
            <a:picLocks noChangeAspect="1"/>
          </p:cNvPicPr>
          <p:nvPr/>
        </p:nvPicPr>
        <p:blipFill>
          <a:blip r:embed="rId2"/>
          <a:stretch>
            <a:fillRect/>
          </a:stretch>
        </p:blipFill>
        <p:spPr>
          <a:xfrm>
            <a:off x="400050" y="3650568"/>
            <a:ext cx="400050" cy="400050"/>
          </a:xfrm>
          <a:prstGeom prst="rect">
            <a:avLst/>
          </a:prstGeom>
        </p:spPr>
      </p:pic>
      <p:sp>
        <p:nvSpPr>
          <p:cNvPr id="9" name="Shape 4"/>
          <p:cNvSpPr/>
          <p:nvPr/>
        </p:nvSpPr>
        <p:spPr>
          <a:xfrm>
            <a:off x="5169201" y="1252835"/>
            <a:ext cx="3574721" cy="212527"/>
          </a:xfrm>
          <a:prstGeom prst="rect">
            <a:avLst/>
          </a:prstGeom>
          <a:solidFill>
            <a:srgbClr val="E6F0FA"/>
          </a:solidFill>
          <a:ln w="9144">
            <a:solidFill>
              <a:srgbClr val="0056B3"/>
            </a:solidFill>
            <a:prstDash val="solid"/>
          </a:ln>
        </p:spPr>
      </p:sp>
      <p:sp>
        <p:nvSpPr>
          <p:cNvPr id="10" name="Text 5"/>
          <p:cNvSpPr/>
          <p:nvPr/>
        </p:nvSpPr>
        <p:spPr>
          <a:xfrm>
            <a:off x="5169201" y="1252835"/>
            <a:ext cx="3574721" cy="212527"/>
          </a:xfrm>
          <a:prstGeom prst="rect">
            <a:avLst/>
          </a:prstGeom>
          <a:noFill/>
          <a:ln/>
        </p:spPr>
        <p:txBody>
          <a:bodyPr wrap="square" lIns="136017" tIns="51054" rIns="136017" bIns="51054" rtlCol="0" anchor="t">
            <a:spAutoFit/>
          </a:bodyPr>
          <a:lstStyle/>
          <a:p>
            <a:pPr algn="l" indent="0" marL="0">
              <a:buNone/>
            </a:pPr>
            <a:r>
              <a:rPr lang="en-US" sz="600" spc="2" kern="0" dirty="0">
                <a:solidFill>
                  <a:srgbClr val="0056B3"/>
                </a:solidFill>
                <a:latin typeface="DM Mono Medium" pitchFamily="34" charset="0"/>
                <a:ea typeface="DM Mono Medium" pitchFamily="34" charset="-122"/>
                <a:cs typeface="DM Mono Medium" pitchFamily="34" charset="-120"/>
              </a:rPr>
              <a:t>VIVA VOCE — ORAL EXAMINATION</a:t>
            </a:r>
            <a:endParaRPr lang="en-US" sz="600" dirty="0"/>
          </a:p>
        </p:txBody>
      </p:sp>
      <p:sp>
        <p:nvSpPr>
          <p:cNvPr id="11" name="Text 6"/>
          <p:cNvSpPr/>
          <p:nvPr/>
        </p:nvSpPr>
        <p:spPr>
          <a:xfrm>
            <a:off x="5169201" y="1715393"/>
            <a:ext cx="3574721"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Medium" pitchFamily="34" charset="0"/>
                <a:ea typeface="DM Mono Medium" pitchFamily="34" charset="-122"/>
                <a:cs typeface="DM Mono Medium" pitchFamily="34" charset="-120"/>
              </a:rPr>
              <a:t>STUDENT</a:t>
            </a:r>
            <a:endParaRPr lang="en-US" sz="550" dirty="0"/>
          </a:p>
        </p:txBody>
      </p:sp>
      <p:sp>
        <p:nvSpPr>
          <p:cNvPr id="12" name="Text 7"/>
          <p:cNvSpPr/>
          <p:nvPr/>
        </p:nvSpPr>
        <p:spPr>
          <a:xfrm>
            <a:off x="5169201" y="1847552"/>
            <a:ext cx="3574721" cy="201811"/>
          </a:xfrm>
          <a:prstGeom prst="rect">
            <a:avLst/>
          </a:prstGeom>
          <a:noFill/>
          <a:ln/>
        </p:spPr>
        <p:txBody>
          <a:bodyPr wrap="square" lIns="0" tIns="0" rIns="0" bIns="0" rtlCol="0" anchor="t">
            <a:spAutoFit/>
          </a:bodyPr>
          <a:lstStyle/>
          <a:p>
            <a:pPr algn="l" indent="0" marL="0">
              <a:buNone/>
            </a:pPr>
            <a:r>
              <a:rPr lang="en-US" sz="1100" b="1" dirty="0">
                <a:solidFill>
                  <a:srgbClr val="0A192F"/>
                </a:solidFill>
                <a:latin typeface="Space Grotesk Bold" pitchFamily="34" charset="0"/>
                <a:ea typeface="Space Grotesk Bold" pitchFamily="34" charset="-122"/>
                <a:cs typeface="Space Grotesk Bold" pitchFamily="34" charset="-120"/>
              </a:rPr>
              <a:t>Sergiu Ionut Pascaru</a:t>
            </a:r>
            <a:endParaRPr lang="en-US" sz="1100" dirty="0"/>
          </a:p>
        </p:txBody>
      </p:sp>
      <p:sp>
        <p:nvSpPr>
          <p:cNvPr id="13" name="Text 8"/>
          <p:cNvSpPr/>
          <p:nvPr/>
        </p:nvSpPr>
        <p:spPr>
          <a:xfrm>
            <a:off x="5169201" y="2427982"/>
            <a:ext cx="3574721"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Medium" pitchFamily="34" charset="0"/>
                <a:ea typeface="DM Mono Medium" pitchFamily="34" charset="-122"/>
                <a:cs typeface="DM Mono Medium" pitchFamily="34" charset="-120"/>
              </a:rPr>
              <a:t>PROGRAMME</a:t>
            </a:r>
            <a:endParaRPr lang="en-US" sz="550" dirty="0"/>
          </a:p>
        </p:txBody>
      </p:sp>
      <p:sp>
        <p:nvSpPr>
          <p:cNvPr id="14" name="Text 9"/>
          <p:cNvSpPr/>
          <p:nvPr/>
        </p:nvSpPr>
        <p:spPr>
          <a:xfrm>
            <a:off x="5169201" y="2560141"/>
            <a:ext cx="3574721" cy="155377"/>
          </a:xfrm>
          <a:prstGeom prst="rect">
            <a:avLst/>
          </a:prstGeom>
          <a:noFill/>
          <a:ln/>
        </p:spPr>
        <p:txBody>
          <a:bodyPr wrap="square" lIns="0" tIns="0" rIns="0" bIns="0" rtlCol="0" anchor="t">
            <a:spAutoFit/>
          </a:bodyPr>
          <a:lstStyle/>
          <a:p>
            <a:pPr algn="l" indent="0" marL="0">
              <a:buNone/>
            </a:pPr>
            <a:r>
              <a:rPr lang="en-US" sz="850" dirty="0">
                <a:solidFill>
                  <a:srgbClr val="0A192F"/>
                </a:solidFill>
                <a:latin typeface="Space Grotesk SemiBold" pitchFamily="34" charset="0"/>
                <a:ea typeface="Space Grotesk SemiBold" pitchFamily="34" charset="-122"/>
                <a:cs typeface="Space Grotesk SemiBold" pitchFamily="34" charset="-120"/>
              </a:rPr>
              <a:t>BSc (Hons) Computing [Top-up]</a:t>
            </a:r>
            <a:endParaRPr lang="en-US" sz="850" dirty="0"/>
          </a:p>
        </p:txBody>
      </p:sp>
      <p:sp>
        <p:nvSpPr>
          <p:cNvPr id="15" name="Text 10"/>
          <p:cNvSpPr/>
          <p:nvPr/>
        </p:nvSpPr>
        <p:spPr>
          <a:xfrm>
            <a:off x="5169201" y="2872680"/>
            <a:ext cx="3574721"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Medium" pitchFamily="34" charset="0"/>
                <a:ea typeface="DM Mono Medium" pitchFamily="34" charset="-122"/>
                <a:cs typeface="DM Mono Medium" pitchFamily="34" charset="-120"/>
              </a:rPr>
              <a:t>INSTITUTION</a:t>
            </a:r>
            <a:endParaRPr lang="en-US" sz="550" dirty="0"/>
          </a:p>
        </p:txBody>
      </p:sp>
      <p:sp>
        <p:nvSpPr>
          <p:cNvPr id="16" name="Text 11"/>
          <p:cNvSpPr/>
          <p:nvPr/>
        </p:nvSpPr>
        <p:spPr>
          <a:xfrm>
            <a:off x="5169201" y="3004840"/>
            <a:ext cx="3574721" cy="155377"/>
          </a:xfrm>
          <a:prstGeom prst="rect">
            <a:avLst/>
          </a:prstGeom>
          <a:noFill/>
          <a:ln/>
        </p:spPr>
        <p:txBody>
          <a:bodyPr wrap="square" lIns="0" tIns="0" rIns="0" bIns="0" rtlCol="0" anchor="t">
            <a:spAutoFit/>
          </a:bodyPr>
          <a:lstStyle/>
          <a:p>
            <a:pPr algn="l" indent="0" marL="0">
              <a:buNone/>
            </a:pPr>
            <a:r>
              <a:rPr lang="en-US" sz="850" dirty="0">
                <a:solidFill>
                  <a:srgbClr val="0A192F"/>
                </a:solidFill>
                <a:latin typeface="Space Grotesk SemiBold" pitchFamily="34" charset="0"/>
                <a:ea typeface="Space Grotesk SemiBold" pitchFamily="34" charset="-122"/>
                <a:cs typeface="Space Grotesk SemiBold" pitchFamily="34" charset="-120"/>
              </a:rPr>
              <a:t>Elizabeth School of London</a:t>
            </a:r>
            <a:endParaRPr lang="en-US" sz="850" dirty="0"/>
          </a:p>
        </p:txBody>
      </p:sp>
      <p:sp>
        <p:nvSpPr>
          <p:cNvPr id="17" name="Text 12"/>
          <p:cNvSpPr/>
          <p:nvPr/>
        </p:nvSpPr>
        <p:spPr>
          <a:xfrm>
            <a:off x="5169201" y="3595985"/>
            <a:ext cx="491133" cy="103584"/>
          </a:xfrm>
          <a:prstGeom prst="rect">
            <a:avLst/>
          </a:prstGeom>
          <a:noFill/>
          <a:ln/>
        </p:spPr>
        <p:txBody>
          <a:bodyPr wrap="none" lIns="0" tIns="0" rIns="0" bIns="0" rtlCol="0" anchor="t">
            <a:spAutoFit/>
          </a:bodyPr>
          <a:lstStyle/>
          <a:p>
            <a:pPr algn="l" indent="0" marL="0">
              <a:buNone/>
            </a:pPr>
            <a:r>
              <a:rPr lang="en-US" sz="550" spc="2" kern="0" dirty="0">
                <a:solidFill>
                  <a:srgbClr val="0056B3"/>
                </a:solidFill>
                <a:latin typeface="DM Mono Medium" pitchFamily="34" charset="0"/>
                <a:ea typeface="DM Mono Medium" pitchFamily="34" charset="-122"/>
                <a:cs typeface="DM Mono Medium" pitchFamily="34" charset="-120"/>
              </a:rPr>
              <a:t>MODULE</a:t>
            </a:r>
            <a:endParaRPr lang="en-US" sz="550" dirty="0"/>
          </a:p>
        </p:txBody>
      </p:sp>
      <p:sp>
        <p:nvSpPr>
          <p:cNvPr id="18" name="Text 13"/>
          <p:cNvSpPr/>
          <p:nvPr/>
        </p:nvSpPr>
        <p:spPr>
          <a:xfrm>
            <a:off x="5169201" y="3728145"/>
            <a:ext cx="491133" cy="155377"/>
          </a:xfrm>
          <a:prstGeom prst="rect">
            <a:avLst/>
          </a:prstGeom>
          <a:noFill/>
          <a:ln/>
        </p:spPr>
        <p:txBody>
          <a:bodyPr wrap="none" lIns="0" tIns="0" rIns="0" bIns="0" rtlCol="0" anchor="t">
            <a:spAutoFit/>
          </a:bodyPr>
          <a:lstStyle/>
          <a:p>
            <a:pPr algn="l" indent="0" marL="0">
              <a:buNone/>
            </a:pPr>
            <a:r>
              <a:rPr lang="en-US" sz="850" dirty="0">
                <a:solidFill>
                  <a:srgbClr val="0A192F"/>
                </a:solidFill>
                <a:latin typeface="Space Grotesk SemiBold" pitchFamily="34" charset="0"/>
                <a:ea typeface="Space Grotesk SemiBold" pitchFamily="34" charset="-122"/>
                <a:cs typeface="Space Grotesk SemiBold" pitchFamily="34" charset="-120"/>
              </a:rPr>
              <a:t>CMP600</a:t>
            </a:r>
            <a:endParaRPr lang="en-US" sz="850" dirty="0"/>
          </a:p>
        </p:txBody>
      </p:sp>
      <p:sp>
        <p:nvSpPr>
          <p:cNvPr id="19" name="Text 14"/>
          <p:cNvSpPr/>
          <p:nvPr/>
        </p:nvSpPr>
        <p:spPr>
          <a:xfrm>
            <a:off x="5946084" y="3595985"/>
            <a:ext cx="607219" cy="103584"/>
          </a:xfrm>
          <a:prstGeom prst="rect">
            <a:avLst/>
          </a:prstGeom>
          <a:noFill/>
          <a:ln/>
        </p:spPr>
        <p:txBody>
          <a:bodyPr wrap="none" lIns="0" tIns="0" rIns="0" bIns="0" rtlCol="0" anchor="t">
            <a:spAutoFit/>
          </a:bodyPr>
          <a:lstStyle/>
          <a:p>
            <a:pPr algn="l" indent="0" marL="0">
              <a:buNone/>
            </a:pPr>
            <a:r>
              <a:rPr lang="en-US" sz="550" spc="2" kern="0" dirty="0">
                <a:solidFill>
                  <a:srgbClr val="0056B3"/>
                </a:solidFill>
                <a:latin typeface="DM Mono Medium" pitchFamily="34" charset="0"/>
                <a:ea typeface="DM Mono Medium" pitchFamily="34" charset="-122"/>
                <a:cs typeface="DM Mono Medium" pitchFamily="34" charset="-120"/>
              </a:rPr>
              <a:t>SUPERVISOR</a:t>
            </a:r>
            <a:endParaRPr lang="en-US" sz="550" dirty="0"/>
          </a:p>
        </p:txBody>
      </p:sp>
      <p:sp>
        <p:nvSpPr>
          <p:cNvPr id="20" name="Text 15"/>
          <p:cNvSpPr/>
          <p:nvPr/>
        </p:nvSpPr>
        <p:spPr>
          <a:xfrm>
            <a:off x="5946084" y="3728145"/>
            <a:ext cx="607219" cy="155377"/>
          </a:xfrm>
          <a:prstGeom prst="rect">
            <a:avLst/>
          </a:prstGeom>
          <a:noFill/>
          <a:ln/>
        </p:spPr>
        <p:txBody>
          <a:bodyPr wrap="none" lIns="0" tIns="0" rIns="0" bIns="0" rtlCol="0" anchor="t">
            <a:spAutoFit/>
          </a:bodyPr>
          <a:lstStyle/>
          <a:p>
            <a:pPr algn="l" indent="0" marL="0">
              <a:buNone/>
            </a:pPr>
            <a:r>
              <a:rPr lang="en-US" sz="850" dirty="0">
                <a:solidFill>
                  <a:srgbClr val="0A192F"/>
                </a:solidFill>
                <a:latin typeface="Space Grotesk SemiBold" pitchFamily="34" charset="0"/>
                <a:ea typeface="Space Grotesk SemiBold" pitchFamily="34" charset="-122"/>
                <a:cs typeface="Space Grotesk SemiBold" pitchFamily="34" charset="-120"/>
              </a:rPr>
              <a:t>Oti Edema</a:t>
            </a:r>
            <a:endParaRPr lang="en-US" sz="850" dirty="0"/>
          </a:p>
        </p:txBody>
      </p:sp>
      <p:sp>
        <p:nvSpPr>
          <p:cNvPr id="21" name="Text 16"/>
          <p:cNvSpPr/>
          <p:nvPr/>
        </p:nvSpPr>
        <p:spPr>
          <a:xfrm>
            <a:off x="6839052" y="3595985"/>
            <a:ext cx="621506" cy="103584"/>
          </a:xfrm>
          <a:prstGeom prst="rect">
            <a:avLst/>
          </a:prstGeom>
          <a:noFill/>
          <a:ln/>
        </p:spPr>
        <p:txBody>
          <a:bodyPr wrap="none" lIns="0" tIns="0" rIns="0" bIns="0" rtlCol="0" anchor="t">
            <a:spAutoFit/>
          </a:bodyPr>
          <a:lstStyle/>
          <a:p>
            <a:pPr algn="l" indent="0" marL="0">
              <a:buNone/>
            </a:pPr>
            <a:r>
              <a:rPr lang="en-US" sz="550" spc="2" kern="0" dirty="0">
                <a:solidFill>
                  <a:srgbClr val="0056B3"/>
                </a:solidFill>
                <a:latin typeface="DM Mono Medium" pitchFamily="34" charset="0"/>
                <a:ea typeface="DM Mono Medium" pitchFamily="34" charset="-122"/>
                <a:cs typeface="DM Mono Medium" pitchFamily="34" charset="-120"/>
              </a:rPr>
              <a:t>DATE</a:t>
            </a:r>
            <a:endParaRPr lang="en-US" sz="550" dirty="0"/>
          </a:p>
        </p:txBody>
      </p:sp>
      <p:sp>
        <p:nvSpPr>
          <p:cNvPr id="22" name="Text 17"/>
          <p:cNvSpPr/>
          <p:nvPr/>
        </p:nvSpPr>
        <p:spPr>
          <a:xfrm>
            <a:off x="6839052" y="3728145"/>
            <a:ext cx="621506" cy="155377"/>
          </a:xfrm>
          <a:prstGeom prst="rect">
            <a:avLst/>
          </a:prstGeom>
          <a:noFill/>
          <a:ln/>
        </p:spPr>
        <p:txBody>
          <a:bodyPr wrap="none" lIns="0" tIns="0" rIns="0" bIns="0" rtlCol="0" anchor="t">
            <a:spAutoFit/>
          </a:bodyPr>
          <a:lstStyle/>
          <a:p>
            <a:pPr algn="l" indent="0" marL="0">
              <a:buNone/>
            </a:pPr>
            <a:r>
              <a:rPr lang="en-US" sz="850" dirty="0">
                <a:solidFill>
                  <a:srgbClr val="0A192F"/>
                </a:solidFill>
                <a:latin typeface="Space Grotesk SemiBold" pitchFamily="34" charset="0"/>
                <a:ea typeface="Space Grotesk SemiBold" pitchFamily="34" charset="-122"/>
                <a:cs typeface="Space Grotesk SemiBold" pitchFamily="34" charset="-120"/>
              </a:rPr>
              <a:t>June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794742"/>
          </a:xfrm>
          <a:prstGeom prst="rect">
            <a:avLst/>
          </a:prstGeom>
          <a:solidFill>
            <a:srgbClr val="0A192F"/>
          </a:solidFill>
          <a:ln/>
        </p:spPr>
      </p:sp>
      <p:sp>
        <p:nvSpPr>
          <p:cNvPr id="5" name="Text 1"/>
          <p:cNvSpPr/>
          <p:nvPr/>
        </p:nvSpPr>
        <p:spPr>
          <a:xfrm>
            <a:off x="400050" y="200025"/>
            <a:ext cx="2820023" cy="121444"/>
          </a:xfrm>
          <a:prstGeom prst="rect">
            <a:avLst/>
          </a:prstGeom>
          <a:noFill/>
          <a:ln/>
        </p:spPr>
        <p:txBody>
          <a:bodyPr wrap="square" lIns="0" tIns="0" rIns="0" bIns="0" rtlCol="0" anchor="t">
            <a:spAutoFit/>
          </a:bodyPr>
          <a:lstStyle/>
          <a:p>
            <a:pPr algn="l" indent="0" marL="0">
              <a:buNone/>
            </a:pPr>
            <a:r>
              <a:rPr lang="en-US" sz="650" spc="2" kern="0" dirty="0">
                <a:solidFill>
                  <a:srgbClr val="4A90D9"/>
                </a:solidFill>
                <a:latin typeface="DM Mono" pitchFamily="34" charset="0"/>
                <a:ea typeface="DM Mono" pitchFamily="34" charset="-122"/>
                <a:cs typeface="DM Mono" pitchFamily="34" charset="-120"/>
              </a:rPr>
              <a:t>02 / 10</a:t>
            </a:r>
            <a:endParaRPr lang="en-US" sz="650" dirty="0"/>
          </a:p>
        </p:txBody>
      </p:sp>
      <p:sp>
        <p:nvSpPr>
          <p:cNvPr id="6" name="Text 2"/>
          <p:cNvSpPr/>
          <p:nvPr/>
        </p:nvSpPr>
        <p:spPr>
          <a:xfrm>
            <a:off x="400050" y="350044"/>
            <a:ext cx="2820023" cy="273248"/>
          </a:xfrm>
          <a:prstGeom prst="rect">
            <a:avLst/>
          </a:prstGeom>
          <a:noFill/>
          <a:ln/>
        </p:spPr>
        <p:txBody>
          <a:bodyPr wrap="square" lIns="0" tIns="0" rIns="0" bIns="0" rtlCol="0" anchor="t">
            <a:spAutoFit/>
          </a:bodyPr>
          <a:lstStyle/>
          <a:p>
            <a:pPr algn="l" indent="0" marL="0">
              <a:buNone/>
            </a:pPr>
            <a:r>
              <a:rPr lang="en-US" sz="1500" b="1" dirty="0">
                <a:solidFill>
                  <a:srgbClr val="FFFFFF"/>
                </a:solidFill>
                <a:latin typeface="Space Grotesk Bold" pitchFamily="34" charset="0"/>
                <a:ea typeface="Space Grotesk Bold" pitchFamily="34" charset="-122"/>
                <a:cs typeface="Space Grotesk Bold" pitchFamily="34" charset="-120"/>
              </a:rPr>
              <a:t>Research Aim &amp; </a:t>
            </a:r>
            <a:r>
              <a:rPr lang="en-US" sz="1500" b="1" dirty="0">
                <a:solidFill>
                  <a:srgbClr val="4A90D9"/>
                </a:solidFill>
                <a:latin typeface="Space Grotesk Bold" pitchFamily="34" charset="0"/>
                <a:ea typeface="Space Grotesk Bold" pitchFamily="34" charset="-122"/>
                <a:cs typeface="Space Grotesk Bold" pitchFamily="34" charset="-120"/>
              </a:rPr>
              <a:t>Background</a:t>
            </a:r>
            <a:endParaRPr lang="en-US" sz="1500" dirty="0"/>
          </a:p>
        </p:txBody>
      </p:sp>
      <p:sp>
        <p:nvSpPr>
          <p:cNvPr id="7" name="Text 3"/>
          <p:cNvSpPr/>
          <p:nvPr/>
        </p:nvSpPr>
        <p:spPr>
          <a:xfrm>
            <a:off x="400050" y="1051917"/>
            <a:ext cx="3414713"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SCALE OF THE PROBLEM</a:t>
            </a:r>
            <a:endParaRPr lang="en-US" sz="550" dirty="0"/>
          </a:p>
        </p:txBody>
      </p:sp>
      <p:sp>
        <p:nvSpPr>
          <p:cNvPr id="8" name="Shape 4"/>
          <p:cNvSpPr/>
          <p:nvPr/>
        </p:nvSpPr>
        <p:spPr>
          <a:xfrm>
            <a:off x="400050" y="1355527"/>
            <a:ext cx="3414713" cy="781515"/>
          </a:xfrm>
          <a:prstGeom prst="rect">
            <a:avLst/>
          </a:prstGeom>
          <a:solidFill>
            <a:srgbClr val="E6F0FA"/>
          </a:solidFill>
          <a:ln/>
        </p:spPr>
      </p:sp>
      <p:sp>
        <p:nvSpPr>
          <p:cNvPr id="9" name="Shape 5"/>
          <p:cNvSpPr/>
          <p:nvPr/>
        </p:nvSpPr>
        <p:spPr>
          <a:xfrm>
            <a:off x="400050" y="1355527"/>
            <a:ext cx="3414713" cy="21431"/>
          </a:xfrm>
          <a:prstGeom prst="rect">
            <a:avLst/>
          </a:prstGeom>
          <a:solidFill>
            <a:srgbClr val="0056B3"/>
          </a:solidFill>
          <a:ln/>
        </p:spPr>
      </p:sp>
      <p:sp>
        <p:nvSpPr>
          <p:cNvPr id="10" name="Text 6"/>
          <p:cNvSpPr/>
          <p:nvPr/>
        </p:nvSpPr>
        <p:spPr>
          <a:xfrm>
            <a:off x="542925" y="1469827"/>
            <a:ext cx="3128963" cy="228600"/>
          </a:xfrm>
          <a:prstGeom prst="rect">
            <a:avLst/>
          </a:prstGeom>
          <a:noFill/>
          <a:ln/>
        </p:spPr>
        <p:txBody>
          <a:bodyPr wrap="none" lIns="0" tIns="0" rIns="0" bIns="0" rtlCol="0" anchor="t">
            <a:spAutoFit/>
          </a:bodyPr>
          <a:lstStyle/>
          <a:p>
            <a:pPr algn="l" indent="0" marL="0">
              <a:lnSpc>
                <a:spcPct val="80000"/>
              </a:lnSpc>
              <a:buNone/>
            </a:pPr>
            <a:r>
              <a:rPr lang="en-US" sz="1600" b="1" dirty="0">
                <a:solidFill>
                  <a:srgbClr val="0A192F"/>
                </a:solidFill>
                <a:latin typeface="DM Mono Medium" pitchFamily="34" charset="0"/>
                <a:ea typeface="DM Mono Medium" pitchFamily="34" charset="-122"/>
                <a:cs typeface="DM Mono Medium" pitchFamily="34" charset="-120"/>
              </a:rPr>
              <a:t>651,191</a:t>
            </a:r>
            <a:endParaRPr lang="en-US" sz="1600" dirty="0"/>
          </a:p>
        </p:txBody>
      </p:sp>
      <p:sp>
        <p:nvSpPr>
          <p:cNvPr id="11" name="Text 7"/>
          <p:cNvSpPr/>
          <p:nvPr/>
        </p:nvSpPr>
        <p:spPr>
          <a:xfrm>
            <a:off x="542925" y="1741289"/>
            <a:ext cx="3128963" cy="260021"/>
          </a:xfrm>
          <a:prstGeom prst="rect">
            <a:avLst/>
          </a:prstGeom>
          <a:noFill/>
          <a:ln/>
        </p:spPr>
        <p:txBody>
          <a:bodyPr wrap="square" lIns="0" tIns="0" rIns="0" bIns="0" rtlCol="0" anchor="t">
            <a:spAutoFit/>
          </a:bodyPr>
          <a:lstStyle/>
          <a:p>
            <a:pPr algn="l" indent="0" marL="0">
              <a:lnSpc>
                <a:spcPct val="112000"/>
              </a:lnSpc>
              <a:buNone/>
            </a:pPr>
            <a:r>
              <a:rPr lang="en-US" sz="650" dirty="0">
                <a:solidFill>
                  <a:srgbClr val="1A2B4A"/>
                </a:solidFill>
                <a:latin typeface="Space Grotesk Medium" pitchFamily="34" charset="0"/>
                <a:ea typeface="Space Grotesk Medium" pitchFamily="34" charset="-122"/>
                <a:cs typeface="Space Grotesk Medium" pitchFamily="34" charset="-120"/>
              </a:rPr>
              <a:t>URLs analysed in this study — one of the largest lexical-only datasets in published research</a:t>
            </a:r>
            <a:endParaRPr lang="en-US" sz="650" dirty="0"/>
          </a:p>
        </p:txBody>
      </p:sp>
      <p:sp>
        <p:nvSpPr>
          <p:cNvPr id="12" name="Shape 8"/>
          <p:cNvSpPr/>
          <p:nvPr/>
        </p:nvSpPr>
        <p:spPr>
          <a:xfrm>
            <a:off x="400050" y="2258485"/>
            <a:ext cx="3414713" cy="781515"/>
          </a:xfrm>
          <a:prstGeom prst="rect">
            <a:avLst/>
          </a:prstGeom>
          <a:solidFill>
            <a:srgbClr val="E6F0FA"/>
          </a:solidFill>
          <a:ln/>
        </p:spPr>
      </p:sp>
      <p:sp>
        <p:nvSpPr>
          <p:cNvPr id="13" name="Shape 9"/>
          <p:cNvSpPr/>
          <p:nvPr/>
        </p:nvSpPr>
        <p:spPr>
          <a:xfrm>
            <a:off x="400050" y="2258485"/>
            <a:ext cx="3414713" cy="21431"/>
          </a:xfrm>
          <a:prstGeom prst="rect">
            <a:avLst/>
          </a:prstGeom>
          <a:solidFill>
            <a:srgbClr val="0056B3"/>
          </a:solidFill>
          <a:ln/>
        </p:spPr>
      </p:sp>
      <p:sp>
        <p:nvSpPr>
          <p:cNvPr id="14" name="Text 10"/>
          <p:cNvSpPr/>
          <p:nvPr/>
        </p:nvSpPr>
        <p:spPr>
          <a:xfrm>
            <a:off x="542925" y="2372785"/>
            <a:ext cx="3128963" cy="228600"/>
          </a:xfrm>
          <a:prstGeom prst="rect">
            <a:avLst/>
          </a:prstGeom>
          <a:noFill/>
          <a:ln/>
        </p:spPr>
        <p:txBody>
          <a:bodyPr wrap="none" lIns="0" tIns="0" rIns="0" bIns="0" rtlCol="0" anchor="t">
            <a:spAutoFit/>
          </a:bodyPr>
          <a:lstStyle/>
          <a:p>
            <a:pPr algn="l" indent="0" marL="0">
              <a:lnSpc>
                <a:spcPct val="80000"/>
              </a:lnSpc>
              <a:buNone/>
            </a:pPr>
            <a:r>
              <a:rPr lang="en-US" sz="1600" b="1" dirty="0">
                <a:solidFill>
                  <a:srgbClr val="0A192F"/>
                </a:solidFill>
                <a:latin typeface="DM Mono Medium" pitchFamily="34" charset="0"/>
                <a:ea typeface="DM Mono Medium" pitchFamily="34" charset="-122"/>
                <a:cs typeface="DM Mono Medium" pitchFamily="34" charset="-120"/>
              </a:rPr>
              <a:t>#1</a:t>
            </a:r>
            <a:endParaRPr lang="en-US" sz="1600" dirty="0"/>
          </a:p>
        </p:txBody>
      </p:sp>
      <p:sp>
        <p:nvSpPr>
          <p:cNvPr id="15" name="Text 11"/>
          <p:cNvSpPr/>
          <p:nvPr/>
        </p:nvSpPr>
        <p:spPr>
          <a:xfrm>
            <a:off x="542925" y="2644248"/>
            <a:ext cx="3128963" cy="260021"/>
          </a:xfrm>
          <a:prstGeom prst="rect">
            <a:avLst/>
          </a:prstGeom>
          <a:noFill/>
          <a:ln/>
        </p:spPr>
        <p:txBody>
          <a:bodyPr wrap="square" lIns="0" tIns="0" rIns="0" bIns="0" rtlCol="0" anchor="t">
            <a:spAutoFit/>
          </a:bodyPr>
          <a:lstStyle/>
          <a:p>
            <a:pPr algn="l" indent="0" marL="0">
              <a:lnSpc>
                <a:spcPct val="112000"/>
              </a:lnSpc>
              <a:buNone/>
            </a:pPr>
            <a:r>
              <a:rPr lang="en-US" sz="650" dirty="0">
                <a:solidFill>
                  <a:srgbClr val="1A2B4A"/>
                </a:solidFill>
                <a:latin typeface="Space Grotesk Medium" pitchFamily="34" charset="0"/>
                <a:ea typeface="Space Grotesk Medium" pitchFamily="34" charset="-122"/>
                <a:cs typeface="Space Grotesk Medium" pitchFamily="34" charset="-120"/>
              </a:rPr>
              <a:t>Phishing remains the most prevalent cyber threat — APWG recorded record attack volumes in 2022 (APWG, 2024)</a:t>
            </a:r>
            <a:endParaRPr lang="en-US" sz="650" dirty="0"/>
          </a:p>
        </p:txBody>
      </p:sp>
      <p:sp>
        <p:nvSpPr>
          <p:cNvPr id="16" name="Shape 12"/>
          <p:cNvSpPr/>
          <p:nvPr/>
        </p:nvSpPr>
        <p:spPr>
          <a:xfrm>
            <a:off x="400050" y="3161444"/>
            <a:ext cx="3414713" cy="781515"/>
          </a:xfrm>
          <a:prstGeom prst="rect">
            <a:avLst/>
          </a:prstGeom>
          <a:solidFill>
            <a:srgbClr val="E6F0FA"/>
          </a:solidFill>
          <a:ln/>
        </p:spPr>
      </p:sp>
      <p:sp>
        <p:nvSpPr>
          <p:cNvPr id="17" name="Shape 13"/>
          <p:cNvSpPr/>
          <p:nvPr/>
        </p:nvSpPr>
        <p:spPr>
          <a:xfrm>
            <a:off x="400050" y="3161444"/>
            <a:ext cx="3414713" cy="21431"/>
          </a:xfrm>
          <a:prstGeom prst="rect">
            <a:avLst/>
          </a:prstGeom>
          <a:solidFill>
            <a:srgbClr val="0056B3"/>
          </a:solidFill>
          <a:ln/>
        </p:spPr>
      </p:sp>
      <p:sp>
        <p:nvSpPr>
          <p:cNvPr id="18" name="Text 14"/>
          <p:cNvSpPr/>
          <p:nvPr/>
        </p:nvSpPr>
        <p:spPr>
          <a:xfrm>
            <a:off x="542925" y="3275744"/>
            <a:ext cx="3128963" cy="228600"/>
          </a:xfrm>
          <a:prstGeom prst="rect">
            <a:avLst/>
          </a:prstGeom>
          <a:noFill/>
          <a:ln/>
        </p:spPr>
        <p:txBody>
          <a:bodyPr wrap="none" lIns="0" tIns="0" rIns="0" bIns="0" rtlCol="0" anchor="t">
            <a:spAutoFit/>
          </a:bodyPr>
          <a:lstStyle/>
          <a:p>
            <a:pPr algn="l" indent="0" marL="0">
              <a:lnSpc>
                <a:spcPct val="80000"/>
              </a:lnSpc>
              <a:buNone/>
            </a:pPr>
            <a:r>
              <a:rPr lang="en-US" sz="1600" b="1" dirty="0">
                <a:solidFill>
                  <a:srgbClr val="0A192F"/>
                </a:solidFill>
                <a:latin typeface="DM Mono Medium" pitchFamily="34" charset="0"/>
                <a:ea typeface="DM Mono Medium" pitchFamily="34" charset="-122"/>
                <a:cs typeface="DM Mono Medium" pitchFamily="34" charset="-120"/>
              </a:rPr>
              <a:t>0ms</a:t>
            </a:r>
            <a:endParaRPr lang="en-US" sz="1600" dirty="0"/>
          </a:p>
        </p:txBody>
      </p:sp>
      <p:sp>
        <p:nvSpPr>
          <p:cNvPr id="19" name="Text 15"/>
          <p:cNvSpPr/>
          <p:nvPr/>
        </p:nvSpPr>
        <p:spPr>
          <a:xfrm>
            <a:off x="542925" y="3547207"/>
            <a:ext cx="3128963" cy="260021"/>
          </a:xfrm>
          <a:prstGeom prst="rect">
            <a:avLst/>
          </a:prstGeom>
          <a:noFill/>
          <a:ln/>
        </p:spPr>
        <p:txBody>
          <a:bodyPr wrap="square" lIns="0" tIns="0" rIns="0" bIns="0" rtlCol="0" anchor="t">
            <a:spAutoFit/>
          </a:bodyPr>
          <a:lstStyle/>
          <a:p>
            <a:pPr algn="l" indent="0" marL="0">
              <a:lnSpc>
                <a:spcPct val="112000"/>
              </a:lnSpc>
              <a:buNone/>
            </a:pPr>
            <a:r>
              <a:rPr lang="en-US" sz="650" dirty="0">
                <a:solidFill>
                  <a:srgbClr val="1A2B4A"/>
                </a:solidFill>
                <a:latin typeface="Space Grotesk Medium" pitchFamily="34" charset="0"/>
                <a:ea typeface="Space Grotesk Medium" pitchFamily="34" charset="-122"/>
                <a:cs typeface="Space Grotesk Medium" pitchFamily="34" charset="-120"/>
              </a:rPr>
              <a:t>Time blacklists take to detect a </a:t>
            </a:r>
            <a:r>
              <a:rPr lang="en-US" sz="650" i="1" dirty="0">
                <a:solidFill>
                  <a:srgbClr val="1A2B4A"/>
                </a:solidFill>
                <a:latin typeface="Space Grotesk Medium" pitchFamily="34" charset="0"/>
                <a:ea typeface="Space Grotesk Medium" pitchFamily="34" charset="-122"/>
                <a:cs typeface="Space Grotesk Medium" pitchFamily="34" charset="-120"/>
              </a:rPr>
              <a:t>zero-hour</a:t>
            </a:r>
            <a:r>
              <a:rPr lang="en-US" sz="650" dirty="0">
                <a:solidFill>
                  <a:srgbClr val="1A2B4A"/>
                </a:solidFill>
                <a:latin typeface="Space Grotesk Medium" pitchFamily="34" charset="0"/>
                <a:ea typeface="Space Grotesk Medium" pitchFamily="34" charset="-122"/>
                <a:cs typeface="Space Grotesk Medium" pitchFamily="34" charset="-120"/>
              </a:rPr>
              <a:t> phishing URL — they simply </a:t>
            </a:r>
            <a:r>
              <a:rPr lang="en-US" sz="650" dirty="0">
                <a:solidFill>
                  <a:srgbClr val="1A2B4A"/>
                </a:solidFill>
                <a:latin typeface="Space Grotesk Medium" pitchFamily="34" charset="0"/>
                <a:ea typeface="Space Grotesk Medium" pitchFamily="34" charset="-122"/>
                <a:cs typeface="Space Grotesk Medium" pitchFamily="34" charset="-120"/>
              </a:rPr>
              <a:t>cannot. ML can.</a:t>
            </a:r>
            <a:endParaRPr lang="en-US" sz="650" dirty="0"/>
          </a:p>
        </p:txBody>
      </p:sp>
      <p:sp>
        <p:nvSpPr>
          <p:cNvPr id="20" name="Shape 16"/>
          <p:cNvSpPr/>
          <p:nvPr/>
        </p:nvSpPr>
        <p:spPr>
          <a:xfrm>
            <a:off x="4400550" y="1051917"/>
            <a:ext cx="4343400" cy="1062633"/>
          </a:xfrm>
          <a:prstGeom prst="rect">
            <a:avLst/>
          </a:prstGeom>
          <a:solidFill>
            <a:srgbClr val="0A192F"/>
          </a:solidFill>
          <a:ln/>
        </p:spPr>
      </p:sp>
      <p:sp>
        <p:nvSpPr>
          <p:cNvPr id="21" name="Text 17"/>
          <p:cNvSpPr/>
          <p:nvPr/>
        </p:nvSpPr>
        <p:spPr>
          <a:xfrm>
            <a:off x="4600575" y="1223367"/>
            <a:ext cx="3943350" cy="103584"/>
          </a:xfrm>
          <a:prstGeom prst="rect">
            <a:avLst/>
          </a:prstGeom>
          <a:noFill/>
          <a:ln/>
        </p:spPr>
        <p:txBody>
          <a:bodyPr wrap="square" lIns="0" tIns="0" rIns="0" bIns="0" rtlCol="0" anchor="t">
            <a:spAutoFit/>
          </a:bodyPr>
          <a:lstStyle/>
          <a:p>
            <a:pPr algn="l" indent="0" marL="0">
              <a:buNone/>
            </a:pPr>
            <a:r>
              <a:rPr lang="en-US" sz="550" spc="2" kern="0" dirty="0">
                <a:solidFill>
                  <a:srgbClr val="4A90D9"/>
                </a:solidFill>
                <a:latin typeface="DM Mono" pitchFamily="34" charset="0"/>
                <a:ea typeface="DM Mono" pitchFamily="34" charset="-122"/>
                <a:cs typeface="DM Mono" pitchFamily="34" charset="-120"/>
              </a:rPr>
              <a:t>RESEARCH QUESTION</a:t>
            </a:r>
            <a:endParaRPr lang="en-US" sz="550" dirty="0"/>
          </a:p>
        </p:txBody>
      </p:sp>
      <p:sp>
        <p:nvSpPr>
          <p:cNvPr id="22" name="Text 18"/>
          <p:cNvSpPr/>
          <p:nvPr/>
        </p:nvSpPr>
        <p:spPr>
          <a:xfrm>
            <a:off x="4600575" y="1412677"/>
            <a:ext cx="3943350" cy="530423"/>
          </a:xfrm>
          <a:prstGeom prst="rect">
            <a:avLst/>
          </a:prstGeom>
          <a:noFill/>
          <a:ln/>
        </p:spPr>
        <p:txBody>
          <a:bodyPr wrap="square" lIns="0" tIns="0" rIns="0" bIns="0" rtlCol="0" anchor="t">
            <a:spAutoFit/>
          </a:bodyPr>
          <a:lstStyle/>
          <a:p>
            <a:pPr algn="l" indent="0" marL="0">
              <a:lnSpc>
                <a:spcPct val="132000"/>
              </a:lnSpc>
              <a:buNone/>
            </a:pPr>
            <a:r>
              <a:rPr lang="en-US" sz="800" i="1" dirty="0">
                <a:solidFill>
                  <a:srgbClr val="FFFFFF"/>
                </a:solidFill>
                <a:latin typeface="Space Grotesk Medium" pitchFamily="34" charset="0"/>
                <a:ea typeface="Space Grotesk Medium" pitchFamily="34" charset="-122"/>
                <a:cs typeface="Space Grotesk Medium" pitchFamily="34" charset="-120"/>
              </a:rPr>
              <a:t>"Can machine learning models using only lexical URL features detect phishing URLs accurately enough for real-world deployment, and which classifier performs best?"</a:t>
            </a:r>
            <a:endParaRPr lang="en-US" sz="800" dirty="0"/>
          </a:p>
        </p:txBody>
      </p:sp>
      <p:sp>
        <p:nvSpPr>
          <p:cNvPr id="23" name="Text 19"/>
          <p:cNvSpPr/>
          <p:nvPr/>
        </p:nvSpPr>
        <p:spPr>
          <a:xfrm>
            <a:off x="4400550" y="2286000"/>
            <a:ext cx="4343400" cy="126802"/>
          </a:xfrm>
          <a:prstGeom prst="rect">
            <a:avLst/>
          </a:prstGeom>
          <a:noFill/>
          <a:ln/>
        </p:spPr>
        <p:txBody>
          <a:bodyPr wrap="square" lIns="0" tIns="0" rIns="0" bIns="0" rtlCol="0" anchor="t">
            <a:spAutoFit/>
          </a:bodyPr>
          <a:lstStyle/>
          <a:p>
            <a:pPr algn="l" indent="0" marL="0">
              <a:buNone/>
            </a:pPr>
            <a:r>
              <a:rPr lang="en-US" sz="700" b="1" spc="1" kern="0" dirty="0">
                <a:solidFill>
                  <a:srgbClr val="0056B3"/>
                </a:solidFill>
                <a:latin typeface="Space Grotesk Bold" pitchFamily="34" charset="0"/>
                <a:ea typeface="Space Grotesk Bold" pitchFamily="34" charset="-122"/>
                <a:cs typeface="Space Grotesk Bold" pitchFamily="34" charset="-120"/>
              </a:rPr>
              <a:t>RESEARCH AIM</a:t>
            </a:r>
            <a:endParaRPr lang="en-US" sz="700" dirty="0"/>
          </a:p>
        </p:txBody>
      </p:sp>
      <p:sp>
        <p:nvSpPr>
          <p:cNvPr id="24" name="Text 20"/>
          <p:cNvSpPr/>
          <p:nvPr/>
        </p:nvSpPr>
        <p:spPr>
          <a:xfrm>
            <a:off x="4400550" y="2484239"/>
            <a:ext cx="4343400" cy="530423"/>
          </a:xfrm>
          <a:prstGeom prst="rect">
            <a:avLst/>
          </a:prstGeom>
          <a:noFill/>
          <a:ln/>
        </p:spPr>
        <p:txBody>
          <a:bodyPr wrap="square" lIns="0" tIns="0" rIns="0" bIns="0" rtlCol="0" anchor="t">
            <a:spAutoFit/>
          </a:bodyPr>
          <a:lstStyle/>
          <a:p>
            <a:pPr algn="l" indent="0" marL="0">
              <a:lnSpc>
                <a:spcPct val="132000"/>
              </a:lnSpc>
              <a:buNone/>
            </a:pPr>
            <a:r>
              <a:rPr lang="en-US" sz="800" dirty="0">
                <a:solidFill>
                  <a:srgbClr val="1A2B4A"/>
                </a:solidFill>
                <a:latin typeface="Space Grotesk" pitchFamily="34" charset="0"/>
                <a:ea typeface="Space Grotesk" pitchFamily="34" charset="-122"/>
                <a:cs typeface="Space Grotesk" pitchFamily="34" charset="-120"/>
              </a:rPr>
              <a:t>To design, implement, and evaluate a lexical-feature-based machine learning pipeline that classifies URLs as benign or malicious in real time — without external API calls, DNS lookups, or page content analysis.</a:t>
            </a:r>
            <a:endParaRPr lang="en-US" sz="800" dirty="0"/>
          </a:p>
        </p:txBody>
      </p:sp>
      <p:sp>
        <p:nvSpPr>
          <p:cNvPr id="25" name="Text 21"/>
          <p:cNvSpPr/>
          <p:nvPr/>
        </p:nvSpPr>
        <p:spPr>
          <a:xfrm>
            <a:off x="4400550" y="3186113"/>
            <a:ext cx="4343400" cy="126802"/>
          </a:xfrm>
          <a:prstGeom prst="rect">
            <a:avLst/>
          </a:prstGeom>
          <a:noFill/>
          <a:ln/>
        </p:spPr>
        <p:txBody>
          <a:bodyPr wrap="square" lIns="0" tIns="0" rIns="0" bIns="0" rtlCol="0" anchor="t">
            <a:spAutoFit/>
          </a:bodyPr>
          <a:lstStyle/>
          <a:p>
            <a:pPr algn="l" indent="0" marL="0">
              <a:buNone/>
            </a:pPr>
            <a:r>
              <a:rPr lang="en-US" sz="700" b="1" spc="1" kern="0" dirty="0">
                <a:solidFill>
                  <a:srgbClr val="0056B3"/>
                </a:solidFill>
                <a:latin typeface="Space Grotesk Bold" pitchFamily="34" charset="0"/>
                <a:ea typeface="Space Grotesk Bold" pitchFamily="34" charset="-122"/>
                <a:cs typeface="Space Grotesk Bold" pitchFamily="34" charset="-120"/>
              </a:rPr>
              <a:t>WHY THIS MATTERS</a:t>
            </a:r>
            <a:endParaRPr lang="en-US" sz="700" dirty="0"/>
          </a:p>
        </p:txBody>
      </p:sp>
      <p:sp>
        <p:nvSpPr>
          <p:cNvPr id="26" name="Text 22"/>
          <p:cNvSpPr/>
          <p:nvPr/>
        </p:nvSpPr>
        <p:spPr>
          <a:xfrm>
            <a:off x="4543425" y="3398639"/>
            <a:ext cx="3225403" cy="155014"/>
          </a:xfrm>
          <a:prstGeom prst="rect">
            <a:avLst/>
          </a:prstGeom>
          <a:noFill/>
          <a:ln/>
        </p:spPr>
        <p:txBody>
          <a:bodyPr wrap="none" lIns="0" tIns="0" rIns="0" bIns="0" rtlCol="0" anchor="t">
            <a:spAutoFit/>
          </a:bodyPr>
          <a:lstStyle/>
          <a:p>
            <a:pPr algn="l" indent="0" marL="0">
              <a:lnSpc>
                <a:spcPct val="124000"/>
              </a:lnSpc>
              <a:buNone/>
            </a:pPr>
            <a:r>
              <a:rPr lang="en-US" sz="700" b="1" dirty="0">
                <a:solidFill>
                  <a:srgbClr val="0A192F"/>
                </a:solidFill>
                <a:latin typeface="Space Grotesk Bold" pitchFamily="34" charset="0"/>
                <a:ea typeface="Space Grotesk Bold" pitchFamily="34" charset="-122"/>
                <a:cs typeface="Space Grotesk Bold" pitchFamily="34" charset="-120"/>
              </a:rPr>
              <a:t>Blacklists fail</a:t>
            </a:r>
            <a:r>
              <a:rPr lang="en-US" sz="750" dirty="0">
                <a:solidFill>
                  <a:srgbClr val="1A2B4A"/>
                </a:solidFill>
                <a:latin typeface="Space Grotesk" pitchFamily="34" charset="0"/>
                <a:ea typeface="Space Grotesk" pitchFamily="34" charset="-122"/>
                <a:cs typeface="Space Grotesk" pitchFamily="34" charset="-120"/>
              </a:rPr>
              <a:t> on zero-hour attacks — new URLs not yet catalogued</a:t>
            </a:r>
            <a:endParaRPr lang="en-US" sz="700" dirty="0"/>
          </a:p>
        </p:txBody>
      </p:sp>
      <p:sp>
        <p:nvSpPr>
          <p:cNvPr id="27" name="Text 23"/>
          <p:cNvSpPr/>
          <p:nvPr/>
        </p:nvSpPr>
        <p:spPr>
          <a:xfrm>
            <a:off x="4543425" y="3582228"/>
            <a:ext cx="3337917" cy="155014"/>
          </a:xfrm>
          <a:prstGeom prst="rect">
            <a:avLst/>
          </a:prstGeom>
          <a:noFill/>
          <a:ln/>
        </p:spPr>
        <p:txBody>
          <a:bodyPr wrap="none" lIns="0" tIns="0" rIns="0" bIns="0" rtlCol="0" anchor="t">
            <a:spAutoFit/>
          </a:bodyPr>
          <a:lstStyle/>
          <a:p>
            <a:pPr algn="l" indent="0" marL="0">
              <a:lnSpc>
                <a:spcPct val="124000"/>
              </a:lnSpc>
              <a:buNone/>
            </a:pPr>
            <a:r>
              <a:rPr lang="en-US" sz="700" b="1" dirty="0">
                <a:solidFill>
                  <a:srgbClr val="0A192F"/>
                </a:solidFill>
                <a:latin typeface="Space Grotesk Bold" pitchFamily="34" charset="0"/>
                <a:ea typeface="Space Grotesk Bold" pitchFamily="34" charset="-122"/>
                <a:cs typeface="Space Grotesk Bold" pitchFamily="34" charset="-120"/>
              </a:rPr>
              <a:t>Content-based ML</a:t>
            </a:r>
            <a:r>
              <a:rPr lang="en-US" sz="750" dirty="0">
                <a:solidFill>
                  <a:srgbClr val="1A2B4A"/>
                </a:solidFill>
                <a:latin typeface="Space Grotesk" pitchFamily="34" charset="0"/>
                <a:ea typeface="Space Grotesk" pitchFamily="34" charset="-122"/>
                <a:cs typeface="Space Grotesk" pitchFamily="34" charset="-120"/>
              </a:rPr>
              <a:t> requires page loading — too slow for real-time use</a:t>
            </a:r>
            <a:endParaRPr lang="en-US" sz="700" dirty="0"/>
          </a:p>
        </p:txBody>
      </p:sp>
      <p:sp>
        <p:nvSpPr>
          <p:cNvPr id="28" name="Text 24"/>
          <p:cNvSpPr/>
          <p:nvPr/>
        </p:nvSpPr>
        <p:spPr>
          <a:xfrm>
            <a:off x="4543425" y="3765817"/>
            <a:ext cx="3516511" cy="155014"/>
          </a:xfrm>
          <a:prstGeom prst="rect">
            <a:avLst/>
          </a:prstGeom>
          <a:noFill/>
          <a:ln/>
        </p:spPr>
        <p:txBody>
          <a:bodyPr wrap="none" lIns="0" tIns="0" rIns="0" bIns="0" rtlCol="0" anchor="t">
            <a:spAutoFit/>
          </a:bodyPr>
          <a:lstStyle/>
          <a:p>
            <a:pPr algn="l" indent="0" marL="0">
              <a:lnSpc>
                <a:spcPct val="124000"/>
              </a:lnSpc>
              <a:buNone/>
            </a:pPr>
            <a:r>
              <a:rPr lang="en-US" sz="700" b="1" dirty="0">
                <a:solidFill>
                  <a:srgbClr val="0A192F"/>
                </a:solidFill>
                <a:latin typeface="Space Grotesk Bold" pitchFamily="34" charset="0"/>
                <a:ea typeface="Space Grotesk Bold" pitchFamily="34" charset="-122"/>
                <a:cs typeface="Space Grotesk Bold" pitchFamily="34" charset="-120"/>
              </a:rPr>
              <a:t>Lexical-only ML</a:t>
            </a:r>
            <a:r>
              <a:rPr lang="en-US" sz="750" dirty="0">
                <a:solidFill>
                  <a:srgbClr val="1A2B4A"/>
                </a:solidFill>
                <a:latin typeface="Space Grotesk" pitchFamily="34" charset="0"/>
                <a:ea typeface="Space Grotesk" pitchFamily="34" charset="-122"/>
                <a:cs typeface="Space Grotesk" pitchFamily="34" charset="-120"/>
              </a:rPr>
              <a:t> analyses the URL string alone — instant, private, scalable</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794742"/>
          </a:xfrm>
          <a:prstGeom prst="rect">
            <a:avLst/>
          </a:prstGeom>
          <a:solidFill>
            <a:srgbClr val="0A192F"/>
          </a:solidFill>
          <a:ln/>
        </p:spPr>
      </p:sp>
      <p:sp>
        <p:nvSpPr>
          <p:cNvPr id="5" name="Text 1"/>
          <p:cNvSpPr/>
          <p:nvPr/>
        </p:nvSpPr>
        <p:spPr>
          <a:xfrm>
            <a:off x="400050" y="200025"/>
            <a:ext cx="3661172" cy="121444"/>
          </a:xfrm>
          <a:prstGeom prst="rect">
            <a:avLst/>
          </a:prstGeom>
          <a:noFill/>
          <a:ln/>
        </p:spPr>
        <p:txBody>
          <a:bodyPr wrap="square" lIns="0" tIns="0" rIns="0" bIns="0" rtlCol="0" anchor="t">
            <a:spAutoFit/>
          </a:bodyPr>
          <a:lstStyle/>
          <a:p>
            <a:pPr algn="l" indent="0" marL="0">
              <a:buNone/>
            </a:pPr>
            <a:r>
              <a:rPr lang="en-US" sz="650" spc="2" kern="0" dirty="0">
                <a:solidFill>
                  <a:srgbClr val="4A90D9"/>
                </a:solidFill>
                <a:latin typeface="DM Mono" pitchFamily="34" charset="0"/>
                <a:ea typeface="DM Mono" pitchFamily="34" charset="-122"/>
                <a:cs typeface="DM Mono" pitchFamily="34" charset="-120"/>
              </a:rPr>
              <a:t>03 / 10</a:t>
            </a:r>
            <a:endParaRPr lang="en-US" sz="650" dirty="0"/>
          </a:p>
        </p:txBody>
      </p:sp>
      <p:sp>
        <p:nvSpPr>
          <p:cNvPr id="6" name="Text 2"/>
          <p:cNvSpPr/>
          <p:nvPr/>
        </p:nvSpPr>
        <p:spPr>
          <a:xfrm>
            <a:off x="400050" y="350044"/>
            <a:ext cx="3661172" cy="273248"/>
          </a:xfrm>
          <a:prstGeom prst="rect">
            <a:avLst/>
          </a:prstGeom>
          <a:noFill/>
          <a:ln/>
        </p:spPr>
        <p:txBody>
          <a:bodyPr wrap="square" lIns="0" tIns="0" rIns="0" bIns="0" rtlCol="0" anchor="t">
            <a:spAutoFit/>
          </a:bodyPr>
          <a:lstStyle/>
          <a:p>
            <a:pPr algn="l" indent="0" marL="0">
              <a:buNone/>
            </a:pPr>
            <a:r>
              <a:rPr lang="en-US" sz="1500" b="1" dirty="0">
                <a:solidFill>
                  <a:srgbClr val="FFFFFF"/>
                </a:solidFill>
                <a:latin typeface="Space Grotesk Bold" pitchFamily="34" charset="0"/>
                <a:ea typeface="Space Grotesk Bold" pitchFamily="34" charset="-122"/>
                <a:cs typeface="Space Grotesk Bold" pitchFamily="34" charset="-120"/>
              </a:rPr>
              <a:t>Literature Overview &amp; </a:t>
            </a:r>
            <a:r>
              <a:rPr lang="en-US" sz="1500" b="1" dirty="0">
                <a:solidFill>
                  <a:srgbClr val="4A90D9"/>
                </a:solidFill>
                <a:latin typeface="Space Grotesk Bold" pitchFamily="34" charset="0"/>
                <a:ea typeface="Space Grotesk Bold" pitchFamily="34" charset="-122"/>
                <a:cs typeface="Space Grotesk Bold" pitchFamily="34" charset="-120"/>
              </a:rPr>
              <a:t>Research Gap</a:t>
            </a:r>
            <a:endParaRPr lang="en-US" sz="1500" dirty="0"/>
          </a:p>
        </p:txBody>
      </p:sp>
      <p:sp>
        <p:nvSpPr>
          <p:cNvPr id="7" name="Text 3"/>
          <p:cNvSpPr/>
          <p:nvPr/>
        </p:nvSpPr>
        <p:spPr>
          <a:xfrm>
            <a:off x="400050" y="1023342"/>
            <a:ext cx="8343900"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THREE GENERATIONS OF PHISHING DETECTION</a:t>
            </a:r>
            <a:endParaRPr lang="en-US" sz="550" dirty="0"/>
          </a:p>
        </p:txBody>
      </p:sp>
      <p:sp>
        <p:nvSpPr>
          <p:cNvPr id="8" name="Text 4"/>
          <p:cNvSpPr/>
          <p:nvPr/>
        </p:nvSpPr>
        <p:spPr>
          <a:xfrm>
            <a:off x="585788" y="1555552"/>
            <a:ext cx="2419359" cy="103584"/>
          </a:xfrm>
          <a:prstGeom prst="rect">
            <a:avLst/>
          </a:prstGeom>
          <a:noFill/>
          <a:ln/>
        </p:spPr>
        <p:txBody>
          <a:bodyPr wrap="square" lIns="0" tIns="0" rIns="0" bIns="0" rtlCol="0" anchor="t">
            <a:spAutoFit/>
          </a:bodyPr>
          <a:lstStyle/>
          <a:p>
            <a:pPr algn="l" indent="0" marL="0">
              <a:buNone/>
            </a:pPr>
            <a:r>
              <a:rPr lang="en-US" sz="550" spc="1" kern="0" dirty="0">
                <a:solidFill>
                  <a:srgbClr val="0056B3"/>
                </a:solidFill>
                <a:latin typeface="DM Mono" pitchFamily="34" charset="0"/>
                <a:ea typeface="DM Mono" pitchFamily="34" charset="-122"/>
                <a:cs typeface="DM Mono" pitchFamily="34" charset="-120"/>
              </a:rPr>
              <a:t>GENERATION 1</a:t>
            </a:r>
            <a:endParaRPr lang="en-US" sz="550" dirty="0"/>
          </a:p>
        </p:txBody>
      </p:sp>
      <p:sp>
        <p:nvSpPr>
          <p:cNvPr id="9" name="Text 5"/>
          <p:cNvSpPr/>
          <p:nvPr/>
        </p:nvSpPr>
        <p:spPr>
          <a:xfrm>
            <a:off x="585788" y="1759148"/>
            <a:ext cx="2419359" cy="126802"/>
          </a:xfrm>
          <a:prstGeom prst="rect">
            <a:avLst/>
          </a:prstGeom>
          <a:noFill/>
          <a:ln/>
        </p:spPr>
        <p:txBody>
          <a:bodyPr wrap="square" lIns="0" tIns="0" rIns="0" bIns="0" rtlCol="0" anchor="t">
            <a:spAutoFit/>
          </a:bodyPr>
          <a:lstStyle/>
          <a:p>
            <a:pPr algn="l" indent="0" marL="0">
              <a:buNone/>
            </a:pPr>
            <a:r>
              <a:rPr lang="en-US" sz="700" b="1" spc="1" kern="0" dirty="0">
                <a:solidFill>
                  <a:srgbClr val="0A192F"/>
                </a:solidFill>
                <a:latin typeface="Space Grotesk Bold" pitchFamily="34" charset="0"/>
                <a:ea typeface="Space Grotesk Bold" pitchFamily="34" charset="-122"/>
                <a:cs typeface="Space Grotesk Bold" pitchFamily="34" charset="-120"/>
              </a:rPr>
              <a:t>BLACKLISTING</a:t>
            </a:r>
            <a:endParaRPr lang="en-US" sz="700" dirty="0"/>
          </a:p>
        </p:txBody>
      </p:sp>
      <p:sp>
        <p:nvSpPr>
          <p:cNvPr id="10" name="Text 6"/>
          <p:cNvSpPr/>
          <p:nvPr/>
        </p:nvSpPr>
        <p:spPr>
          <a:xfrm>
            <a:off x="685800" y="1928813"/>
            <a:ext cx="1200150" cy="139303"/>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1A2B4A"/>
                </a:solidFill>
                <a:latin typeface="Space Grotesk" pitchFamily="34" charset="0"/>
                <a:ea typeface="Space Grotesk" pitchFamily="34" charset="-122"/>
                <a:cs typeface="Space Grotesk" pitchFamily="34" charset="-120"/>
              </a:rPr>
              <a:t>Fast lookup — milliseconds</a:t>
            </a:r>
            <a:endParaRPr lang="en-US" sz="650" dirty="0"/>
          </a:p>
        </p:txBody>
      </p:sp>
      <p:sp>
        <p:nvSpPr>
          <p:cNvPr id="11" name="Text 7"/>
          <p:cNvSpPr/>
          <p:nvPr/>
        </p:nvSpPr>
        <p:spPr>
          <a:xfrm>
            <a:off x="685800" y="2125266"/>
            <a:ext cx="917972" cy="139303"/>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1A2B4A"/>
                </a:solidFill>
                <a:latin typeface="Space Grotesk" pitchFamily="34" charset="0"/>
                <a:ea typeface="Space Grotesk" pitchFamily="34" charset="-122"/>
                <a:cs typeface="Space Grotesk" pitchFamily="34" charset="-120"/>
              </a:rPr>
              <a:t>Simple to implement</a:t>
            </a:r>
            <a:endParaRPr lang="en-US" sz="650" dirty="0"/>
          </a:p>
        </p:txBody>
      </p:sp>
      <p:sp>
        <p:nvSpPr>
          <p:cNvPr id="12" name="Text 8"/>
          <p:cNvSpPr/>
          <p:nvPr/>
        </p:nvSpPr>
        <p:spPr>
          <a:xfrm>
            <a:off x="685800" y="2321719"/>
            <a:ext cx="1155502" cy="139303"/>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1A2B4A"/>
                </a:solidFill>
                <a:latin typeface="Space Grotesk" pitchFamily="34" charset="0"/>
                <a:ea typeface="Space Grotesk" pitchFamily="34" charset="-122"/>
                <a:cs typeface="Space Grotesk" pitchFamily="34" charset="-120"/>
              </a:rPr>
              <a:t>Fails on zero-hour attacks</a:t>
            </a:r>
            <a:endParaRPr lang="en-US" sz="650" dirty="0"/>
          </a:p>
        </p:txBody>
      </p:sp>
      <p:sp>
        <p:nvSpPr>
          <p:cNvPr id="13" name="Text 9"/>
          <p:cNvSpPr/>
          <p:nvPr/>
        </p:nvSpPr>
        <p:spPr>
          <a:xfrm>
            <a:off x="685800" y="2518172"/>
            <a:ext cx="1566267" cy="139303"/>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1A2B4A"/>
                </a:solidFill>
                <a:latin typeface="Space Grotesk" pitchFamily="34" charset="0"/>
                <a:ea typeface="Space Grotesk" pitchFamily="34" charset="-122"/>
                <a:cs typeface="Space Grotesk" pitchFamily="34" charset="-120"/>
              </a:rPr>
              <a:t>Requires constant manual updates</a:t>
            </a:r>
            <a:endParaRPr lang="en-US" sz="650" dirty="0"/>
          </a:p>
        </p:txBody>
      </p:sp>
      <p:sp>
        <p:nvSpPr>
          <p:cNvPr id="14" name="Text 10"/>
          <p:cNvSpPr/>
          <p:nvPr/>
        </p:nvSpPr>
        <p:spPr>
          <a:xfrm>
            <a:off x="685800" y="2714625"/>
            <a:ext cx="1064419" cy="139303"/>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1A2B4A"/>
                </a:solidFill>
                <a:latin typeface="Space Grotesk" pitchFamily="34" charset="0"/>
                <a:ea typeface="Space Grotesk" pitchFamily="34" charset="-122"/>
                <a:cs typeface="Space Grotesk" pitchFamily="34" charset="-120"/>
              </a:rPr>
              <a:t>Reactive, not predictive</a:t>
            </a:r>
            <a:endParaRPr lang="en-US" sz="650" dirty="0"/>
          </a:p>
        </p:txBody>
      </p:sp>
      <p:sp>
        <p:nvSpPr>
          <p:cNvPr id="15" name="Text 11"/>
          <p:cNvSpPr/>
          <p:nvPr/>
        </p:nvSpPr>
        <p:spPr>
          <a:xfrm>
            <a:off x="585788" y="2939653"/>
            <a:ext cx="2419359" cy="112514"/>
          </a:xfrm>
          <a:prstGeom prst="rect">
            <a:avLst/>
          </a:prstGeom>
          <a:noFill/>
          <a:ln/>
        </p:spPr>
        <p:txBody>
          <a:bodyPr wrap="square" lIns="0" tIns="0" rIns="0" bIns="0" rtlCol="0" anchor="t">
            <a:spAutoFit/>
          </a:bodyPr>
          <a:lstStyle/>
          <a:p>
            <a:pPr algn="l" indent="0" marL="0">
              <a:buNone/>
            </a:pPr>
            <a:r>
              <a:rPr lang="en-US" sz="600" dirty="0">
                <a:solidFill>
                  <a:srgbClr val="0056B3"/>
                </a:solidFill>
                <a:latin typeface="DM Mono" pitchFamily="34" charset="0"/>
                <a:ea typeface="DM Mono" pitchFamily="34" charset="-122"/>
                <a:cs typeface="DM Mono" pitchFamily="34" charset="-120"/>
              </a:rPr>
              <a:t>e.g. Google Safe Browsing</a:t>
            </a:r>
            <a:endParaRPr lang="en-US" sz="600" dirty="0"/>
          </a:p>
        </p:txBody>
      </p:sp>
      <p:sp>
        <p:nvSpPr>
          <p:cNvPr id="16" name="Text 12"/>
          <p:cNvSpPr/>
          <p:nvPr/>
        </p:nvSpPr>
        <p:spPr>
          <a:xfrm>
            <a:off x="3362334" y="1555552"/>
            <a:ext cx="2419359" cy="103584"/>
          </a:xfrm>
          <a:prstGeom prst="rect">
            <a:avLst/>
          </a:prstGeom>
          <a:noFill/>
          <a:ln/>
        </p:spPr>
        <p:txBody>
          <a:bodyPr wrap="square" lIns="0" tIns="0" rIns="0" bIns="0" rtlCol="0" anchor="t">
            <a:spAutoFit/>
          </a:bodyPr>
          <a:lstStyle/>
          <a:p>
            <a:pPr algn="l" indent="0" marL="0">
              <a:buNone/>
            </a:pPr>
            <a:r>
              <a:rPr lang="en-US" sz="550" spc="1" kern="0" dirty="0">
                <a:solidFill>
                  <a:srgbClr val="0056B3"/>
                </a:solidFill>
                <a:latin typeface="DM Mono" pitchFamily="34" charset="0"/>
                <a:ea typeface="DM Mono" pitchFamily="34" charset="-122"/>
                <a:cs typeface="DM Mono" pitchFamily="34" charset="-120"/>
              </a:rPr>
              <a:t>GENERATION 2</a:t>
            </a:r>
            <a:endParaRPr lang="en-US" sz="550" dirty="0"/>
          </a:p>
        </p:txBody>
      </p:sp>
      <p:sp>
        <p:nvSpPr>
          <p:cNvPr id="17" name="Text 13"/>
          <p:cNvSpPr/>
          <p:nvPr/>
        </p:nvSpPr>
        <p:spPr>
          <a:xfrm>
            <a:off x="3362334" y="1759148"/>
            <a:ext cx="2419359" cy="126802"/>
          </a:xfrm>
          <a:prstGeom prst="rect">
            <a:avLst/>
          </a:prstGeom>
          <a:noFill/>
          <a:ln/>
        </p:spPr>
        <p:txBody>
          <a:bodyPr wrap="square" lIns="0" tIns="0" rIns="0" bIns="0" rtlCol="0" anchor="t">
            <a:spAutoFit/>
          </a:bodyPr>
          <a:lstStyle/>
          <a:p>
            <a:pPr algn="l" indent="0" marL="0">
              <a:buNone/>
            </a:pPr>
            <a:r>
              <a:rPr lang="en-US" sz="700" b="1" spc="1" kern="0" dirty="0">
                <a:solidFill>
                  <a:srgbClr val="0A192F"/>
                </a:solidFill>
                <a:latin typeface="Space Grotesk Bold" pitchFamily="34" charset="0"/>
                <a:ea typeface="Space Grotesk Bold" pitchFamily="34" charset="-122"/>
                <a:cs typeface="Space Grotesk Bold" pitchFamily="34" charset="-120"/>
              </a:rPr>
              <a:t>CONTENT-BASED ML</a:t>
            </a:r>
            <a:endParaRPr lang="en-US" sz="700" dirty="0"/>
          </a:p>
        </p:txBody>
      </p:sp>
      <p:sp>
        <p:nvSpPr>
          <p:cNvPr id="18" name="Text 14"/>
          <p:cNvSpPr/>
          <p:nvPr/>
        </p:nvSpPr>
        <p:spPr>
          <a:xfrm>
            <a:off x="3462347" y="1928813"/>
            <a:ext cx="1037630" cy="139303"/>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1A2B4A"/>
                </a:solidFill>
                <a:latin typeface="Space Grotesk" pitchFamily="34" charset="0"/>
                <a:ea typeface="Space Grotesk" pitchFamily="34" charset="-122"/>
                <a:cs typeface="Space Grotesk" pitchFamily="34" charset="-120"/>
              </a:rPr>
              <a:t>High accuracy possible</a:t>
            </a:r>
            <a:endParaRPr lang="en-US" sz="650" dirty="0"/>
          </a:p>
        </p:txBody>
      </p:sp>
      <p:sp>
        <p:nvSpPr>
          <p:cNvPr id="19" name="Text 15"/>
          <p:cNvSpPr/>
          <p:nvPr/>
        </p:nvSpPr>
        <p:spPr>
          <a:xfrm>
            <a:off x="3462347" y="2125266"/>
            <a:ext cx="807244" cy="139303"/>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1A2B4A"/>
                </a:solidFill>
                <a:latin typeface="Space Grotesk" pitchFamily="34" charset="0"/>
                <a:ea typeface="Space Grotesk" pitchFamily="34" charset="-122"/>
                <a:cs typeface="Space Grotesk" pitchFamily="34" charset="-120"/>
              </a:rPr>
              <a:t>Detects new URLs</a:t>
            </a:r>
            <a:endParaRPr lang="en-US" sz="650" dirty="0"/>
          </a:p>
        </p:txBody>
      </p:sp>
      <p:sp>
        <p:nvSpPr>
          <p:cNvPr id="20" name="Text 16"/>
          <p:cNvSpPr/>
          <p:nvPr/>
        </p:nvSpPr>
        <p:spPr>
          <a:xfrm>
            <a:off x="3462347" y="2321719"/>
            <a:ext cx="1321594" cy="139303"/>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1A2B4A"/>
                </a:solidFill>
                <a:latin typeface="Space Grotesk" pitchFamily="34" charset="0"/>
                <a:ea typeface="Space Grotesk" pitchFamily="34" charset="-122"/>
                <a:cs typeface="Space Grotesk" pitchFamily="34" charset="-120"/>
              </a:rPr>
              <a:t>Requires page loading — slow</a:t>
            </a:r>
            <a:endParaRPr lang="en-US" sz="650" dirty="0"/>
          </a:p>
        </p:txBody>
      </p:sp>
      <p:sp>
        <p:nvSpPr>
          <p:cNvPr id="21" name="Text 17"/>
          <p:cNvSpPr/>
          <p:nvPr/>
        </p:nvSpPr>
        <p:spPr>
          <a:xfrm>
            <a:off x="3462347" y="2518172"/>
            <a:ext cx="1282303" cy="139303"/>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1A2B4A"/>
                </a:solidFill>
                <a:latin typeface="Space Grotesk" pitchFamily="34" charset="0"/>
                <a:ea typeface="Space Grotesk" pitchFamily="34" charset="-122"/>
                <a:cs typeface="Space Grotesk" pitchFamily="34" charset="-120"/>
              </a:rPr>
              <a:t>DNS + WHOIS + HTML needed</a:t>
            </a:r>
            <a:endParaRPr lang="en-US" sz="650" dirty="0"/>
          </a:p>
        </p:txBody>
      </p:sp>
      <p:sp>
        <p:nvSpPr>
          <p:cNvPr id="22" name="Text 18"/>
          <p:cNvSpPr/>
          <p:nvPr/>
        </p:nvSpPr>
        <p:spPr>
          <a:xfrm>
            <a:off x="3462347" y="2714625"/>
            <a:ext cx="1226939" cy="139303"/>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1A2B4A"/>
                </a:solidFill>
                <a:latin typeface="Space Grotesk" pitchFamily="34" charset="0"/>
                <a:ea typeface="Space Grotesk" pitchFamily="34" charset="-122"/>
                <a:cs typeface="Space Grotesk" pitchFamily="34" charset="-120"/>
              </a:rPr>
              <a:t>Privacy concerns; API costs</a:t>
            </a:r>
            <a:endParaRPr lang="en-US" sz="650" dirty="0"/>
          </a:p>
        </p:txBody>
      </p:sp>
      <p:sp>
        <p:nvSpPr>
          <p:cNvPr id="23" name="Text 19"/>
          <p:cNvSpPr/>
          <p:nvPr/>
        </p:nvSpPr>
        <p:spPr>
          <a:xfrm>
            <a:off x="3362334" y="2939653"/>
            <a:ext cx="2419359" cy="112514"/>
          </a:xfrm>
          <a:prstGeom prst="rect">
            <a:avLst/>
          </a:prstGeom>
          <a:noFill/>
          <a:ln/>
        </p:spPr>
        <p:txBody>
          <a:bodyPr wrap="square" lIns="0" tIns="0" rIns="0" bIns="0" rtlCol="0" anchor="t">
            <a:spAutoFit/>
          </a:bodyPr>
          <a:lstStyle/>
          <a:p>
            <a:pPr algn="l" indent="0" marL="0">
              <a:buNone/>
            </a:pPr>
            <a:r>
              <a:rPr lang="en-US" sz="600" dirty="0">
                <a:solidFill>
                  <a:srgbClr val="0056B3"/>
                </a:solidFill>
                <a:latin typeface="DM Mono" pitchFamily="34" charset="0"/>
                <a:ea typeface="DM Mono" pitchFamily="34" charset="-122"/>
                <a:cs typeface="DM Mono" pitchFamily="34" charset="-120"/>
              </a:rPr>
              <a:t>e.g. Rao &amp; Pais (2020)</a:t>
            </a:r>
            <a:endParaRPr lang="en-US" sz="600" dirty="0"/>
          </a:p>
        </p:txBody>
      </p:sp>
      <p:sp>
        <p:nvSpPr>
          <p:cNvPr id="24" name="Shape 20"/>
          <p:cNvSpPr/>
          <p:nvPr/>
        </p:nvSpPr>
        <p:spPr>
          <a:xfrm>
            <a:off x="5967431" y="1412677"/>
            <a:ext cx="2762259" cy="1782366"/>
          </a:xfrm>
          <a:prstGeom prst="rect">
            <a:avLst/>
          </a:prstGeom>
          <a:solidFill>
            <a:srgbClr val="0A192F"/>
          </a:solidFill>
          <a:ln/>
        </p:spPr>
      </p:sp>
      <p:sp>
        <p:nvSpPr>
          <p:cNvPr id="25" name="Text 21"/>
          <p:cNvSpPr/>
          <p:nvPr/>
        </p:nvSpPr>
        <p:spPr>
          <a:xfrm>
            <a:off x="6138881" y="1555552"/>
            <a:ext cx="2419359" cy="103584"/>
          </a:xfrm>
          <a:prstGeom prst="rect">
            <a:avLst/>
          </a:prstGeom>
          <a:noFill/>
          <a:ln/>
        </p:spPr>
        <p:txBody>
          <a:bodyPr wrap="square" lIns="0" tIns="0" rIns="0" bIns="0" rtlCol="0" anchor="t">
            <a:spAutoFit/>
          </a:bodyPr>
          <a:lstStyle/>
          <a:p>
            <a:pPr algn="l" indent="0" marL="0">
              <a:buNone/>
            </a:pPr>
            <a:r>
              <a:rPr lang="en-US" sz="550" spc="1" kern="0" dirty="0">
                <a:solidFill>
                  <a:srgbClr val="8BA4C0"/>
                </a:solidFill>
                <a:latin typeface="DM Mono" pitchFamily="34" charset="0"/>
                <a:ea typeface="DM Mono" pitchFamily="34" charset="-122"/>
                <a:cs typeface="DM Mono" pitchFamily="34" charset="-120"/>
              </a:rPr>
              <a:t>THIS STUDY — GENERATION 3</a:t>
            </a:r>
            <a:endParaRPr lang="en-US" sz="550" dirty="0"/>
          </a:p>
        </p:txBody>
      </p:sp>
      <p:sp>
        <p:nvSpPr>
          <p:cNvPr id="26" name="Text 22"/>
          <p:cNvSpPr/>
          <p:nvPr/>
        </p:nvSpPr>
        <p:spPr>
          <a:xfrm>
            <a:off x="6138881" y="1759148"/>
            <a:ext cx="2419359" cy="126802"/>
          </a:xfrm>
          <a:prstGeom prst="rect">
            <a:avLst/>
          </a:prstGeom>
          <a:noFill/>
          <a:ln/>
        </p:spPr>
        <p:txBody>
          <a:bodyPr wrap="square" lIns="0" tIns="0" rIns="0" bIns="0" rtlCol="0" anchor="t">
            <a:spAutoFit/>
          </a:bodyPr>
          <a:lstStyle/>
          <a:p>
            <a:pPr algn="l" indent="0" marL="0">
              <a:buNone/>
            </a:pPr>
            <a:r>
              <a:rPr lang="en-US" sz="700" b="1" spc="1" kern="0" dirty="0">
                <a:solidFill>
                  <a:srgbClr val="4A90D9"/>
                </a:solidFill>
                <a:latin typeface="Space Grotesk Bold" pitchFamily="34" charset="0"/>
                <a:ea typeface="Space Grotesk Bold" pitchFamily="34" charset="-122"/>
                <a:cs typeface="Space Grotesk Bold" pitchFamily="34" charset="-120"/>
              </a:rPr>
              <a:t>LEXICAL-ONLY ML</a:t>
            </a:r>
            <a:endParaRPr lang="en-US" sz="700" dirty="0"/>
          </a:p>
        </p:txBody>
      </p:sp>
      <p:sp>
        <p:nvSpPr>
          <p:cNvPr id="27" name="Text 23"/>
          <p:cNvSpPr/>
          <p:nvPr/>
        </p:nvSpPr>
        <p:spPr>
          <a:xfrm>
            <a:off x="6238894" y="1928813"/>
            <a:ext cx="1384102" cy="139303"/>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C8DEFF"/>
                </a:solidFill>
                <a:latin typeface="Space Grotesk" pitchFamily="34" charset="0"/>
                <a:ea typeface="Space Grotesk" pitchFamily="34" charset="-122"/>
                <a:cs typeface="Space Grotesk" pitchFamily="34" charset="-120"/>
              </a:rPr>
              <a:t>Real-time — under 1ms per URL</a:t>
            </a:r>
            <a:endParaRPr lang="en-US" sz="650" dirty="0"/>
          </a:p>
        </p:txBody>
      </p:sp>
      <p:sp>
        <p:nvSpPr>
          <p:cNvPr id="28" name="Text 24"/>
          <p:cNvSpPr/>
          <p:nvPr/>
        </p:nvSpPr>
        <p:spPr>
          <a:xfrm>
            <a:off x="6238894" y="2125266"/>
            <a:ext cx="1266230" cy="139303"/>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C8DEFF"/>
                </a:solidFill>
                <a:latin typeface="Space Grotesk" pitchFamily="34" charset="0"/>
                <a:ea typeface="Space Grotesk" pitchFamily="34" charset="-122"/>
                <a:cs typeface="Space Grotesk" pitchFamily="34" charset="-120"/>
              </a:rPr>
              <a:t>No external API calls needed</a:t>
            </a:r>
            <a:endParaRPr lang="en-US" sz="650" dirty="0"/>
          </a:p>
        </p:txBody>
      </p:sp>
      <p:sp>
        <p:nvSpPr>
          <p:cNvPr id="29" name="Text 25"/>
          <p:cNvSpPr/>
          <p:nvPr/>
        </p:nvSpPr>
        <p:spPr>
          <a:xfrm>
            <a:off x="6238894" y="2321719"/>
            <a:ext cx="846534" cy="139303"/>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C8DEFF"/>
                </a:solidFill>
                <a:latin typeface="Space Grotesk" pitchFamily="34" charset="0"/>
                <a:ea typeface="Space Grotesk" pitchFamily="34" charset="-122"/>
                <a:cs typeface="Space Grotesk" pitchFamily="34" charset="-120"/>
              </a:rPr>
              <a:t>Privacy-preserving</a:t>
            </a:r>
            <a:endParaRPr lang="en-US" sz="650" dirty="0"/>
          </a:p>
        </p:txBody>
      </p:sp>
      <p:sp>
        <p:nvSpPr>
          <p:cNvPr id="30" name="Text 26"/>
          <p:cNvSpPr/>
          <p:nvPr/>
        </p:nvSpPr>
        <p:spPr>
          <a:xfrm>
            <a:off x="6238894" y="2518172"/>
            <a:ext cx="1175147" cy="139303"/>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C8DEFF"/>
                </a:solidFill>
                <a:latin typeface="Space Grotesk" pitchFamily="34" charset="0"/>
                <a:ea typeface="Space Grotesk" pitchFamily="34" charset="-122"/>
                <a:cs typeface="Space Grotesk" pitchFamily="34" charset="-120"/>
              </a:rPr>
              <a:t>Detects zero-hour attacks</a:t>
            </a:r>
            <a:endParaRPr lang="en-US" sz="650" dirty="0"/>
          </a:p>
        </p:txBody>
      </p:sp>
      <p:sp>
        <p:nvSpPr>
          <p:cNvPr id="31" name="Text 27"/>
          <p:cNvSpPr/>
          <p:nvPr/>
        </p:nvSpPr>
        <p:spPr>
          <a:xfrm>
            <a:off x="6238894" y="2714625"/>
            <a:ext cx="1184077" cy="139303"/>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C8DEFF"/>
                </a:solidFill>
                <a:latin typeface="Space Grotesk" pitchFamily="34" charset="0"/>
                <a:ea typeface="Space Grotesk" pitchFamily="34" charset="-122"/>
                <a:cs typeface="Space Grotesk" pitchFamily="34" charset="-120"/>
              </a:rPr>
              <a:t>Fully reproducible pipeline</a:t>
            </a:r>
            <a:endParaRPr lang="en-US" sz="650" dirty="0"/>
          </a:p>
        </p:txBody>
      </p:sp>
      <p:sp>
        <p:nvSpPr>
          <p:cNvPr id="32" name="Text 28"/>
          <p:cNvSpPr/>
          <p:nvPr/>
        </p:nvSpPr>
        <p:spPr>
          <a:xfrm>
            <a:off x="6138881" y="2939653"/>
            <a:ext cx="2419359" cy="112514"/>
          </a:xfrm>
          <a:prstGeom prst="rect">
            <a:avLst/>
          </a:prstGeom>
          <a:noFill/>
          <a:ln/>
        </p:spPr>
        <p:txBody>
          <a:bodyPr wrap="square" lIns="0" tIns="0" rIns="0" bIns="0" rtlCol="0" anchor="t">
            <a:spAutoFit/>
          </a:bodyPr>
          <a:lstStyle/>
          <a:p>
            <a:pPr algn="l" indent="0" marL="0">
              <a:buNone/>
            </a:pPr>
            <a:r>
              <a:rPr lang="en-US" sz="600" dirty="0">
                <a:solidFill>
                  <a:srgbClr val="4A90D9"/>
                </a:solidFill>
                <a:latin typeface="DM Mono" pitchFamily="34" charset="0"/>
                <a:ea typeface="DM Mono" pitchFamily="34" charset="-122"/>
                <a:cs typeface="DM Mono" pitchFamily="34" charset="-120"/>
              </a:rPr>
              <a:t>e.g. Sahingoz et al. (2019) + this work</a:t>
            </a:r>
            <a:endParaRPr lang="en-US" sz="600" dirty="0"/>
          </a:p>
        </p:txBody>
      </p:sp>
      <p:sp>
        <p:nvSpPr>
          <p:cNvPr id="33" name="Shape 29"/>
          <p:cNvSpPr/>
          <p:nvPr/>
        </p:nvSpPr>
        <p:spPr>
          <a:xfrm>
            <a:off x="400050" y="3380780"/>
            <a:ext cx="8343900" cy="880467"/>
          </a:xfrm>
          <a:prstGeom prst="rect">
            <a:avLst/>
          </a:prstGeom>
          <a:solidFill>
            <a:srgbClr val="E6F0FA"/>
          </a:solidFill>
          <a:ln/>
        </p:spPr>
      </p:sp>
      <p:sp>
        <p:nvSpPr>
          <p:cNvPr id="34" name="Shape 30"/>
          <p:cNvSpPr/>
          <p:nvPr/>
        </p:nvSpPr>
        <p:spPr>
          <a:xfrm>
            <a:off x="400050" y="3380780"/>
            <a:ext cx="8343900" cy="21431"/>
          </a:xfrm>
          <a:prstGeom prst="rect">
            <a:avLst/>
          </a:prstGeom>
          <a:solidFill>
            <a:srgbClr val="0056B3"/>
          </a:solidFill>
          <a:ln/>
        </p:spPr>
      </p:sp>
      <p:sp>
        <p:nvSpPr>
          <p:cNvPr id="35" name="Text 31"/>
          <p:cNvSpPr/>
          <p:nvPr/>
        </p:nvSpPr>
        <p:spPr>
          <a:xfrm>
            <a:off x="571500" y="3509367"/>
            <a:ext cx="8001000" cy="112514"/>
          </a:xfrm>
          <a:prstGeom prst="rect">
            <a:avLst/>
          </a:prstGeom>
          <a:noFill/>
          <a:ln/>
        </p:spPr>
        <p:txBody>
          <a:bodyPr wrap="square" lIns="0" tIns="0" rIns="0" bIns="0" rtlCol="0" anchor="t">
            <a:spAutoFit/>
          </a:bodyPr>
          <a:lstStyle/>
          <a:p>
            <a:pPr algn="l" indent="0" marL="0">
              <a:buNone/>
            </a:pPr>
            <a:r>
              <a:rPr lang="en-US" sz="600" b="1" spc="2" kern="0" dirty="0">
                <a:solidFill>
                  <a:srgbClr val="0056B3"/>
                </a:solidFill>
                <a:latin typeface="DM Mono Medium" pitchFamily="34" charset="0"/>
                <a:ea typeface="DM Mono Medium" pitchFamily="34" charset="-122"/>
                <a:cs typeface="DM Mono Medium" pitchFamily="34" charset="-120"/>
              </a:rPr>
              <a:t>RESEARCH GAP IDENTIFIED — THREE MISSING ELEMENTS IN LITERATURE</a:t>
            </a:r>
            <a:endParaRPr lang="en-US" sz="600" dirty="0"/>
          </a:p>
        </p:txBody>
      </p:sp>
      <p:sp>
        <p:nvSpPr>
          <p:cNvPr id="36" name="Text 32"/>
          <p:cNvSpPr/>
          <p:nvPr/>
        </p:nvSpPr>
        <p:spPr>
          <a:xfrm>
            <a:off x="571500" y="3693319"/>
            <a:ext cx="200025" cy="157163"/>
          </a:xfrm>
          <a:prstGeom prst="rect">
            <a:avLst/>
          </a:prstGeom>
          <a:noFill/>
          <a:ln/>
        </p:spPr>
        <p:txBody>
          <a:bodyPr wrap="none" lIns="0" tIns="0" rIns="0" bIns="0" rtlCol="0" anchor="t">
            <a:spAutoFit/>
          </a:bodyPr>
          <a:lstStyle/>
          <a:p>
            <a:pPr algn="l" indent="0" marL="0">
              <a:lnSpc>
                <a:spcPct val="80000"/>
              </a:lnSpc>
              <a:buNone/>
            </a:pPr>
            <a:r>
              <a:rPr lang="en-US" sz="1100" b="1" dirty="0">
                <a:solidFill>
                  <a:srgbClr val="0056B3"/>
                </a:solidFill>
                <a:latin typeface="DM Mono Medium" pitchFamily="34" charset="0"/>
                <a:ea typeface="DM Mono Medium" pitchFamily="34" charset="-122"/>
                <a:cs typeface="DM Mono Medium" pitchFamily="34" charset="-120"/>
              </a:rPr>
              <a:t>01</a:t>
            </a:r>
            <a:endParaRPr lang="en-US" sz="1100" dirty="0"/>
          </a:p>
        </p:txBody>
      </p:sp>
      <p:sp>
        <p:nvSpPr>
          <p:cNvPr id="37" name="Text 33"/>
          <p:cNvSpPr/>
          <p:nvPr/>
        </p:nvSpPr>
        <p:spPr>
          <a:xfrm>
            <a:off x="842963" y="3693319"/>
            <a:ext cx="2205047" cy="417909"/>
          </a:xfrm>
          <a:prstGeom prst="rect">
            <a:avLst/>
          </a:prstGeom>
          <a:noFill/>
          <a:ln/>
        </p:spPr>
        <p:txBody>
          <a:bodyPr wrap="square" lIns="0" tIns="0" rIns="0" bIns="0" rtlCol="0" anchor="t">
            <a:spAutoFit/>
          </a:bodyPr>
          <a:lstStyle/>
          <a:p>
            <a:pPr algn="l" indent="0" marL="0">
              <a:lnSpc>
                <a:spcPct val="120000"/>
              </a:lnSpc>
              <a:buNone/>
            </a:pPr>
            <a:r>
              <a:rPr lang="en-US" sz="650" b="1" dirty="0">
                <a:solidFill>
                  <a:srgbClr val="0A192F"/>
                </a:solidFill>
                <a:latin typeface="Space Grotesk Bold" pitchFamily="34" charset="0"/>
                <a:ea typeface="Space Grotesk Bold" pitchFamily="34" charset="-122"/>
                <a:cs typeface="Space Grotesk Bold" pitchFamily="34" charset="-120"/>
              </a:rPr>
              <a:t>No controlled comparison</a:t>
            </a:r>
            <a:r>
              <a:rPr lang="en-US" sz="650" dirty="0">
                <a:solidFill>
                  <a:srgbClr val="1A2B4A"/>
                </a:solidFill>
                <a:latin typeface="Space Grotesk" pitchFamily="34" charset="0"/>
                <a:ea typeface="Space Grotesk" pitchFamily="34" charset="-122"/>
                <a:cs typeface="Space Grotesk" pitchFamily="34" charset="-120"/>
              </a:rPr>
              <a:t> of purely lexical </a:t>
            </a:r>
            <a:r>
              <a:rPr lang="en-US" sz="650" dirty="0">
                <a:solidFill>
                  <a:srgbClr val="1A2B4A"/>
                </a:solidFill>
                <a:latin typeface="Space Grotesk" pitchFamily="34" charset="0"/>
                <a:ea typeface="Space Grotesk" pitchFamily="34" charset="-122"/>
                <a:cs typeface="Space Grotesk" pitchFamily="34" charset="-120"/>
              </a:rPr>
              <a:t>classifiers on a large-scale modern dataset </a:t>
            </a:r>
            <a:r>
              <a:rPr lang="en-US" sz="650" dirty="0">
                <a:solidFill>
                  <a:srgbClr val="1A2B4A"/>
                </a:solidFill>
                <a:latin typeface="Space Grotesk" pitchFamily="34" charset="0"/>
                <a:ea typeface="Space Grotesk" pitchFamily="34" charset="-122"/>
                <a:cs typeface="Space Grotesk" pitchFamily="34" charset="-120"/>
              </a:rPr>
              <a:t>(&gt;600K URLs)</a:t>
            </a:r>
            <a:endParaRPr lang="en-US" sz="650" dirty="0"/>
          </a:p>
        </p:txBody>
      </p:sp>
      <p:sp>
        <p:nvSpPr>
          <p:cNvPr id="38" name="Text 34"/>
          <p:cNvSpPr/>
          <p:nvPr/>
        </p:nvSpPr>
        <p:spPr>
          <a:xfrm>
            <a:off x="3333759" y="3693319"/>
            <a:ext cx="200025" cy="157163"/>
          </a:xfrm>
          <a:prstGeom prst="rect">
            <a:avLst/>
          </a:prstGeom>
          <a:noFill/>
          <a:ln/>
        </p:spPr>
        <p:txBody>
          <a:bodyPr wrap="none" lIns="0" tIns="0" rIns="0" bIns="0" rtlCol="0" anchor="t">
            <a:spAutoFit/>
          </a:bodyPr>
          <a:lstStyle/>
          <a:p>
            <a:pPr algn="l" indent="0" marL="0">
              <a:lnSpc>
                <a:spcPct val="80000"/>
              </a:lnSpc>
              <a:buNone/>
            </a:pPr>
            <a:r>
              <a:rPr lang="en-US" sz="1100" b="1" dirty="0">
                <a:solidFill>
                  <a:srgbClr val="0056B3"/>
                </a:solidFill>
                <a:latin typeface="DM Mono Medium" pitchFamily="34" charset="0"/>
                <a:ea typeface="DM Mono Medium" pitchFamily="34" charset="-122"/>
                <a:cs typeface="DM Mono Medium" pitchFamily="34" charset="-120"/>
              </a:rPr>
              <a:t>02</a:t>
            </a:r>
            <a:endParaRPr lang="en-US" sz="1100" dirty="0"/>
          </a:p>
        </p:txBody>
      </p:sp>
      <p:sp>
        <p:nvSpPr>
          <p:cNvPr id="39" name="Text 35"/>
          <p:cNvSpPr/>
          <p:nvPr/>
        </p:nvSpPr>
        <p:spPr>
          <a:xfrm>
            <a:off x="3605222" y="3693319"/>
            <a:ext cx="2205047" cy="417909"/>
          </a:xfrm>
          <a:prstGeom prst="rect">
            <a:avLst/>
          </a:prstGeom>
          <a:noFill/>
          <a:ln/>
        </p:spPr>
        <p:txBody>
          <a:bodyPr wrap="square" lIns="0" tIns="0" rIns="0" bIns="0" rtlCol="0" anchor="t">
            <a:spAutoFit/>
          </a:bodyPr>
          <a:lstStyle/>
          <a:p>
            <a:pPr algn="l" indent="0" marL="0">
              <a:lnSpc>
                <a:spcPct val="120000"/>
              </a:lnSpc>
              <a:buNone/>
            </a:pPr>
            <a:r>
              <a:rPr lang="en-US" sz="650" b="1" dirty="0">
                <a:solidFill>
                  <a:srgbClr val="0A192F"/>
                </a:solidFill>
                <a:latin typeface="Space Grotesk Bold" pitchFamily="34" charset="0"/>
                <a:ea typeface="Space Grotesk Bold" pitchFamily="34" charset="-122"/>
                <a:cs typeface="Space Grotesk Bold" pitchFamily="34" charset="-120"/>
              </a:rPr>
              <a:t>FPR rarely reported</a:t>
            </a:r>
            <a:r>
              <a:rPr lang="en-US" sz="650" dirty="0">
                <a:solidFill>
                  <a:srgbClr val="1A2B4A"/>
                </a:solidFill>
                <a:latin typeface="Space Grotesk" pitchFamily="34" charset="0"/>
                <a:ea typeface="Space Grotesk" pitchFamily="34" charset="-122"/>
                <a:cs typeface="Space Grotesk" pitchFamily="34" charset="-120"/>
              </a:rPr>
              <a:t> — critical for user </a:t>
            </a:r>
            <a:r>
              <a:rPr lang="en-US" sz="650" dirty="0">
                <a:solidFill>
                  <a:srgbClr val="1A2B4A"/>
                </a:solidFill>
                <a:latin typeface="Space Grotesk" pitchFamily="34" charset="0"/>
                <a:ea typeface="Space Grotesk" pitchFamily="34" charset="-122"/>
                <a:cs typeface="Space Grotesk" pitchFamily="34" charset="-120"/>
              </a:rPr>
              <a:t>experience, yet absent from most published </a:t>
            </a:r>
            <a:r>
              <a:rPr lang="en-US" sz="650" dirty="0">
                <a:solidFill>
                  <a:srgbClr val="1A2B4A"/>
                </a:solidFill>
                <a:latin typeface="Space Grotesk" pitchFamily="34" charset="0"/>
                <a:ea typeface="Space Grotesk" pitchFamily="34" charset="-122"/>
                <a:cs typeface="Space Grotesk" pitchFamily="34" charset="-120"/>
              </a:rPr>
              <a:t>studies</a:t>
            </a:r>
            <a:endParaRPr lang="en-US" sz="650" dirty="0"/>
          </a:p>
        </p:txBody>
      </p:sp>
      <p:sp>
        <p:nvSpPr>
          <p:cNvPr id="40" name="Text 36"/>
          <p:cNvSpPr/>
          <p:nvPr/>
        </p:nvSpPr>
        <p:spPr>
          <a:xfrm>
            <a:off x="6096019" y="3693319"/>
            <a:ext cx="200025" cy="157163"/>
          </a:xfrm>
          <a:prstGeom prst="rect">
            <a:avLst/>
          </a:prstGeom>
          <a:noFill/>
          <a:ln/>
        </p:spPr>
        <p:txBody>
          <a:bodyPr wrap="none" lIns="0" tIns="0" rIns="0" bIns="0" rtlCol="0" anchor="t">
            <a:spAutoFit/>
          </a:bodyPr>
          <a:lstStyle/>
          <a:p>
            <a:pPr algn="l" indent="0" marL="0">
              <a:lnSpc>
                <a:spcPct val="80000"/>
              </a:lnSpc>
              <a:buNone/>
            </a:pPr>
            <a:r>
              <a:rPr lang="en-US" sz="1100" b="1" dirty="0">
                <a:solidFill>
                  <a:srgbClr val="0056B3"/>
                </a:solidFill>
                <a:latin typeface="DM Mono Medium" pitchFamily="34" charset="0"/>
                <a:ea typeface="DM Mono Medium" pitchFamily="34" charset="-122"/>
                <a:cs typeface="DM Mono Medium" pitchFamily="34" charset="-120"/>
              </a:rPr>
              <a:t>03</a:t>
            </a:r>
            <a:endParaRPr lang="en-US" sz="1100" dirty="0"/>
          </a:p>
        </p:txBody>
      </p:sp>
      <p:sp>
        <p:nvSpPr>
          <p:cNvPr id="41" name="Text 37"/>
          <p:cNvSpPr/>
          <p:nvPr/>
        </p:nvSpPr>
        <p:spPr>
          <a:xfrm>
            <a:off x="6367481" y="3693319"/>
            <a:ext cx="2205047" cy="417909"/>
          </a:xfrm>
          <a:prstGeom prst="rect">
            <a:avLst/>
          </a:prstGeom>
          <a:noFill/>
          <a:ln/>
        </p:spPr>
        <p:txBody>
          <a:bodyPr wrap="square" lIns="0" tIns="0" rIns="0" bIns="0" rtlCol="0" anchor="t">
            <a:spAutoFit/>
          </a:bodyPr>
          <a:lstStyle/>
          <a:p>
            <a:pPr algn="l" indent="0" marL="0">
              <a:lnSpc>
                <a:spcPct val="120000"/>
              </a:lnSpc>
              <a:buNone/>
            </a:pPr>
            <a:r>
              <a:rPr lang="en-US" sz="650" b="1" dirty="0">
                <a:solidFill>
                  <a:srgbClr val="0A192F"/>
                </a:solidFill>
                <a:latin typeface="Space Grotesk Bold" pitchFamily="34" charset="0"/>
                <a:ea typeface="Space Grotesk Bold" pitchFamily="34" charset="-122"/>
                <a:cs typeface="Space Grotesk Bold" pitchFamily="34" charset="-120"/>
              </a:rPr>
              <a:t>No open-source reproducible pipeline</a:t>
            </a:r>
            <a:r>
              <a:rPr lang="en-US" sz="650" dirty="0">
                <a:solidFill>
                  <a:srgbClr val="1A2B4A"/>
                </a:solidFill>
                <a:latin typeface="Space Grotesk" pitchFamily="34" charset="0"/>
                <a:ea typeface="Space Grotesk" pitchFamily="34" charset="-122"/>
                <a:cs typeface="Space Grotesk" pitchFamily="34" charset="-120"/>
              </a:rPr>
              <a:t> with </a:t>
            </a:r>
            <a:r>
              <a:rPr lang="en-US" sz="650" dirty="0">
                <a:solidFill>
                  <a:srgbClr val="1A2B4A"/>
                </a:solidFill>
                <a:latin typeface="Space Grotesk" pitchFamily="34" charset="0"/>
                <a:ea typeface="Space Grotesk" pitchFamily="34" charset="-122"/>
                <a:cs typeface="Space Grotesk" pitchFamily="34" charset="-120"/>
              </a:rPr>
              <a:t>working web prototype demonstrating real-</a:t>
            </a:r>
            <a:r>
              <a:rPr lang="en-US" sz="650" dirty="0">
                <a:solidFill>
                  <a:srgbClr val="1A2B4A"/>
                </a:solidFill>
                <a:latin typeface="Space Grotesk" pitchFamily="34" charset="0"/>
                <a:ea typeface="Space Grotesk" pitchFamily="34" charset="-122"/>
                <a:cs typeface="Space Grotesk" pitchFamily="34" charset="-120"/>
              </a:rPr>
              <a:t>world viability</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794742"/>
          </a:xfrm>
          <a:prstGeom prst="rect">
            <a:avLst/>
          </a:prstGeom>
          <a:solidFill>
            <a:srgbClr val="0A192F"/>
          </a:solidFill>
          <a:ln/>
        </p:spPr>
      </p:sp>
      <p:sp>
        <p:nvSpPr>
          <p:cNvPr id="5" name="Text 1"/>
          <p:cNvSpPr/>
          <p:nvPr/>
        </p:nvSpPr>
        <p:spPr>
          <a:xfrm>
            <a:off x="400050" y="200025"/>
            <a:ext cx="4146947" cy="121444"/>
          </a:xfrm>
          <a:prstGeom prst="rect">
            <a:avLst/>
          </a:prstGeom>
          <a:noFill/>
          <a:ln/>
        </p:spPr>
        <p:txBody>
          <a:bodyPr wrap="square" lIns="0" tIns="0" rIns="0" bIns="0" rtlCol="0" anchor="t">
            <a:spAutoFit/>
          </a:bodyPr>
          <a:lstStyle/>
          <a:p>
            <a:pPr algn="l" indent="0" marL="0">
              <a:buNone/>
            </a:pPr>
            <a:r>
              <a:rPr lang="en-US" sz="650" spc="2" kern="0" dirty="0">
                <a:solidFill>
                  <a:srgbClr val="4A90D9"/>
                </a:solidFill>
                <a:latin typeface="DM Mono" pitchFamily="34" charset="0"/>
                <a:ea typeface="DM Mono" pitchFamily="34" charset="-122"/>
                <a:cs typeface="DM Mono" pitchFamily="34" charset="-120"/>
              </a:rPr>
              <a:t>04 / 10</a:t>
            </a:r>
            <a:endParaRPr lang="en-US" sz="650" dirty="0"/>
          </a:p>
        </p:txBody>
      </p:sp>
      <p:sp>
        <p:nvSpPr>
          <p:cNvPr id="6" name="Text 2"/>
          <p:cNvSpPr/>
          <p:nvPr/>
        </p:nvSpPr>
        <p:spPr>
          <a:xfrm>
            <a:off x="400050" y="350044"/>
            <a:ext cx="4146947" cy="273248"/>
          </a:xfrm>
          <a:prstGeom prst="rect">
            <a:avLst/>
          </a:prstGeom>
          <a:noFill/>
          <a:ln/>
        </p:spPr>
        <p:txBody>
          <a:bodyPr wrap="square" lIns="0" tIns="0" rIns="0" bIns="0" rtlCol="0" anchor="t">
            <a:spAutoFit/>
          </a:bodyPr>
          <a:lstStyle/>
          <a:p>
            <a:pPr algn="l" indent="0" marL="0">
              <a:buNone/>
            </a:pPr>
            <a:r>
              <a:rPr lang="en-US" sz="1500" b="1" dirty="0">
                <a:solidFill>
                  <a:srgbClr val="4A90D9"/>
                </a:solidFill>
                <a:latin typeface="Space Grotesk Bold" pitchFamily="34" charset="0"/>
                <a:ea typeface="Space Grotesk Bold" pitchFamily="34" charset="-122"/>
                <a:cs typeface="Space Grotesk Bold" pitchFamily="34" charset="-120"/>
              </a:rPr>
              <a:t>Methodology</a:t>
            </a:r>
            <a:r>
              <a:rPr lang="en-US" sz="1500" b="1" dirty="0">
                <a:solidFill>
                  <a:srgbClr val="FFFFFF"/>
                </a:solidFill>
                <a:latin typeface="Space Grotesk Bold" pitchFamily="34" charset="0"/>
                <a:ea typeface="Space Grotesk Bold" pitchFamily="34" charset="-122"/>
                <a:cs typeface="Space Grotesk Bold" pitchFamily="34" charset="-120"/>
              </a:rPr>
              <a:t> — CRISP-DM + Agile Scrum</a:t>
            </a:r>
            <a:endParaRPr lang="en-US" sz="1500" dirty="0"/>
          </a:p>
        </p:txBody>
      </p:sp>
      <p:sp>
        <p:nvSpPr>
          <p:cNvPr id="7" name="Text 3"/>
          <p:cNvSpPr/>
          <p:nvPr/>
        </p:nvSpPr>
        <p:spPr>
          <a:xfrm>
            <a:off x="400050" y="994767"/>
            <a:ext cx="3900488" cy="108942"/>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CRISP-DM PHASES → SPRINT MAPPING</a:t>
            </a:r>
            <a:endParaRPr lang="en-US" sz="550" dirty="0"/>
          </a:p>
        </p:txBody>
      </p:sp>
      <p:sp>
        <p:nvSpPr>
          <p:cNvPr id="8" name="Shape 4"/>
          <p:cNvSpPr/>
          <p:nvPr/>
        </p:nvSpPr>
        <p:spPr>
          <a:xfrm>
            <a:off x="628650" y="1218009"/>
            <a:ext cx="3671888" cy="401836"/>
          </a:xfrm>
          <a:prstGeom prst="rect">
            <a:avLst/>
          </a:prstGeom>
          <a:solidFill>
            <a:srgbClr val="E6F0FA"/>
          </a:solidFill>
          <a:ln/>
        </p:spPr>
      </p:sp>
      <p:sp>
        <p:nvSpPr>
          <p:cNvPr id="9" name="Shape 5"/>
          <p:cNvSpPr/>
          <p:nvPr/>
        </p:nvSpPr>
        <p:spPr>
          <a:xfrm>
            <a:off x="628650" y="1218009"/>
            <a:ext cx="3671888" cy="14288"/>
          </a:xfrm>
          <a:prstGeom prst="rect">
            <a:avLst/>
          </a:prstGeom>
          <a:solidFill>
            <a:srgbClr val="C8DEFF"/>
          </a:solidFill>
          <a:ln/>
        </p:spPr>
      </p:sp>
      <p:sp>
        <p:nvSpPr>
          <p:cNvPr id="10" name="Text 6"/>
          <p:cNvSpPr/>
          <p:nvPr/>
        </p:nvSpPr>
        <p:spPr>
          <a:xfrm>
            <a:off x="742950" y="1289447"/>
            <a:ext cx="1968103" cy="117872"/>
          </a:xfrm>
          <a:prstGeom prst="rect">
            <a:avLst/>
          </a:prstGeom>
          <a:noFill/>
          <a:ln/>
        </p:spPr>
        <p:txBody>
          <a:bodyPr wrap="square" lIns="0" tIns="0" rIns="0" bIns="0" rtlCol="0" anchor="t">
            <a:spAutoFit/>
          </a:bodyPr>
          <a:lstStyle/>
          <a:p>
            <a:pPr algn="l" indent="0" marL="0">
              <a:buNone/>
            </a:pPr>
            <a:r>
              <a:rPr lang="en-US" sz="650" b="1" dirty="0">
                <a:solidFill>
                  <a:srgbClr val="0A192F"/>
                </a:solidFill>
                <a:latin typeface="Space Grotesk Bold" pitchFamily="34" charset="0"/>
                <a:ea typeface="Space Grotesk Bold" pitchFamily="34" charset="-122"/>
                <a:cs typeface="Space Grotesk Bold" pitchFamily="34" charset="-120"/>
              </a:rPr>
              <a:t>Business Understanding</a:t>
            </a:r>
            <a:endParaRPr lang="en-US" sz="650" dirty="0"/>
          </a:p>
        </p:txBody>
      </p:sp>
      <p:sp>
        <p:nvSpPr>
          <p:cNvPr id="11" name="Text 7"/>
          <p:cNvSpPr/>
          <p:nvPr/>
        </p:nvSpPr>
        <p:spPr>
          <a:xfrm>
            <a:off x="742950" y="1421606"/>
            <a:ext cx="1968103" cy="112514"/>
          </a:xfrm>
          <a:prstGeom prst="rect">
            <a:avLst/>
          </a:prstGeom>
          <a:noFill/>
          <a:ln/>
        </p:spPr>
        <p:txBody>
          <a:bodyPr wrap="square" lIns="0" tIns="0" rIns="0" bIns="0" rtlCol="0" anchor="t">
            <a:spAutoFit/>
          </a:bodyPr>
          <a:lstStyle/>
          <a:p>
            <a:pPr algn="l" indent="0" marL="0">
              <a:buNone/>
            </a:pPr>
            <a:r>
              <a:rPr lang="en-US" sz="600" dirty="0">
                <a:solidFill>
                  <a:srgbClr val="1A2B4A"/>
                </a:solidFill>
                <a:latin typeface="DM Mono" pitchFamily="34" charset="0"/>
                <a:ea typeface="DM Mono" pitchFamily="34" charset="-122"/>
                <a:cs typeface="DM Mono" pitchFamily="34" charset="-120"/>
              </a:rPr>
              <a:t>Project setup, tools, proposal writing</a:t>
            </a:r>
            <a:endParaRPr lang="en-US" sz="600" dirty="0"/>
          </a:p>
        </p:txBody>
      </p:sp>
      <p:sp>
        <p:nvSpPr>
          <p:cNvPr id="12" name="Shape 8"/>
          <p:cNvSpPr/>
          <p:nvPr/>
        </p:nvSpPr>
        <p:spPr>
          <a:xfrm>
            <a:off x="3686175" y="1331416"/>
            <a:ext cx="500063" cy="160734"/>
          </a:xfrm>
          <a:prstGeom prst="rect">
            <a:avLst/>
          </a:prstGeom>
          <a:solidFill>
            <a:srgbClr val="FFFFFF"/>
          </a:solidFill>
          <a:ln w="9144">
            <a:solidFill>
              <a:srgbClr val="0056B3"/>
            </a:solidFill>
            <a:prstDash val="solid"/>
          </a:ln>
        </p:spPr>
      </p:sp>
      <p:sp>
        <p:nvSpPr>
          <p:cNvPr id="13" name="Text 9"/>
          <p:cNvSpPr/>
          <p:nvPr/>
        </p:nvSpPr>
        <p:spPr>
          <a:xfrm>
            <a:off x="3686175" y="1331416"/>
            <a:ext cx="500063" cy="160734"/>
          </a:xfrm>
          <a:prstGeom prst="rect">
            <a:avLst/>
          </a:prstGeom>
          <a:noFill/>
          <a:ln/>
        </p:spPr>
        <p:txBody>
          <a:bodyPr wrap="none" lIns="68072" tIns="25527" rIns="68072" bIns="25527" rtlCol="0" anchor="t">
            <a:spAutoFit/>
          </a:bodyPr>
          <a:lstStyle/>
          <a:p>
            <a:pPr algn="l" indent="0" marL="0">
              <a:buNone/>
            </a:pPr>
            <a:r>
              <a:rPr lang="en-US" sz="550" dirty="0">
                <a:solidFill>
                  <a:srgbClr val="0056B3"/>
                </a:solidFill>
                <a:latin typeface="DM Mono Medium" pitchFamily="34" charset="0"/>
                <a:ea typeface="DM Mono Medium" pitchFamily="34" charset="-122"/>
                <a:cs typeface="DM Mono Medium" pitchFamily="34" charset="-120"/>
              </a:rPr>
              <a:t>Sprint 1</a:t>
            </a:r>
            <a:endParaRPr lang="en-US" sz="550" dirty="0"/>
          </a:p>
        </p:txBody>
      </p:sp>
      <p:sp>
        <p:nvSpPr>
          <p:cNvPr id="14" name="Shape 10"/>
          <p:cNvSpPr/>
          <p:nvPr/>
        </p:nvSpPr>
        <p:spPr>
          <a:xfrm>
            <a:off x="628650" y="1648420"/>
            <a:ext cx="3671888" cy="401836"/>
          </a:xfrm>
          <a:prstGeom prst="rect">
            <a:avLst/>
          </a:prstGeom>
          <a:solidFill>
            <a:srgbClr val="E6F0FA"/>
          </a:solidFill>
          <a:ln/>
        </p:spPr>
      </p:sp>
      <p:sp>
        <p:nvSpPr>
          <p:cNvPr id="15" name="Shape 11"/>
          <p:cNvSpPr/>
          <p:nvPr/>
        </p:nvSpPr>
        <p:spPr>
          <a:xfrm>
            <a:off x="628650" y="1648420"/>
            <a:ext cx="3671888" cy="14288"/>
          </a:xfrm>
          <a:prstGeom prst="rect">
            <a:avLst/>
          </a:prstGeom>
          <a:solidFill>
            <a:srgbClr val="C8DEFF"/>
          </a:solidFill>
          <a:ln/>
        </p:spPr>
      </p:sp>
      <p:sp>
        <p:nvSpPr>
          <p:cNvPr id="16" name="Text 12"/>
          <p:cNvSpPr/>
          <p:nvPr/>
        </p:nvSpPr>
        <p:spPr>
          <a:xfrm>
            <a:off x="742950" y="1719858"/>
            <a:ext cx="2019895" cy="117872"/>
          </a:xfrm>
          <a:prstGeom prst="rect">
            <a:avLst/>
          </a:prstGeom>
          <a:noFill/>
          <a:ln/>
        </p:spPr>
        <p:txBody>
          <a:bodyPr wrap="square" lIns="0" tIns="0" rIns="0" bIns="0" rtlCol="0" anchor="t">
            <a:spAutoFit/>
          </a:bodyPr>
          <a:lstStyle/>
          <a:p>
            <a:pPr algn="l" indent="0" marL="0">
              <a:buNone/>
            </a:pPr>
            <a:r>
              <a:rPr lang="en-US" sz="650" b="1" dirty="0">
                <a:solidFill>
                  <a:srgbClr val="0A192F"/>
                </a:solidFill>
                <a:latin typeface="Space Grotesk Bold" pitchFamily="34" charset="0"/>
                <a:ea typeface="Space Grotesk Bold" pitchFamily="34" charset="-122"/>
                <a:cs typeface="Space Grotesk Bold" pitchFamily="34" charset="-120"/>
              </a:rPr>
              <a:t>Data Understanding</a:t>
            </a:r>
            <a:endParaRPr lang="en-US" sz="650" dirty="0"/>
          </a:p>
        </p:txBody>
      </p:sp>
      <p:sp>
        <p:nvSpPr>
          <p:cNvPr id="17" name="Text 13"/>
          <p:cNvSpPr/>
          <p:nvPr/>
        </p:nvSpPr>
        <p:spPr>
          <a:xfrm>
            <a:off x="742950" y="1852017"/>
            <a:ext cx="2019895" cy="112514"/>
          </a:xfrm>
          <a:prstGeom prst="rect">
            <a:avLst/>
          </a:prstGeom>
          <a:noFill/>
          <a:ln/>
        </p:spPr>
        <p:txBody>
          <a:bodyPr wrap="square" lIns="0" tIns="0" rIns="0" bIns="0" rtlCol="0" anchor="t">
            <a:spAutoFit/>
          </a:bodyPr>
          <a:lstStyle/>
          <a:p>
            <a:pPr algn="l" indent="0" marL="0">
              <a:buNone/>
            </a:pPr>
            <a:r>
              <a:rPr lang="en-US" sz="600" dirty="0">
                <a:solidFill>
                  <a:srgbClr val="1A2B4A"/>
                </a:solidFill>
                <a:latin typeface="DM Mono" pitchFamily="34" charset="0"/>
                <a:ea typeface="DM Mono" pitchFamily="34" charset="-122"/>
                <a:cs typeface="DM Mono" pitchFamily="34" charset="-120"/>
              </a:rPr>
              <a:t>EDA, class distribution, visualisations</a:t>
            </a:r>
            <a:endParaRPr lang="en-US" sz="600" dirty="0"/>
          </a:p>
        </p:txBody>
      </p:sp>
      <p:sp>
        <p:nvSpPr>
          <p:cNvPr id="18" name="Shape 14"/>
          <p:cNvSpPr/>
          <p:nvPr/>
        </p:nvSpPr>
        <p:spPr>
          <a:xfrm>
            <a:off x="3686175" y="1761827"/>
            <a:ext cx="500063" cy="160734"/>
          </a:xfrm>
          <a:prstGeom prst="rect">
            <a:avLst/>
          </a:prstGeom>
          <a:solidFill>
            <a:srgbClr val="FFFFFF"/>
          </a:solidFill>
          <a:ln w="9144">
            <a:solidFill>
              <a:srgbClr val="0056B3"/>
            </a:solidFill>
            <a:prstDash val="solid"/>
          </a:ln>
        </p:spPr>
      </p:sp>
      <p:sp>
        <p:nvSpPr>
          <p:cNvPr id="19" name="Text 15"/>
          <p:cNvSpPr/>
          <p:nvPr/>
        </p:nvSpPr>
        <p:spPr>
          <a:xfrm>
            <a:off x="3686175" y="1761827"/>
            <a:ext cx="500063" cy="160734"/>
          </a:xfrm>
          <a:prstGeom prst="rect">
            <a:avLst/>
          </a:prstGeom>
          <a:noFill/>
          <a:ln/>
        </p:spPr>
        <p:txBody>
          <a:bodyPr wrap="none" lIns="68072" tIns="25527" rIns="68072" bIns="25527" rtlCol="0" anchor="t">
            <a:spAutoFit/>
          </a:bodyPr>
          <a:lstStyle/>
          <a:p>
            <a:pPr algn="l" indent="0" marL="0">
              <a:buNone/>
            </a:pPr>
            <a:r>
              <a:rPr lang="en-US" sz="550" dirty="0">
                <a:solidFill>
                  <a:srgbClr val="0056B3"/>
                </a:solidFill>
                <a:latin typeface="DM Mono Medium" pitchFamily="34" charset="0"/>
                <a:ea typeface="DM Mono Medium" pitchFamily="34" charset="-122"/>
                <a:cs typeface="DM Mono Medium" pitchFamily="34" charset="-120"/>
              </a:rPr>
              <a:t>Sprint 2</a:t>
            </a:r>
            <a:endParaRPr lang="en-US" sz="550" dirty="0"/>
          </a:p>
        </p:txBody>
      </p:sp>
      <p:sp>
        <p:nvSpPr>
          <p:cNvPr id="20" name="Shape 16"/>
          <p:cNvSpPr/>
          <p:nvPr/>
        </p:nvSpPr>
        <p:spPr>
          <a:xfrm>
            <a:off x="628650" y="2078831"/>
            <a:ext cx="3671888" cy="401836"/>
          </a:xfrm>
          <a:prstGeom prst="rect">
            <a:avLst/>
          </a:prstGeom>
          <a:solidFill>
            <a:srgbClr val="C8DEFF"/>
          </a:solidFill>
          <a:ln/>
        </p:spPr>
      </p:sp>
      <p:sp>
        <p:nvSpPr>
          <p:cNvPr id="21" name="Shape 17"/>
          <p:cNvSpPr/>
          <p:nvPr/>
        </p:nvSpPr>
        <p:spPr>
          <a:xfrm>
            <a:off x="628650" y="2078831"/>
            <a:ext cx="3671888" cy="14288"/>
          </a:xfrm>
          <a:prstGeom prst="rect">
            <a:avLst/>
          </a:prstGeom>
          <a:solidFill>
            <a:srgbClr val="0056B3"/>
          </a:solidFill>
          <a:ln/>
        </p:spPr>
      </p:sp>
      <p:sp>
        <p:nvSpPr>
          <p:cNvPr id="22" name="Text 18"/>
          <p:cNvSpPr/>
          <p:nvPr/>
        </p:nvSpPr>
        <p:spPr>
          <a:xfrm>
            <a:off x="742950" y="2150269"/>
            <a:ext cx="2278856" cy="117872"/>
          </a:xfrm>
          <a:prstGeom prst="rect">
            <a:avLst/>
          </a:prstGeom>
          <a:noFill/>
          <a:ln/>
        </p:spPr>
        <p:txBody>
          <a:bodyPr wrap="square" lIns="0" tIns="0" rIns="0" bIns="0" rtlCol="0" anchor="t">
            <a:spAutoFit/>
          </a:bodyPr>
          <a:lstStyle/>
          <a:p>
            <a:pPr algn="l" indent="0" marL="0">
              <a:buNone/>
            </a:pPr>
            <a:r>
              <a:rPr lang="en-US" sz="650" b="1" dirty="0">
                <a:solidFill>
                  <a:srgbClr val="0A192F"/>
                </a:solidFill>
                <a:latin typeface="Space Grotesk Bold" pitchFamily="34" charset="0"/>
                <a:ea typeface="Space Grotesk Bold" pitchFamily="34" charset="-122"/>
                <a:cs typeface="Space Grotesk Bold" pitchFamily="34" charset="-120"/>
              </a:rPr>
              <a:t>Data Preparation</a:t>
            </a:r>
            <a:endParaRPr lang="en-US" sz="650" dirty="0"/>
          </a:p>
        </p:txBody>
      </p:sp>
      <p:sp>
        <p:nvSpPr>
          <p:cNvPr id="23" name="Text 19"/>
          <p:cNvSpPr/>
          <p:nvPr/>
        </p:nvSpPr>
        <p:spPr>
          <a:xfrm>
            <a:off x="742950" y="2282428"/>
            <a:ext cx="2278856" cy="112514"/>
          </a:xfrm>
          <a:prstGeom prst="rect">
            <a:avLst/>
          </a:prstGeom>
          <a:noFill/>
          <a:ln/>
        </p:spPr>
        <p:txBody>
          <a:bodyPr wrap="square" lIns="0" tIns="0" rIns="0" bIns="0" rtlCol="0" anchor="t">
            <a:spAutoFit/>
          </a:bodyPr>
          <a:lstStyle/>
          <a:p>
            <a:pPr algn="l" indent="0" marL="0">
              <a:buNone/>
            </a:pPr>
            <a:r>
              <a:rPr lang="en-US" sz="600" dirty="0">
                <a:solidFill>
                  <a:srgbClr val="1A2B4A"/>
                </a:solidFill>
                <a:latin typeface="DM Mono" pitchFamily="34" charset="0"/>
                <a:ea typeface="DM Mono" pitchFamily="34" charset="-122"/>
                <a:cs typeface="DM Mono" pitchFamily="34" charset="-120"/>
              </a:rPr>
              <a:t>Cleaning, deduplication, feature engineering</a:t>
            </a:r>
            <a:endParaRPr lang="en-US" sz="600" dirty="0"/>
          </a:p>
        </p:txBody>
      </p:sp>
      <p:sp>
        <p:nvSpPr>
          <p:cNvPr id="24" name="Shape 20"/>
          <p:cNvSpPr/>
          <p:nvPr/>
        </p:nvSpPr>
        <p:spPr>
          <a:xfrm>
            <a:off x="3546872" y="2192238"/>
            <a:ext cx="639366" cy="160734"/>
          </a:xfrm>
          <a:prstGeom prst="rect">
            <a:avLst/>
          </a:prstGeom>
          <a:solidFill>
            <a:srgbClr val="FFFFFF"/>
          </a:solidFill>
          <a:ln w="9144">
            <a:solidFill>
              <a:srgbClr val="0056B3"/>
            </a:solidFill>
            <a:prstDash val="solid"/>
          </a:ln>
        </p:spPr>
      </p:sp>
      <p:sp>
        <p:nvSpPr>
          <p:cNvPr id="25" name="Text 21"/>
          <p:cNvSpPr/>
          <p:nvPr/>
        </p:nvSpPr>
        <p:spPr>
          <a:xfrm>
            <a:off x="3546872" y="2192238"/>
            <a:ext cx="639366" cy="160734"/>
          </a:xfrm>
          <a:prstGeom prst="rect">
            <a:avLst/>
          </a:prstGeom>
          <a:noFill/>
          <a:ln/>
        </p:spPr>
        <p:txBody>
          <a:bodyPr wrap="none" lIns="68072" tIns="25527" rIns="68072" bIns="25527" rtlCol="0" anchor="t">
            <a:spAutoFit/>
          </a:bodyPr>
          <a:lstStyle/>
          <a:p>
            <a:pPr algn="l" indent="0" marL="0">
              <a:buNone/>
            </a:pPr>
            <a:r>
              <a:rPr lang="en-US" sz="550" dirty="0">
                <a:solidFill>
                  <a:srgbClr val="0056B3"/>
                </a:solidFill>
                <a:latin typeface="DM Mono Medium" pitchFamily="34" charset="0"/>
                <a:ea typeface="DM Mono Medium" pitchFamily="34" charset="-122"/>
                <a:cs typeface="DM Mono Medium" pitchFamily="34" charset="-120"/>
              </a:rPr>
              <a:t>Sprints 3–4</a:t>
            </a:r>
            <a:endParaRPr lang="en-US" sz="550" dirty="0"/>
          </a:p>
        </p:txBody>
      </p:sp>
      <p:sp>
        <p:nvSpPr>
          <p:cNvPr id="26" name="Shape 22"/>
          <p:cNvSpPr/>
          <p:nvPr/>
        </p:nvSpPr>
        <p:spPr>
          <a:xfrm>
            <a:off x="628650" y="2509242"/>
            <a:ext cx="3671888" cy="401836"/>
          </a:xfrm>
          <a:prstGeom prst="rect">
            <a:avLst/>
          </a:prstGeom>
          <a:solidFill>
            <a:srgbClr val="C8DEFF"/>
          </a:solidFill>
          <a:ln/>
        </p:spPr>
      </p:sp>
      <p:sp>
        <p:nvSpPr>
          <p:cNvPr id="27" name="Shape 23"/>
          <p:cNvSpPr/>
          <p:nvPr/>
        </p:nvSpPr>
        <p:spPr>
          <a:xfrm>
            <a:off x="628650" y="2509242"/>
            <a:ext cx="3671888" cy="14288"/>
          </a:xfrm>
          <a:prstGeom prst="rect">
            <a:avLst/>
          </a:prstGeom>
          <a:solidFill>
            <a:srgbClr val="0056B3"/>
          </a:solidFill>
          <a:ln/>
        </p:spPr>
      </p:sp>
      <p:sp>
        <p:nvSpPr>
          <p:cNvPr id="28" name="Text 24"/>
          <p:cNvSpPr/>
          <p:nvPr/>
        </p:nvSpPr>
        <p:spPr>
          <a:xfrm>
            <a:off x="742950" y="2580680"/>
            <a:ext cx="2019895" cy="117872"/>
          </a:xfrm>
          <a:prstGeom prst="rect">
            <a:avLst/>
          </a:prstGeom>
          <a:noFill/>
          <a:ln/>
        </p:spPr>
        <p:txBody>
          <a:bodyPr wrap="square" lIns="0" tIns="0" rIns="0" bIns="0" rtlCol="0" anchor="t">
            <a:spAutoFit/>
          </a:bodyPr>
          <a:lstStyle/>
          <a:p>
            <a:pPr algn="l" indent="0" marL="0">
              <a:buNone/>
            </a:pPr>
            <a:r>
              <a:rPr lang="en-US" sz="650" b="1" dirty="0">
                <a:solidFill>
                  <a:srgbClr val="0A192F"/>
                </a:solidFill>
                <a:latin typeface="Space Grotesk Bold" pitchFamily="34" charset="0"/>
                <a:ea typeface="Space Grotesk Bold" pitchFamily="34" charset="-122"/>
                <a:cs typeface="Space Grotesk Bold" pitchFamily="34" charset="-120"/>
              </a:rPr>
              <a:t>Modelling</a:t>
            </a:r>
            <a:endParaRPr lang="en-US" sz="650" dirty="0"/>
          </a:p>
        </p:txBody>
      </p:sp>
      <p:sp>
        <p:nvSpPr>
          <p:cNvPr id="29" name="Text 25"/>
          <p:cNvSpPr/>
          <p:nvPr/>
        </p:nvSpPr>
        <p:spPr>
          <a:xfrm>
            <a:off x="742950" y="2712839"/>
            <a:ext cx="2019895" cy="112514"/>
          </a:xfrm>
          <a:prstGeom prst="rect">
            <a:avLst/>
          </a:prstGeom>
          <a:noFill/>
          <a:ln/>
        </p:spPr>
        <p:txBody>
          <a:bodyPr wrap="square" lIns="0" tIns="0" rIns="0" bIns="0" rtlCol="0" anchor="t">
            <a:spAutoFit/>
          </a:bodyPr>
          <a:lstStyle/>
          <a:p>
            <a:pPr algn="l" indent="0" marL="0">
              <a:buNone/>
            </a:pPr>
            <a:r>
              <a:rPr lang="en-US" sz="600" dirty="0">
                <a:solidFill>
                  <a:srgbClr val="1A2B4A"/>
                </a:solidFill>
                <a:latin typeface="DM Mono" pitchFamily="34" charset="0"/>
                <a:ea typeface="DM Mono" pitchFamily="34" charset="-122"/>
                <a:cs typeface="DM Mono" pitchFamily="34" charset="-120"/>
              </a:rPr>
              <a:t>Logistic Regression, Random Forest, SVM</a:t>
            </a:r>
            <a:endParaRPr lang="en-US" sz="600" dirty="0"/>
          </a:p>
        </p:txBody>
      </p:sp>
      <p:sp>
        <p:nvSpPr>
          <p:cNvPr id="30" name="Shape 26"/>
          <p:cNvSpPr/>
          <p:nvPr/>
        </p:nvSpPr>
        <p:spPr>
          <a:xfrm>
            <a:off x="3546872" y="2622649"/>
            <a:ext cx="639366" cy="160734"/>
          </a:xfrm>
          <a:prstGeom prst="rect">
            <a:avLst/>
          </a:prstGeom>
          <a:solidFill>
            <a:srgbClr val="FFFFFF"/>
          </a:solidFill>
          <a:ln w="9144">
            <a:solidFill>
              <a:srgbClr val="0056B3"/>
            </a:solidFill>
            <a:prstDash val="solid"/>
          </a:ln>
        </p:spPr>
      </p:sp>
      <p:sp>
        <p:nvSpPr>
          <p:cNvPr id="31" name="Text 27"/>
          <p:cNvSpPr/>
          <p:nvPr/>
        </p:nvSpPr>
        <p:spPr>
          <a:xfrm>
            <a:off x="3546872" y="2622649"/>
            <a:ext cx="639366" cy="160734"/>
          </a:xfrm>
          <a:prstGeom prst="rect">
            <a:avLst/>
          </a:prstGeom>
          <a:noFill/>
          <a:ln/>
        </p:spPr>
        <p:txBody>
          <a:bodyPr wrap="none" lIns="68072" tIns="25527" rIns="68072" bIns="25527" rtlCol="0" anchor="t">
            <a:spAutoFit/>
          </a:bodyPr>
          <a:lstStyle/>
          <a:p>
            <a:pPr algn="l" indent="0" marL="0">
              <a:buNone/>
            </a:pPr>
            <a:r>
              <a:rPr lang="en-US" sz="550" dirty="0">
                <a:solidFill>
                  <a:srgbClr val="0056B3"/>
                </a:solidFill>
                <a:latin typeface="DM Mono Medium" pitchFamily="34" charset="0"/>
                <a:ea typeface="DM Mono Medium" pitchFamily="34" charset="-122"/>
                <a:cs typeface="DM Mono Medium" pitchFamily="34" charset="-120"/>
              </a:rPr>
              <a:t>Sprints 5–7</a:t>
            </a:r>
            <a:endParaRPr lang="en-US" sz="550" dirty="0"/>
          </a:p>
        </p:txBody>
      </p:sp>
      <p:sp>
        <p:nvSpPr>
          <p:cNvPr id="32" name="Shape 28"/>
          <p:cNvSpPr/>
          <p:nvPr/>
        </p:nvSpPr>
        <p:spPr>
          <a:xfrm>
            <a:off x="628650" y="2939653"/>
            <a:ext cx="3671888" cy="401836"/>
          </a:xfrm>
          <a:prstGeom prst="rect">
            <a:avLst/>
          </a:prstGeom>
          <a:solidFill>
            <a:srgbClr val="E6F0FA"/>
          </a:solidFill>
          <a:ln/>
        </p:spPr>
      </p:sp>
      <p:sp>
        <p:nvSpPr>
          <p:cNvPr id="33" name="Shape 29"/>
          <p:cNvSpPr/>
          <p:nvPr/>
        </p:nvSpPr>
        <p:spPr>
          <a:xfrm>
            <a:off x="628650" y="2939653"/>
            <a:ext cx="3671888" cy="14288"/>
          </a:xfrm>
          <a:prstGeom prst="rect">
            <a:avLst/>
          </a:prstGeom>
          <a:solidFill>
            <a:srgbClr val="C8DEFF"/>
          </a:solidFill>
          <a:ln/>
        </p:spPr>
      </p:sp>
      <p:sp>
        <p:nvSpPr>
          <p:cNvPr id="34" name="Text 30"/>
          <p:cNvSpPr/>
          <p:nvPr/>
        </p:nvSpPr>
        <p:spPr>
          <a:xfrm>
            <a:off x="742950" y="3011091"/>
            <a:ext cx="2123480" cy="117872"/>
          </a:xfrm>
          <a:prstGeom prst="rect">
            <a:avLst/>
          </a:prstGeom>
          <a:noFill/>
          <a:ln/>
        </p:spPr>
        <p:txBody>
          <a:bodyPr wrap="square" lIns="0" tIns="0" rIns="0" bIns="0" rtlCol="0" anchor="t">
            <a:spAutoFit/>
          </a:bodyPr>
          <a:lstStyle/>
          <a:p>
            <a:pPr algn="l" indent="0" marL="0">
              <a:buNone/>
            </a:pPr>
            <a:r>
              <a:rPr lang="en-US" sz="650" b="1" dirty="0">
                <a:solidFill>
                  <a:srgbClr val="0A192F"/>
                </a:solidFill>
                <a:latin typeface="Space Grotesk Bold" pitchFamily="34" charset="0"/>
                <a:ea typeface="Space Grotesk Bold" pitchFamily="34" charset="-122"/>
                <a:cs typeface="Space Grotesk Bold" pitchFamily="34" charset="-120"/>
              </a:rPr>
              <a:t>Evaluation</a:t>
            </a:r>
            <a:endParaRPr lang="en-US" sz="650" dirty="0"/>
          </a:p>
        </p:txBody>
      </p:sp>
      <p:sp>
        <p:nvSpPr>
          <p:cNvPr id="35" name="Text 31"/>
          <p:cNvSpPr/>
          <p:nvPr/>
        </p:nvSpPr>
        <p:spPr>
          <a:xfrm>
            <a:off x="742950" y="3143250"/>
            <a:ext cx="2123480" cy="112514"/>
          </a:xfrm>
          <a:prstGeom prst="rect">
            <a:avLst/>
          </a:prstGeom>
          <a:noFill/>
          <a:ln/>
        </p:spPr>
        <p:txBody>
          <a:bodyPr wrap="square" lIns="0" tIns="0" rIns="0" bIns="0" rtlCol="0" anchor="t">
            <a:spAutoFit/>
          </a:bodyPr>
          <a:lstStyle/>
          <a:p>
            <a:pPr algn="l" indent="0" marL="0">
              <a:buNone/>
            </a:pPr>
            <a:r>
              <a:rPr lang="en-US" sz="600" dirty="0">
                <a:solidFill>
                  <a:srgbClr val="1A2B4A"/>
                </a:solidFill>
                <a:latin typeface="DM Mono" pitchFamily="34" charset="0"/>
                <a:ea typeface="DM Mono" pitchFamily="34" charset="-122"/>
                <a:cs typeface="DM Mono" pitchFamily="34" charset="-120"/>
              </a:rPr>
              <a:t>Cross-validation, ANOVA, final comparison</a:t>
            </a:r>
            <a:endParaRPr lang="en-US" sz="600" dirty="0"/>
          </a:p>
        </p:txBody>
      </p:sp>
      <p:sp>
        <p:nvSpPr>
          <p:cNvPr id="36" name="Shape 32"/>
          <p:cNvSpPr/>
          <p:nvPr/>
        </p:nvSpPr>
        <p:spPr>
          <a:xfrm>
            <a:off x="3546872" y="3053060"/>
            <a:ext cx="639366" cy="160734"/>
          </a:xfrm>
          <a:prstGeom prst="rect">
            <a:avLst/>
          </a:prstGeom>
          <a:solidFill>
            <a:srgbClr val="FFFFFF"/>
          </a:solidFill>
          <a:ln w="9144">
            <a:solidFill>
              <a:srgbClr val="0056B3"/>
            </a:solidFill>
            <a:prstDash val="solid"/>
          </a:ln>
        </p:spPr>
      </p:sp>
      <p:sp>
        <p:nvSpPr>
          <p:cNvPr id="37" name="Text 33"/>
          <p:cNvSpPr/>
          <p:nvPr/>
        </p:nvSpPr>
        <p:spPr>
          <a:xfrm>
            <a:off x="3546872" y="3053060"/>
            <a:ext cx="639366" cy="160734"/>
          </a:xfrm>
          <a:prstGeom prst="rect">
            <a:avLst/>
          </a:prstGeom>
          <a:noFill/>
          <a:ln/>
        </p:spPr>
        <p:txBody>
          <a:bodyPr wrap="none" lIns="68072" tIns="25527" rIns="68072" bIns="25527" rtlCol="0" anchor="t">
            <a:spAutoFit/>
          </a:bodyPr>
          <a:lstStyle/>
          <a:p>
            <a:pPr algn="l" indent="0" marL="0">
              <a:buNone/>
            </a:pPr>
            <a:r>
              <a:rPr lang="en-US" sz="550" dirty="0">
                <a:solidFill>
                  <a:srgbClr val="0056B3"/>
                </a:solidFill>
                <a:latin typeface="DM Mono Medium" pitchFamily="34" charset="0"/>
                <a:ea typeface="DM Mono Medium" pitchFamily="34" charset="-122"/>
                <a:cs typeface="DM Mono Medium" pitchFamily="34" charset="-120"/>
              </a:rPr>
              <a:t>Sprints 8–9</a:t>
            </a:r>
            <a:endParaRPr lang="en-US" sz="550" dirty="0"/>
          </a:p>
        </p:txBody>
      </p:sp>
      <p:sp>
        <p:nvSpPr>
          <p:cNvPr id="38" name="Shape 34"/>
          <p:cNvSpPr/>
          <p:nvPr/>
        </p:nvSpPr>
        <p:spPr>
          <a:xfrm>
            <a:off x="628650" y="3370064"/>
            <a:ext cx="3671888" cy="401836"/>
          </a:xfrm>
          <a:prstGeom prst="rect">
            <a:avLst/>
          </a:prstGeom>
          <a:solidFill>
            <a:srgbClr val="E6F0FA"/>
          </a:solidFill>
          <a:ln/>
        </p:spPr>
      </p:sp>
      <p:sp>
        <p:nvSpPr>
          <p:cNvPr id="39" name="Shape 35"/>
          <p:cNvSpPr/>
          <p:nvPr/>
        </p:nvSpPr>
        <p:spPr>
          <a:xfrm>
            <a:off x="628650" y="3370064"/>
            <a:ext cx="3671888" cy="14288"/>
          </a:xfrm>
          <a:prstGeom prst="rect">
            <a:avLst/>
          </a:prstGeom>
          <a:solidFill>
            <a:srgbClr val="C8DEFF"/>
          </a:solidFill>
          <a:ln/>
        </p:spPr>
      </p:sp>
      <p:sp>
        <p:nvSpPr>
          <p:cNvPr id="40" name="Text 36"/>
          <p:cNvSpPr/>
          <p:nvPr/>
        </p:nvSpPr>
        <p:spPr>
          <a:xfrm>
            <a:off x="742950" y="3441502"/>
            <a:ext cx="1916311" cy="117872"/>
          </a:xfrm>
          <a:prstGeom prst="rect">
            <a:avLst/>
          </a:prstGeom>
          <a:noFill/>
          <a:ln/>
        </p:spPr>
        <p:txBody>
          <a:bodyPr wrap="square" lIns="0" tIns="0" rIns="0" bIns="0" rtlCol="0" anchor="t">
            <a:spAutoFit/>
          </a:bodyPr>
          <a:lstStyle/>
          <a:p>
            <a:pPr algn="l" indent="0" marL="0">
              <a:buNone/>
            </a:pPr>
            <a:r>
              <a:rPr lang="en-US" sz="650" b="1" dirty="0">
                <a:solidFill>
                  <a:srgbClr val="0A192F"/>
                </a:solidFill>
                <a:latin typeface="Space Grotesk Bold" pitchFamily="34" charset="0"/>
                <a:ea typeface="Space Grotesk Bold" pitchFamily="34" charset="-122"/>
                <a:cs typeface="Space Grotesk Bold" pitchFamily="34" charset="-120"/>
              </a:rPr>
              <a:t>Deployment</a:t>
            </a:r>
            <a:endParaRPr lang="en-US" sz="650" dirty="0"/>
          </a:p>
        </p:txBody>
      </p:sp>
      <p:sp>
        <p:nvSpPr>
          <p:cNvPr id="41" name="Text 37"/>
          <p:cNvSpPr/>
          <p:nvPr/>
        </p:nvSpPr>
        <p:spPr>
          <a:xfrm>
            <a:off x="742950" y="3573661"/>
            <a:ext cx="1916311" cy="112514"/>
          </a:xfrm>
          <a:prstGeom prst="rect">
            <a:avLst/>
          </a:prstGeom>
          <a:noFill/>
          <a:ln/>
        </p:spPr>
        <p:txBody>
          <a:bodyPr wrap="square" lIns="0" tIns="0" rIns="0" bIns="0" rtlCol="0" anchor="t">
            <a:spAutoFit/>
          </a:bodyPr>
          <a:lstStyle/>
          <a:p>
            <a:pPr algn="l" indent="0" marL="0">
              <a:buNone/>
            </a:pPr>
            <a:r>
              <a:rPr lang="en-US" sz="600" dirty="0">
                <a:solidFill>
                  <a:srgbClr val="1A2B4A"/>
                </a:solidFill>
                <a:latin typeface="DM Mono" pitchFamily="34" charset="0"/>
                <a:ea typeface="DM Mono" pitchFamily="34" charset="-122"/>
                <a:cs typeface="DM Mono" pitchFamily="34" charset="-120"/>
              </a:rPr>
              <a:t>PhishGuard web prototype (React + ML)</a:t>
            </a:r>
            <a:endParaRPr lang="en-US" sz="600" dirty="0"/>
          </a:p>
        </p:txBody>
      </p:sp>
      <p:sp>
        <p:nvSpPr>
          <p:cNvPr id="42" name="Shape 38"/>
          <p:cNvSpPr/>
          <p:nvPr/>
        </p:nvSpPr>
        <p:spPr>
          <a:xfrm>
            <a:off x="3593306" y="3483471"/>
            <a:ext cx="592931" cy="160734"/>
          </a:xfrm>
          <a:prstGeom prst="rect">
            <a:avLst/>
          </a:prstGeom>
          <a:solidFill>
            <a:srgbClr val="FFFFFF"/>
          </a:solidFill>
          <a:ln w="9144">
            <a:solidFill>
              <a:srgbClr val="0056B3"/>
            </a:solidFill>
            <a:prstDash val="solid"/>
          </a:ln>
        </p:spPr>
      </p:sp>
      <p:sp>
        <p:nvSpPr>
          <p:cNvPr id="43" name="Text 39"/>
          <p:cNvSpPr/>
          <p:nvPr/>
        </p:nvSpPr>
        <p:spPr>
          <a:xfrm>
            <a:off x="3593306" y="3483471"/>
            <a:ext cx="592931" cy="160734"/>
          </a:xfrm>
          <a:prstGeom prst="rect">
            <a:avLst/>
          </a:prstGeom>
          <a:noFill/>
          <a:ln/>
        </p:spPr>
        <p:txBody>
          <a:bodyPr wrap="none" lIns="68072" tIns="25527" rIns="68072" bIns="25527" rtlCol="0" anchor="t">
            <a:spAutoFit/>
          </a:bodyPr>
          <a:lstStyle/>
          <a:p>
            <a:pPr algn="l" indent="0" marL="0">
              <a:buNone/>
            </a:pPr>
            <a:r>
              <a:rPr lang="en-US" sz="550" dirty="0">
                <a:solidFill>
                  <a:srgbClr val="0056B3"/>
                </a:solidFill>
                <a:latin typeface="DM Mono Medium" pitchFamily="34" charset="0"/>
                <a:ea typeface="DM Mono Medium" pitchFamily="34" charset="-122"/>
                <a:cs typeface="DM Mono Medium" pitchFamily="34" charset="-120"/>
              </a:rPr>
              <a:t>Sprint 10+</a:t>
            </a:r>
            <a:endParaRPr lang="en-US" sz="550" dirty="0"/>
          </a:p>
        </p:txBody>
      </p:sp>
      <p:sp>
        <p:nvSpPr>
          <p:cNvPr id="44" name="Text 40"/>
          <p:cNvSpPr/>
          <p:nvPr/>
        </p:nvSpPr>
        <p:spPr>
          <a:xfrm>
            <a:off x="4829175" y="994767"/>
            <a:ext cx="3914775"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RESEARCH PHILOSOPHY</a:t>
            </a:r>
            <a:endParaRPr lang="en-US" sz="550" dirty="0"/>
          </a:p>
        </p:txBody>
      </p:sp>
      <p:sp>
        <p:nvSpPr>
          <p:cNvPr id="45" name="Shape 41"/>
          <p:cNvSpPr/>
          <p:nvPr/>
        </p:nvSpPr>
        <p:spPr>
          <a:xfrm>
            <a:off x="4829175" y="1326952"/>
            <a:ext cx="1257300" cy="917581"/>
          </a:xfrm>
          <a:prstGeom prst="rect">
            <a:avLst/>
          </a:prstGeom>
          <a:solidFill>
            <a:srgbClr val="0A192F"/>
          </a:solidFill>
          <a:ln/>
        </p:spPr>
      </p:sp>
      <p:sp>
        <p:nvSpPr>
          <p:cNvPr id="46" name="Text 42"/>
          <p:cNvSpPr/>
          <p:nvPr/>
        </p:nvSpPr>
        <p:spPr>
          <a:xfrm>
            <a:off x="4929188" y="1441252"/>
            <a:ext cx="1057275" cy="92869"/>
          </a:xfrm>
          <a:prstGeom prst="rect">
            <a:avLst/>
          </a:prstGeom>
          <a:noFill/>
          <a:ln/>
        </p:spPr>
        <p:txBody>
          <a:bodyPr wrap="none" lIns="0" tIns="0" rIns="0" bIns="0" rtlCol="0" anchor="t">
            <a:spAutoFit/>
          </a:bodyPr>
          <a:lstStyle/>
          <a:p>
            <a:pPr algn="l" indent="0" marL="0">
              <a:buNone/>
            </a:pPr>
            <a:r>
              <a:rPr lang="en-US" sz="500" spc="2" kern="0" dirty="0">
                <a:solidFill>
                  <a:srgbClr val="4A90D9"/>
                </a:solidFill>
                <a:latin typeface="DM Mono" pitchFamily="34" charset="0"/>
                <a:ea typeface="DM Mono" pitchFamily="34" charset="-122"/>
                <a:cs typeface="DM Mono" pitchFamily="34" charset="-120"/>
              </a:rPr>
              <a:t>PHILOSOPHY</a:t>
            </a:r>
            <a:endParaRPr lang="en-US" sz="500" dirty="0"/>
          </a:p>
        </p:txBody>
      </p:sp>
      <p:sp>
        <p:nvSpPr>
          <p:cNvPr id="47" name="Text 43"/>
          <p:cNvSpPr/>
          <p:nvPr/>
        </p:nvSpPr>
        <p:spPr>
          <a:xfrm>
            <a:off x="4929188" y="1576983"/>
            <a:ext cx="1057275" cy="137517"/>
          </a:xfrm>
          <a:prstGeom prst="rect">
            <a:avLst/>
          </a:prstGeom>
          <a:noFill/>
          <a:ln/>
        </p:spPr>
        <p:txBody>
          <a:bodyPr wrap="none" lIns="0" tIns="0" rIns="0" bIns="0" rtlCol="0" anchor="t">
            <a:spAutoFit/>
          </a:bodyPr>
          <a:lstStyle/>
          <a:p>
            <a:pPr algn="l" indent="0" marL="0">
              <a:buNone/>
            </a:pPr>
            <a:r>
              <a:rPr lang="en-US" sz="750" b="1" dirty="0">
                <a:solidFill>
                  <a:srgbClr val="FFFFFF"/>
                </a:solidFill>
                <a:latin typeface="Space Grotesk Bold" pitchFamily="34" charset="0"/>
                <a:ea typeface="Space Grotesk Bold" pitchFamily="34" charset="-122"/>
                <a:cs typeface="Space Grotesk Bold" pitchFamily="34" charset="-120"/>
              </a:rPr>
              <a:t>Positivist</a:t>
            </a:r>
            <a:endParaRPr lang="en-US" sz="750" dirty="0"/>
          </a:p>
        </p:txBody>
      </p:sp>
      <p:sp>
        <p:nvSpPr>
          <p:cNvPr id="48" name="Text 44"/>
          <p:cNvSpPr/>
          <p:nvPr/>
        </p:nvSpPr>
        <p:spPr>
          <a:xfrm>
            <a:off x="4929188" y="1757363"/>
            <a:ext cx="1057275" cy="372870"/>
          </a:xfrm>
          <a:prstGeom prst="rect">
            <a:avLst/>
          </a:prstGeom>
          <a:noFill/>
          <a:ln/>
        </p:spPr>
        <p:txBody>
          <a:bodyPr wrap="square" lIns="0" tIns="0" rIns="0" bIns="0" rtlCol="0" anchor="t">
            <a:spAutoFit/>
          </a:bodyPr>
          <a:lstStyle/>
          <a:p>
            <a:pPr algn="l" indent="0" marL="0">
              <a:lnSpc>
                <a:spcPct val="116000"/>
              </a:lnSpc>
              <a:buNone/>
            </a:pPr>
            <a:r>
              <a:rPr lang="en-US" sz="600" dirty="0">
                <a:solidFill>
                  <a:srgbClr val="8BA4C0"/>
                </a:solidFill>
                <a:latin typeface="Space Grotesk" pitchFamily="34" charset="0"/>
                <a:ea typeface="Space Grotesk" pitchFamily="34" charset="-122"/>
                <a:cs typeface="Space Grotesk" pitchFamily="34" charset="-120"/>
              </a:rPr>
              <a:t>Knowledge from observable, measurable, reproducible phenomena</a:t>
            </a:r>
            <a:endParaRPr lang="en-US" sz="600" dirty="0"/>
          </a:p>
        </p:txBody>
      </p:sp>
      <p:sp>
        <p:nvSpPr>
          <p:cNvPr id="49" name="Shape 45"/>
          <p:cNvSpPr/>
          <p:nvPr/>
        </p:nvSpPr>
        <p:spPr>
          <a:xfrm>
            <a:off x="6157913" y="1326952"/>
            <a:ext cx="1257300" cy="917581"/>
          </a:xfrm>
          <a:prstGeom prst="rect">
            <a:avLst/>
          </a:prstGeom>
          <a:solidFill>
            <a:srgbClr val="0A192F"/>
          </a:solidFill>
          <a:ln/>
        </p:spPr>
      </p:sp>
      <p:sp>
        <p:nvSpPr>
          <p:cNvPr id="50" name="Text 46"/>
          <p:cNvSpPr/>
          <p:nvPr/>
        </p:nvSpPr>
        <p:spPr>
          <a:xfrm>
            <a:off x="6257925" y="1441252"/>
            <a:ext cx="1057275" cy="92869"/>
          </a:xfrm>
          <a:prstGeom prst="rect">
            <a:avLst/>
          </a:prstGeom>
          <a:noFill/>
          <a:ln/>
        </p:spPr>
        <p:txBody>
          <a:bodyPr wrap="none" lIns="0" tIns="0" rIns="0" bIns="0" rtlCol="0" anchor="t">
            <a:spAutoFit/>
          </a:bodyPr>
          <a:lstStyle/>
          <a:p>
            <a:pPr algn="l" indent="0" marL="0">
              <a:buNone/>
            </a:pPr>
            <a:r>
              <a:rPr lang="en-US" sz="500" spc="2" kern="0" dirty="0">
                <a:solidFill>
                  <a:srgbClr val="4A90D9"/>
                </a:solidFill>
                <a:latin typeface="DM Mono" pitchFamily="34" charset="0"/>
                <a:ea typeface="DM Mono" pitchFamily="34" charset="-122"/>
                <a:cs typeface="DM Mono" pitchFamily="34" charset="-120"/>
              </a:rPr>
              <a:t>APPROACH</a:t>
            </a:r>
            <a:endParaRPr lang="en-US" sz="500" dirty="0"/>
          </a:p>
        </p:txBody>
      </p:sp>
      <p:sp>
        <p:nvSpPr>
          <p:cNvPr id="51" name="Text 47"/>
          <p:cNvSpPr/>
          <p:nvPr/>
        </p:nvSpPr>
        <p:spPr>
          <a:xfrm>
            <a:off x="6257925" y="1576983"/>
            <a:ext cx="1057275" cy="137517"/>
          </a:xfrm>
          <a:prstGeom prst="rect">
            <a:avLst/>
          </a:prstGeom>
          <a:noFill/>
          <a:ln/>
        </p:spPr>
        <p:txBody>
          <a:bodyPr wrap="none" lIns="0" tIns="0" rIns="0" bIns="0" rtlCol="0" anchor="t">
            <a:spAutoFit/>
          </a:bodyPr>
          <a:lstStyle/>
          <a:p>
            <a:pPr algn="l" indent="0" marL="0">
              <a:buNone/>
            </a:pPr>
            <a:r>
              <a:rPr lang="en-US" sz="750" b="1" dirty="0">
                <a:solidFill>
                  <a:srgbClr val="FFFFFF"/>
                </a:solidFill>
                <a:latin typeface="Space Grotesk Bold" pitchFamily="34" charset="0"/>
                <a:ea typeface="Space Grotesk Bold" pitchFamily="34" charset="-122"/>
                <a:cs typeface="Space Grotesk Bold" pitchFamily="34" charset="-120"/>
              </a:rPr>
              <a:t>Deductive</a:t>
            </a:r>
            <a:endParaRPr lang="en-US" sz="750" dirty="0"/>
          </a:p>
        </p:txBody>
      </p:sp>
      <p:sp>
        <p:nvSpPr>
          <p:cNvPr id="52" name="Text 48"/>
          <p:cNvSpPr/>
          <p:nvPr/>
        </p:nvSpPr>
        <p:spPr>
          <a:xfrm>
            <a:off x="6257925" y="1757363"/>
            <a:ext cx="1057275" cy="372870"/>
          </a:xfrm>
          <a:prstGeom prst="rect">
            <a:avLst/>
          </a:prstGeom>
          <a:noFill/>
          <a:ln/>
        </p:spPr>
        <p:txBody>
          <a:bodyPr wrap="square" lIns="0" tIns="0" rIns="0" bIns="0" rtlCol="0" anchor="t">
            <a:spAutoFit/>
          </a:bodyPr>
          <a:lstStyle/>
          <a:p>
            <a:pPr algn="l" indent="0" marL="0">
              <a:lnSpc>
                <a:spcPct val="116000"/>
              </a:lnSpc>
              <a:buNone/>
            </a:pPr>
            <a:r>
              <a:rPr lang="en-US" sz="600" dirty="0">
                <a:solidFill>
                  <a:srgbClr val="8BA4C0"/>
                </a:solidFill>
                <a:latin typeface="Space Grotesk" pitchFamily="34" charset="0"/>
                <a:ea typeface="Space Grotesk" pitchFamily="34" charset="-122"/>
                <a:cs typeface="Space Grotesk" pitchFamily="34" charset="-120"/>
              </a:rPr>
              <a:t>Hypotheses from literature tested empirically on real data</a:t>
            </a:r>
            <a:endParaRPr lang="en-US" sz="600" dirty="0"/>
          </a:p>
        </p:txBody>
      </p:sp>
      <p:sp>
        <p:nvSpPr>
          <p:cNvPr id="53" name="Shape 49"/>
          <p:cNvSpPr/>
          <p:nvPr/>
        </p:nvSpPr>
        <p:spPr>
          <a:xfrm>
            <a:off x="7486650" y="1326952"/>
            <a:ext cx="1257300" cy="917581"/>
          </a:xfrm>
          <a:prstGeom prst="rect">
            <a:avLst/>
          </a:prstGeom>
          <a:solidFill>
            <a:srgbClr val="0A192F"/>
          </a:solidFill>
          <a:ln/>
        </p:spPr>
      </p:sp>
      <p:sp>
        <p:nvSpPr>
          <p:cNvPr id="54" name="Text 50"/>
          <p:cNvSpPr/>
          <p:nvPr/>
        </p:nvSpPr>
        <p:spPr>
          <a:xfrm>
            <a:off x="7586663" y="1441252"/>
            <a:ext cx="1057275" cy="92869"/>
          </a:xfrm>
          <a:prstGeom prst="rect">
            <a:avLst/>
          </a:prstGeom>
          <a:noFill/>
          <a:ln/>
        </p:spPr>
        <p:txBody>
          <a:bodyPr wrap="none" lIns="0" tIns="0" rIns="0" bIns="0" rtlCol="0" anchor="t">
            <a:spAutoFit/>
          </a:bodyPr>
          <a:lstStyle/>
          <a:p>
            <a:pPr algn="l" indent="0" marL="0">
              <a:buNone/>
            </a:pPr>
            <a:r>
              <a:rPr lang="en-US" sz="500" spc="2" kern="0" dirty="0">
                <a:solidFill>
                  <a:srgbClr val="4A90D9"/>
                </a:solidFill>
                <a:latin typeface="DM Mono" pitchFamily="34" charset="0"/>
                <a:ea typeface="DM Mono" pitchFamily="34" charset="-122"/>
                <a:cs typeface="DM Mono" pitchFamily="34" charset="-120"/>
              </a:rPr>
              <a:t>STRATEGY</a:t>
            </a:r>
            <a:endParaRPr lang="en-US" sz="500" dirty="0"/>
          </a:p>
        </p:txBody>
      </p:sp>
      <p:sp>
        <p:nvSpPr>
          <p:cNvPr id="55" name="Text 51"/>
          <p:cNvSpPr/>
          <p:nvPr/>
        </p:nvSpPr>
        <p:spPr>
          <a:xfrm>
            <a:off x="7586663" y="1576983"/>
            <a:ext cx="1057275" cy="137517"/>
          </a:xfrm>
          <a:prstGeom prst="rect">
            <a:avLst/>
          </a:prstGeom>
          <a:noFill/>
          <a:ln/>
        </p:spPr>
        <p:txBody>
          <a:bodyPr wrap="none" lIns="0" tIns="0" rIns="0" bIns="0" rtlCol="0" anchor="t">
            <a:spAutoFit/>
          </a:bodyPr>
          <a:lstStyle/>
          <a:p>
            <a:pPr algn="l" indent="0" marL="0">
              <a:buNone/>
            </a:pPr>
            <a:r>
              <a:rPr lang="en-US" sz="750" b="1" dirty="0">
                <a:solidFill>
                  <a:srgbClr val="FFFFFF"/>
                </a:solidFill>
                <a:latin typeface="Space Grotesk Bold" pitchFamily="34" charset="0"/>
                <a:ea typeface="Space Grotesk Bold" pitchFamily="34" charset="-122"/>
                <a:cs typeface="Space Grotesk Bold" pitchFamily="34" charset="-120"/>
              </a:rPr>
              <a:t>Experimental</a:t>
            </a:r>
            <a:endParaRPr lang="en-US" sz="750" dirty="0"/>
          </a:p>
        </p:txBody>
      </p:sp>
      <p:sp>
        <p:nvSpPr>
          <p:cNvPr id="56" name="Text 52"/>
          <p:cNvSpPr/>
          <p:nvPr/>
        </p:nvSpPr>
        <p:spPr>
          <a:xfrm>
            <a:off x="7586663" y="1757363"/>
            <a:ext cx="1057275" cy="372870"/>
          </a:xfrm>
          <a:prstGeom prst="rect">
            <a:avLst/>
          </a:prstGeom>
          <a:noFill/>
          <a:ln/>
        </p:spPr>
        <p:txBody>
          <a:bodyPr wrap="square" lIns="0" tIns="0" rIns="0" bIns="0" rtlCol="0" anchor="t">
            <a:spAutoFit/>
          </a:bodyPr>
          <a:lstStyle/>
          <a:p>
            <a:pPr algn="l" indent="0" marL="0">
              <a:lnSpc>
                <a:spcPct val="116000"/>
              </a:lnSpc>
              <a:buNone/>
            </a:pPr>
            <a:r>
              <a:rPr lang="en-US" sz="600" dirty="0">
                <a:solidFill>
                  <a:srgbClr val="8BA4C0"/>
                </a:solidFill>
                <a:latin typeface="Space Grotesk" pitchFamily="34" charset="0"/>
                <a:ea typeface="Space Grotesk" pitchFamily="34" charset="-122"/>
                <a:cs typeface="Space Grotesk" pitchFamily="34" charset="-120"/>
              </a:rPr>
              <a:t>Controlled comparison of 3 classifiers under identical conditions</a:t>
            </a:r>
            <a:endParaRPr lang="en-US" sz="600" dirty="0"/>
          </a:p>
        </p:txBody>
      </p:sp>
      <p:sp>
        <p:nvSpPr>
          <p:cNvPr id="57" name="Text 53"/>
          <p:cNvSpPr/>
          <p:nvPr/>
        </p:nvSpPr>
        <p:spPr>
          <a:xfrm>
            <a:off x="4829175" y="2487420"/>
            <a:ext cx="3914775"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DATASET — MALICIOUS URLS (KAGGLE, SIDDHARTHA 2024)</a:t>
            </a:r>
            <a:endParaRPr lang="en-US" sz="550" dirty="0"/>
          </a:p>
        </p:txBody>
      </p:sp>
      <p:sp>
        <p:nvSpPr>
          <p:cNvPr id="58" name="Text 54"/>
          <p:cNvSpPr/>
          <p:nvPr/>
        </p:nvSpPr>
        <p:spPr>
          <a:xfrm>
            <a:off x="4957763" y="2791030"/>
            <a:ext cx="1057275" cy="157163"/>
          </a:xfrm>
          <a:prstGeom prst="rect">
            <a:avLst/>
          </a:prstGeom>
          <a:noFill/>
          <a:ln/>
        </p:spPr>
        <p:txBody>
          <a:bodyPr wrap="none" lIns="0" tIns="0" rIns="0" bIns="0" rtlCol="0" anchor="t">
            <a:spAutoFit/>
          </a:bodyPr>
          <a:lstStyle/>
          <a:p>
            <a:pPr algn="l" indent="0" marL="0">
              <a:lnSpc>
                <a:spcPct val="80000"/>
              </a:lnSpc>
              <a:buNone/>
            </a:pPr>
            <a:r>
              <a:rPr lang="en-US" sz="1100" b="1" dirty="0">
                <a:solidFill>
                  <a:srgbClr val="0056B3"/>
                </a:solidFill>
                <a:latin typeface="DM Mono Medium" pitchFamily="34" charset="0"/>
                <a:ea typeface="DM Mono Medium" pitchFamily="34" charset="-122"/>
                <a:cs typeface="DM Mono Medium" pitchFamily="34" charset="-120"/>
              </a:rPr>
              <a:t>641,053</a:t>
            </a:r>
            <a:endParaRPr lang="en-US" sz="1100" dirty="0"/>
          </a:p>
        </p:txBody>
      </p:sp>
      <p:sp>
        <p:nvSpPr>
          <p:cNvPr id="59" name="Text 55"/>
          <p:cNvSpPr/>
          <p:nvPr/>
        </p:nvSpPr>
        <p:spPr>
          <a:xfrm>
            <a:off x="4957763" y="2976767"/>
            <a:ext cx="1057275" cy="239985"/>
          </a:xfrm>
          <a:prstGeom prst="rect">
            <a:avLst/>
          </a:prstGeom>
          <a:noFill/>
          <a:ln/>
        </p:spPr>
        <p:txBody>
          <a:bodyPr wrap="square" lIns="0" tIns="0" rIns="0" bIns="0" rtlCol="0" anchor="t">
            <a:spAutoFit/>
          </a:bodyPr>
          <a:lstStyle/>
          <a:p>
            <a:pPr algn="l" indent="0" marL="0">
              <a:lnSpc>
                <a:spcPct val="112000"/>
              </a:lnSpc>
              <a:buNone/>
            </a:pPr>
            <a:r>
              <a:rPr lang="en-US" sz="600" dirty="0">
                <a:solidFill>
                  <a:srgbClr val="1A2B4A"/>
                </a:solidFill>
                <a:latin typeface="Space Grotesk" pitchFamily="34" charset="0"/>
                <a:ea typeface="Space Grotesk" pitchFamily="34" charset="-122"/>
                <a:cs typeface="Space Grotesk" pitchFamily="34" charset="-120"/>
              </a:rPr>
              <a:t>Unique URLs after cleaning</a:t>
            </a:r>
            <a:endParaRPr lang="en-US" sz="600" dirty="0"/>
          </a:p>
        </p:txBody>
      </p:sp>
      <p:sp>
        <p:nvSpPr>
          <p:cNvPr id="60" name="Text 56"/>
          <p:cNvSpPr/>
          <p:nvPr/>
        </p:nvSpPr>
        <p:spPr>
          <a:xfrm>
            <a:off x="6257925" y="2791030"/>
            <a:ext cx="1057275" cy="157163"/>
          </a:xfrm>
          <a:prstGeom prst="rect">
            <a:avLst/>
          </a:prstGeom>
          <a:noFill/>
          <a:ln/>
        </p:spPr>
        <p:txBody>
          <a:bodyPr wrap="none" lIns="0" tIns="0" rIns="0" bIns="0" rtlCol="0" anchor="t">
            <a:spAutoFit/>
          </a:bodyPr>
          <a:lstStyle/>
          <a:p>
            <a:pPr algn="l" indent="0" marL="0">
              <a:lnSpc>
                <a:spcPct val="80000"/>
              </a:lnSpc>
              <a:buNone/>
            </a:pPr>
            <a:r>
              <a:rPr lang="en-US" sz="1100" b="1" dirty="0">
                <a:solidFill>
                  <a:srgbClr val="0056B3"/>
                </a:solidFill>
                <a:latin typeface="DM Mono Medium" pitchFamily="34" charset="0"/>
                <a:ea typeface="DM Mono Medium" pitchFamily="34" charset="-122"/>
                <a:cs typeface="DM Mono Medium" pitchFamily="34" charset="-120"/>
              </a:rPr>
              <a:t>80/20</a:t>
            </a:r>
            <a:endParaRPr lang="en-US" sz="1100" dirty="0"/>
          </a:p>
        </p:txBody>
      </p:sp>
      <p:sp>
        <p:nvSpPr>
          <p:cNvPr id="61" name="Text 57"/>
          <p:cNvSpPr/>
          <p:nvPr/>
        </p:nvSpPr>
        <p:spPr>
          <a:xfrm>
            <a:off x="6257925" y="2976767"/>
            <a:ext cx="1057275" cy="119993"/>
          </a:xfrm>
          <a:prstGeom prst="rect">
            <a:avLst/>
          </a:prstGeom>
          <a:noFill/>
          <a:ln/>
        </p:spPr>
        <p:txBody>
          <a:bodyPr wrap="none" lIns="0" tIns="0" rIns="0" bIns="0" rtlCol="0" anchor="t">
            <a:spAutoFit/>
          </a:bodyPr>
          <a:lstStyle/>
          <a:p>
            <a:pPr algn="l" indent="0" marL="0">
              <a:lnSpc>
                <a:spcPct val="112000"/>
              </a:lnSpc>
              <a:buNone/>
            </a:pPr>
            <a:r>
              <a:rPr lang="en-US" sz="600" dirty="0">
                <a:solidFill>
                  <a:srgbClr val="1A2B4A"/>
                </a:solidFill>
                <a:latin typeface="Space Grotesk" pitchFamily="34" charset="0"/>
                <a:ea typeface="Space Grotesk" pitchFamily="34" charset="-122"/>
                <a:cs typeface="Space Grotesk" pitchFamily="34" charset="-120"/>
              </a:rPr>
              <a:t>Stratified train/test split</a:t>
            </a:r>
            <a:endParaRPr lang="en-US" sz="600" dirty="0"/>
          </a:p>
        </p:txBody>
      </p:sp>
      <p:sp>
        <p:nvSpPr>
          <p:cNvPr id="62" name="Text 58"/>
          <p:cNvSpPr/>
          <p:nvPr/>
        </p:nvSpPr>
        <p:spPr>
          <a:xfrm>
            <a:off x="7558088" y="2791030"/>
            <a:ext cx="1057275" cy="157163"/>
          </a:xfrm>
          <a:prstGeom prst="rect">
            <a:avLst/>
          </a:prstGeom>
          <a:noFill/>
          <a:ln/>
        </p:spPr>
        <p:txBody>
          <a:bodyPr wrap="none" lIns="0" tIns="0" rIns="0" bIns="0" rtlCol="0" anchor="t">
            <a:spAutoFit/>
          </a:bodyPr>
          <a:lstStyle/>
          <a:p>
            <a:pPr algn="l" indent="0" marL="0">
              <a:lnSpc>
                <a:spcPct val="80000"/>
              </a:lnSpc>
              <a:buNone/>
            </a:pPr>
            <a:r>
              <a:rPr lang="en-US" sz="1100" b="1" dirty="0">
                <a:solidFill>
                  <a:srgbClr val="0056B3"/>
                </a:solidFill>
                <a:latin typeface="DM Mono Medium" pitchFamily="34" charset="0"/>
                <a:ea typeface="DM Mono Medium" pitchFamily="34" charset="-122"/>
                <a:cs typeface="DM Mono Medium" pitchFamily="34" charset="-120"/>
              </a:rPr>
              <a:t>66.7%</a:t>
            </a:r>
            <a:endParaRPr lang="en-US" sz="1100" dirty="0"/>
          </a:p>
        </p:txBody>
      </p:sp>
      <p:sp>
        <p:nvSpPr>
          <p:cNvPr id="63" name="Text 59"/>
          <p:cNvSpPr/>
          <p:nvPr/>
        </p:nvSpPr>
        <p:spPr>
          <a:xfrm>
            <a:off x="7558088" y="2976767"/>
            <a:ext cx="1057275" cy="119993"/>
          </a:xfrm>
          <a:prstGeom prst="rect">
            <a:avLst/>
          </a:prstGeom>
          <a:noFill/>
          <a:ln/>
        </p:spPr>
        <p:txBody>
          <a:bodyPr wrap="none" lIns="0" tIns="0" rIns="0" bIns="0" rtlCol="0" anchor="t">
            <a:spAutoFit/>
          </a:bodyPr>
          <a:lstStyle/>
          <a:p>
            <a:pPr algn="l" indent="0" marL="0">
              <a:lnSpc>
                <a:spcPct val="112000"/>
              </a:lnSpc>
              <a:buNone/>
            </a:pPr>
            <a:r>
              <a:rPr lang="en-US" sz="600" dirty="0">
                <a:solidFill>
                  <a:srgbClr val="1A2B4A"/>
                </a:solidFill>
                <a:latin typeface="Space Grotesk" pitchFamily="34" charset="0"/>
                <a:ea typeface="Space Grotesk" pitchFamily="34" charset="-122"/>
                <a:cs typeface="Space Grotesk" pitchFamily="34" charset="-120"/>
              </a:rPr>
              <a:t>Benign class proportion</a:t>
            </a:r>
            <a:endParaRPr lang="en-US" sz="600" dirty="0"/>
          </a:p>
        </p:txBody>
      </p:sp>
      <p:sp>
        <p:nvSpPr>
          <p:cNvPr id="64" name="Shape 60"/>
          <p:cNvSpPr/>
          <p:nvPr/>
        </p:nvSpPr>
        <p:spPr>
          <a:xfrm>
            <a:off x="4829175" y="3445352"/>
            <a:ext cx="3914775" cy="768623"/>
          </a:xfrm>
          <a:prstGeom prst="rect">
            <a:avLst/>
          </a:prstGeom>
          <a:solidFill>
            <a:srgbClr val="E6F0FA"/>
          </a:solidFill>
          <a:ln/>
        </p:spPr>
      </p:sp>
      <p:sp>
        <p:nvSpPr>
          <p:cNvPr id="65" name="Shape 61"/>
          <p:cNvSpPr/>
          <p:nvPr/>
        </p:nvSpPr>
        <p:spPr>
          <a:xfrm>
            <a:off x="4829175" y="3445352"/>
            <a:ext cx="3914775" cy="21431"/>
          </a:xfrm>
          <a:prstGeom prst="rect">
            <a:avLst/>
          </a:prstGeom>
          <a:solidFill>
            <a:srgbClr val="0056B3"/>
          </a:solidFill>
          <a:ln/>
        </p:spPr>
      </p:sp>
      <p:sp>
        <p:nvSpPr>
          <p:cNvPr id="66" name="Text 62"/>
          <p:cNvSpPr/>
          <p:nvPr/>
        </p:nvSpPr>
        <p:spPr>
          <a:xfrm>
            <a:off x="4943475" y="3531077"/>
            <a:ext cx="3686175" cy="575742"/>
          </a:xfrm>
          <a:prstGeom prst="rect">
            <a:avLst/>
          </a:prstGeom>
          <a:noFill/>
          <a:ln/>
        </p:spPr>
        <p:txBody>
          <a:bodyPr wrap="square" lIns="0" tIns="0" rIns="0" bIns="0" rtlCol="0" anchor="t">
            <a:spAutoFit/>
          </a:bodyPr>
          <a:lstStyle/>
          <a:p>
            <a:pPr algn="l" indent="0" marL="0">
              <a:lnSpc>
                <a:spcPct val="124000"/>
              </a:lnSpc>
              <a:buNone/>
            </a:pPr>
            <a:r>
              <a:rPr lang="en-US" sz="650" b="1" dirty="0">
                <a:solidFill>
                  <a:srgbClr val="0A192F"/>
                </a:solidFill>
                <a:latin typeface="Space Grotesk Bold" pitchFamily="34" charset="0"/>
                <a:ea typeface="Space Grotesk Bold" pitchFamily="34" charset="-122"/>
                <a:cs typeface="Space Grotesk Bold" pitchFamily="34" charset="-120"/>
              </a:rPr>
              <a:t>Why CRISP-DM + Agile?</a:t>
            </a:r>
            <a:r>
              <a:rPr lang="en-US" sz="650" dirty="0">
                <a:solidFill>
                  <a:srgbClr val="1A2B4A"/>
                </a:solidFill>
                <a:latin typeface="Space Grotesk" pitchFamily="34" charset="0"/>
                <a:ea typeface="Space Grotesk" pitchFamily="34" charset="-122"/>
                <a:cs typeface="Space Grotesk" pitchFamily="34" charset="-120"/>
              </a:rPr>
              <a:t> CRISP-DM is the industry-standard data mining </a:t>
            </a:r>
            <a:r>
              <a:rPr lang="en-US" sz="650" dirty="0">
                <a:solidFill>
                  <a:srgbClr val="1A2B4A"/>
                </a:solidFill>
                <a:latin typeface="Space Grotesk" pitchFamily="34" charset="0"/>
                <a:ea typeface="Space Grotesk" pitchFamily="34" charset="-122"/>
                <a:cs typeface="Space Grotesk" pitchFamily="34" charset="-120"/>
              </a:rPr>
              <a:t>framework. Mapping each phase to a 2-week Agile sprint provided structured </a:t>
            </a:r>
            <a:r>
              <a:rPr lang="en-US" sz="650" dirty="0">
                <a:solidFill>
                  <a:srgbClr val="1A2B4A"/>
                </a:solidFill>
                <a:latin typeface="Space Grotesk" pitchFamily="34" charset="0"/>
                <a:ea typeface="Space Grotesk" pitchFamily="34" charset="-122"/>
                <a:cs typeface="Space Grotesk" pitchFamily="34" charset="-120"/>
              </a:rPr>
              <a:t>iteration with retrospectives, ensuring each decision was documented and </a:t>
            </a:r>
            <a:r>
              <a:rPr lang="en-US" sz="650" dirty="0">
                <a:solidFill>
                  <a:srgbClr val="1A2B4A"/>
                </a:solidFill>
                <a:latin typeface="Space Grotesk" pitchFamily="34" charset="0"/>
                <a:ea typeface="Space Grotesk" pitchFamily="34" charset="-122"/>
                <a:cs typeface="Space Grotesk" pitchFamily="34" charset="-120"/>
              </a:rPr>
              <a:t>justified before proceeding.</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751880"/>
          </a:xfrm>
          <a:prstGeom prst="rect">
            <a:avLst/>
          </a:prstGeom>
          <a:solidFill>
            <a:srgbClr val="0A192F"/>
          </a:solidFill>
          <a:ln/>
        </p:spPr>
      </p:sp>
      <p:sp>
        <p:nvSpPr>
          <p:cNvPr id="5" name="Text 1"/>
          <p:cNvSpPr/>
          <p:nvPr/>
        </p:nvSpPr>
        <p:spPr>
          <a:xfrm>
            <a:off x="400050" y="200025"/>
            <a:ext cx="2402086" cy="121444"/>
          </a:xfrm>
          <a:prstGeom prst="rect">
            <a:avLst/>
          </a:prstGeom>
          <a:noFill/>
          <a:ln/>
        </p:spPr>
        <p:txBody>
          <a:bodyPr wrap="square" lIns="0" tIns="0" rIns="0" bIns="0" rtlCol="0" anchor="t">
            <a:spAutoFit/>
          </a:bodyPr>
          <a:lstStyle/>
          <a:p>
            <a:pPr algn="l" indent="0" marL="0">
              <a:buNone/>
            </a:pPr>
            <a:r>
              <a:rPr lang="en-US" sz="650" spc="2" kern="0" dirty="0">
                <a:solidFill>
                  <a:srgbClr val="4A90D9"/>
                </a:solidFill>
                <a:latin typeface="DM Mono" pitchFamily="34" charset="0"/>
                <a:ea typeface="DM Mono" pitchFamily="34" charset="-122"/>
                <a:cs typeface="DM Mono" pitchFamily="34" charset="-120"/>
              </a:rPr>
              <a:t>05 / 10</a:t>
            </a:r>
            <a:endParaRPr lang="en-US" sz="650" dirty="0"/>
          </a:p>
        </p:txBody>
      </p:sp>
      <p:sp>
        <p:nvSpPr>
          <p:cNvPr id="6" name="Text 2"/>
          <p:cNvSpPr/>
          <p:nvPr/>
        </p:nvSpPr>
        <p:spPr>
          <a:xfrm>
            <a:off x="400050" y="350044"/>
            <a:ext cx="2402086" cy="273248"/>
          </a:xfrm>
          <a:prstGeom prst="rect">
            <a:avLst/>
          </a:prstGeom>
          <a:noFill/>
          <a:ln/>
        </p:spPr>
        <p:txBody>
          <a:bodyPr wrap="square" lIns="0" tIns="0" rIns="0" bIns="0" rtlCol="0" anchor="t">
            <a:spAutoFit/>
          </a:bodyPr>
          <a:lstStyle/>
          <a:p>
            <a:pPr algn="l" indent="0" marL="0">
              <a:buNone/>
            </a:pPr>
            <a:r>
              <a:rPr lang="en-US" sz="1500" b="1" dirty="0">
                <a:solidFill>
                  <a:srgbClr val="FFFFFF"/>
                </a:solidFill>
                <a:latin typeface="Space Grotesk Bold" pitchFamily="34" charset="0"/>
                <a:ea typeface="Space Grotesk Bold" pitchFamily="34" charset="-122"/>
                <a:cs typeface="Space Grotesk Bold" pitchFamily="34" charset="-120"/>
              </a:rPr>
              <a:t>The </a:t>
            </a:r>
            <a:r>
              <a:rPr lang="en-US" sz="1500" b="1" dirty="0">
                <a:solidFill>
                  <a:srgbClr val="4A90D9"/>
                </a:solidFill>
                <a:latin typeface="Space Grotesk Bold" pitchFamily="34" charset="0"/>
                <a:ea typeface="Space Grotesk Bold" pitchFamily="34" charset="-122"/>
                <a:cs typeface="Space Grotesk Bold" pitchFamily="34" charset="-120"/>
              </a:rPr>
              <a:t>10 Lexical Features</a:t>
            </a:r>
            <a:endParaRPr lang="en-US" sz="1500" dirty="0"/>
          </a:p>
        </p:txBody>
      </p:sp>
      <p:sp>
        <p:nvSpPr>
          <p:cNvPr id="7" name="Text 3"/>
          <p:cNvSpPr/>
          <p:nvPr/>
        </p:nvSpPr>
        <p:spPr>
          <a:xfrm>
            <a:off x="400050" y="951905"/>
            <a:ext cx="5083476"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ALL 10 STRUCTURAL URL FEATURES — NO EXTERNAL API CALLS REQUIRED</a:t>
            </a:r>
            <a:endParaRPr lang="en-US" sz="550" dirty="0"/>
          </a:p>
        </p:txBody>
      </p:sp>
      <p:sp>
        <p:nvSpPr>
          <p:cNvPr id="8" name="Shape 4"/>
          <p:cNvSpPr/>
          <p:nvPr/>
        </p:nvSpPr>
        <p:spPr>
          <a:xfrm>
            <a:off x="400050" y="1126927"/>
            <a:ext cx="5083476" cy="217884"/>
          </a:xfrm>
          <a:prstGeom prst="rect">
            <a:avLst/>
          </a:prstGeom>
          <a:solidFill>
            <a:srgbClr val="0A192F"/>
          </a:solidFill>
          <a:ln/>
        </p:spPr>
      </p:sp>
      <p:sp>
        <p:nvSpPr>
          <p:cNvPr id="9" name="Text 5"/>
          <p:cNvSpPr/>
          <p:nvPr/>
        </p:nvSpPr>
        <p:spPr>
          <a:xfrm>
            <a:off x="400050" y="1126927"/>
            <a:ext cx="422151" cy="217884"/>
          </a:xfrm>
          <a:prstGeom prst="rect">
            <a:avLst/>
          </a:prstGeom>
          <a:noFill/>
          <a:ln/>
        </p:spPr>
        <p:txBody>
          <a:bodyPr wrap="none" lIns="85090" tIns="68072" rIns="85090" bIns="68072" rtlCol="0" anchor="ctr">
            <a:spAutoFit/>
          </a:bodyPr>
          <a:lstStyle/>
          <a:p>
            <a:pPr algn="l" indent="0" marL="0">
              <a:buNone/>
            </a:pPr>
            <a:r>
              <a:rPr lang="en-US" sz="550" spc="2" kern="0" dirty="0">
                <a:solidFill>
                  <a:srgbClr val="4A90D9"/>
                </a:solidFill>
                <a:latin typeface="DM Mono Medium" pitchFamily="34" charset="0"/>
                <a:ea typeface="DM Mono Medium" pitchFamily="34" charset="-122"/>
                <a:cs typeface="DM Mono Medium" pitchFamily="34" charset="-120"/>
              </a:rPr>
              <a:t>RANK</a:t>
            </a:r>
            <a:endParaRPr lang="en-US" sz="550" dirty="0"/>
          </a:p>
        </p:txBody>
      </p:sp>
      <p:sp>
        <p:nvSpPr>
          <p:cNvPr id="10" name="Text 6"/>
          <p:cNvSpPr/>
          <p:nvPr/>
        </p:nvSpPr>
        <p:spPr>
          <a:xfrm>
            <a:off x="822201" y="1126927"/>
            <a:ext cx="1176542" cy="217884"/>
          </a:xfrm>
          <a:prstGeom prst="rect">
            <a:avLst/>
          </a:prstGeom>
          <a:noFill/>
          <a:ln/>
        </p:spPr>
        <p:txBody>
          <a:bodyPr wrap="none" lIns="85090" tIns="68072" rIns="85090" bIns="68072" rtlCol="0" anchor="ctr">
            <a:spAutoFit/>
          </a:bodyPr>
          <a:lstStyle/>
          <a:p>
            <a:pPr algn="l" indent="0" marL="0">
              <a:buNone/>
            </a:pPr>
            <a:r>
              <a:rPr lang="en-US" sz="550" spc="2" kern="0" dirty="0">
                <a:solidFill>
                  <a:srgbClr val="4A90D9"/>
                </a:solidFill>
                <a:latin typeface="DM Mono Medium" pitchFamily="34" charset="0"/>
                <a:ea typeface="DM Mono Medium" pitchFamily="34" charset="-122"/>
                <a:cs typeface="DM Mono Medium" pitchFamily="34" charset="-120"/>
              </a:rPr>
              <a:t>FEATURE</a:t>
            </a:r>
            <a:endParaRPr lang="en-US" sz="550" dirty="0"/>
          </a:p>
        </p:txBody>
      </p:sp>
      <p:sp>
        <p:nvSpPr>
          <p:cNvPr id="11" name="Text 7"/>
          <p:cNvSpPr/>
          <p:nvPr/>
        </p:nvSpPr>
        <p:spPr>
          <a:xfrm>
            <a:off x="1998743" y="1126927"/>
            <a:ext cx="3484783" cy="217884"/>
          </a:xfrm>
          <a:prstGeom prst="rect">
            <a:avLst/>
          </a:prstGeom>
          <a:noFill/>
          <a:ln/>
        </p:spPr>
        <p:txBody>
          <a:bodyPr wrap="square" lIns="85090" tIns="68072" rIns="85090" bIns="68072" rtlCol="0" anchor="ctr">
            <a:spAutoFit/>
          </a:bodyPr>
          <a:lstStyle/>
          <a:p>
            <a:pPr algn="l" indent="0" marL="0">
              <a:buNone/>
            </a:pPr>
            <a:r>
              <a:rPr lang="en-US" sz="550" spc="2" kern="0" dirty="0">
                <a:solidFill>
                  <a:srgbClr val="4A90D9"/>
                </a:solidFill>
                <a:latin typeface="DM Mono Medium" pitchFamily="34" charset="0"/>
                <a:ea typeface="DM Mono Medium" pitchFamily="34" charset="-122"/>
                <a:cs typeface="DM Mono Medium" pitchFamily="34" charset="-120"/>
              </a:rPr>
              <a:t>DESCRIPTION</a:t>
            </a:r>
            <a:endParaRPr lang="en-US" sz="550" dirty="0"/>
          </a:p>
        </p:txBody>
      </p:sp>
      <p:sp>
        <p:nvSpPr>
          <p:cNvPr id="12" name="Shape 8"/>
          <p:cNvSpPr/>
          <p:nvPr/>
        </p:nvSpPr>
        <p:spPr>
          <a:xfrm>
            <a:off x="400050" y="1344811"/>
            <a:ext cx="5083476" cy="207504"/>
          </a:xfrm>
          <a:prstGeom prst="rect">
            <a:avLst/>
          </a:prstGeom>
          <a:solidFill>
            <a:srgbClr val="C8DEFF"/>
          </a:solidFill>
          <a:ln/>
        </p:spPr>
      </p:sp>
      <p:sp>
        <p:nvSpPr>
          <p:cNvPr id="13" name="Text 9"/>
          <p:cNvSpPr/>
          <p:nvPr/>
        </p:nvSpPr>
        <p:spPr>
          <a:xfrm>
            <a:off x="471488" y="1400175"/>
            <a:ext cx="92869" cy="103584"/>
          </a:xfrm>
          <a:prstGeom prst="rect">
            <a:avLst/>
          </a:prstGeom>
          <a:noFill/>
          <a:ln/>
        </p:spPr>
        <p:txBody>
          <a:bodyPr wrap="none" lIns="0" tIns="0" rIns="0" bIns="0" rtlCol="0" anchor="t">
            <a:spAutoFit/>
          </a:bodyPr>
          <a:lstStyle/>
          <a:p>
            <a:pPr algn="l" indent="0" marL="0">
              <a:buNone/>
            </a:pPr>
            <a:r>
              <a:rPr lang="en-US" sz="550" b="1" dirty="0">
                <a:solidFill>
                  <a:srgbClr val="0056B3"/>
                </a:solidFill>
                <a:latin typeface="DM Mono Medium" pitchFamily="34" charset="0"/>
                <a:ea typeface="DM Mono Medium" pitchFamily="34" charset="-122"/>
                <a:cs typeface="DM Mono Medium" pitchFamily="34" charset="-120"/>
              </a:rPr>
              <a:t>#1</a:t>
            </a:r>
            <a:endParaRPr lang="en-US" sz="550" dirty="0"/>
          </a:p>
        </p:txBody>
      </p:sp>
      <p:sp>
        <p:nvSpPr>
          <p:cNvPr id="14" name="Text 10"/>
          <p:cNvSpPr/>
          <p:nvPr/>
        </p:nvSpPr>
        <p:spPr>
          <a:xfrm>
            <a:off x="893638" y="1393031"/>
            <a:ext cx="466130" cy="112514"/>
          </a:xfrm>
          <a:prstGeom prst="rect">
            <a:avLst/>
          </a:prstGeom>
          <a:noFill/>
          <a:ln/>
        </p:spPr>
        <p:txBody>
          <a:bodyPr wrap="none" lIns="0" tIns="0" rIns="0" bIns="0" rtlCol="0" anchor="t">
            <a:spAutoFit/>
          </a:bodyPr>
          <a:lstStyle/>
          <a:p>
            <a:pPr algn="l" indent="0" marL="0">
              <a:buNone/>
            </a:pPr>
            <a:r>
              <a:rPr lang="en-US" sz="600" b="1" dirty="0">
                <a:solidFill>
                  <a:srgbClr val="0056B3"/>
                </a:solidFill>
                <a:latin typeface="DM Mono Medium" pitchFamily="34" charset="0"/>
                <a:ea typeface="DM Mono Medium" pitchFamily="34" charset="-122"/>
                <a:cs typeface="DM Mono Medium" pitchFamily="34" charset="-120"/>
              </a:rPr>
              <a:t>dot_count</a:t>
            </a:r>
            <a:endParaRPr lang="en-US" sz="600" dirty="0"/>
          </a:p>
        </p:txBody>
      </p:sp>
      <p:sp>
        <p:nvSpPr>
          <p:cNvPr id="15" name="Text 11"/>
          <p:cNvSpPr/>
          <p:nvPr/>
        </p:nvSpPr>
        <p:spPr>
          <a:xfrm>
            <a:off x="2070181" y="1394817"/>
            <a:ext cx="2973586" cy="108942"/>
          </a:xfrm>
          <a:prstGeom prst="rect">
            <a:avLst/>
          </a:prstGeom>
          <a:noFill/>
          <a:ln/>
        </p:spPr>
        <p:txBody>
          <a:bodyPr wrap="none" lIns="0" tIns="0" rIns="0" bIns="0" rtlCol="0" anchor="t">
            <a:spAutoFit/>
          </a:bodyPr>
          <a:lstStyle/>
          <a:p>
            <a:pPr algn="l" indent="0" marL="0">
              <a:lnSpc>
                <a:spcPct val="112000"/>
              </a:lnSpc>
              <a:buNone/>
            </a:pPr>
            <a:r>
              <a:rPr lang="en-US" sz="600" dirty="0">
                <a:solidFill>
                  <a:srgbClr val="1A2B4A"/>
                </a:solidFill>
                <a:latin typeface="Space Grotesk" pitchFamily="34" charset="0"/>
                <a:ea typeface="Space Grotesk" pitchFamily="34" charset="-122"/>
                <a:cs typeface="Space Grotesk" pitchFamily="34" charset="-120"/>
              </a:rPr>
              <a:t>Number of periods — subdomain stacking mimics legitimacy (F = 31,994)</a:t>
            </a:r>
            <a:endParaRPr lang="en-US" sz="600" dirty="0"/>
          </a:p>
        </p:txBody>
      </p:sp>
      <p:sp>
        <p:nvSpPr>
          <p:cNvPr id="16" name="Shape 12"/>
          <p:cNvSpPr/>
          <p:nvPr/>
        </p:nvSpPr>
        <p:spPr>
          <a:xfrm>
            <a:off x="400050" y="1552315"/>
            <a:ext cx="5083476" cy="207504"/>
          </a:xfrm>
          <a:prstGeom prst="rect">
            <a:avLst/>
          </a:prstGeom>
          <a:solidFill>
            <a:srgbClr val="C8DEFF"/>
          </a:solidFill>
          <a:ln/>
        </p:spPr>
      </p:sp>
      <p:sp>
        <p:nvSpPr>
          <p:cNvPr id="17" name="Text 13"/>
          <p:cNvSpPr/>
          <p:nvPr/>
        </p:nvSpPr>
        <p:spPr>
          <a:xfrm>
            <a:off x="471488" y="1607679"/>
            <a:ext cx="92869" cy="103584"/>
          </a:xfrm>
          <a:prstGeom prst="rect">
            <a:avLst/>
          </a:prstGeom>
          <a:noFill/>
          <a:ln/>
        </p:spPr>
        <p:txBody>
          <a:bodyPr wrap="none" lIns="0" tIns="0" rIns="0" bIns="0" rtlCol="0" anchor="t">
            <a:spAutoFit/>
          </a:bodyPr>
          <a:lstStyle/>
          <a:p>
            <a:pPr algn="l" indent="0" marL="0">
              <a:buNone/>
            </a:pPr>
            <a:r>
              <a:rPr lang="en-US" sz="550" b="1" dirty="0">
                <a:solidFill>
                  <a:srgbClr val="0056B3"/>
                </a:solidFill>
                <a:latin typeface="DM Mono Medium" pitchFamily="34" charset="0"/>
                <a:ea typeface="DM Mono Medium" pitchFamily="34" charset="-122"/>
                <a:cs typeface="DM Mono Medium" pitchFamily="34" charset="-120"/>
              </a:rPr>
              <a:t>#2</a:t>
            </a:r>
            <a:endParaRPr lang="en-US" sz="550" dirty="0"/>
          </a:p>
        </p:txBody>
      </p:sp>
      <p:sp>
        <p:nvSpPr>
          <p:cNvPr id="18" name="Text 14"/>
          <p:cNvSpPr/>
          <p:nvPr/>
        </p:nvSpPr>
        <p:spPr>
          <a:xfrm>
            <a:off x="893638" y="1600535"/>
            <a:ext cx="569714" cy="112514"/>
          </a:xfrm>
          <a:prstGeom prst="rect">
            <a:avLst/>
          </a:prstGeom>
          <a:noFill/>
          <a:ln/>
        </p:spPr>
        <p:txBody>
          <a:bodyPr wrap="none" lIns="0" tIns="0" rIns="0" bIns="0" rtlCol="0" anchor="t">
            <a:spAutoFit/>
          </a:bodyPr>
          <a:lstStyle/>
          <a:p>
            <a:pPr algn="l" indent="0" marL="0">
              <a:buNone/>
            </a:pPr>
            <a:r>
              <a:rPr lang="en-US" sz="600" b="1" dirty="0">
                <a:solidFill>
                  <a:srgbClr val="0056B3"/>
                </a:solidFill>
                <a:latin typeface="DM Mono Medium" pitchFamily="34" charset="0"/>
                <a:ea typeface="DM Mono Medium" pitchFamily="34" charset="-122"/>
                <a:cs typeface="DM Mono Medium" pitchFamily="34" charset="-120"/>
              </a:rPr>
              <a:t>path_length</a:t>
            </a:r>
            <a:endParaRPr lang="en-US" sz="600" dirty="0"/>
          </a:p>
        </p:txBody>
      </p:sp>
      <p:sp>
        <p:nvSpPr>
          <p:cNvPr id="19" name="Text 15"/>
          <p:cNvSpPr/>
          <p:nvPr/>
        </p:nvSpPr>
        <p:spPr>
          <a:xfrm>
            <a:off x="2070181" y="1602321"/>
            <a:ext cx="2775347" cy="108942"/>
          </a:xfrm>
          <a:prstGeom prst="rect">
            <a:avLst/>
          </a:prstGeom>
          <a:noFill/>
          <a:ln/>
        </p:spPr>
        <p:txBody>
          <a:bodyPr wrap="none" lIns="0" tIns="0" rIns="0" bIns="0" rtlCol="0" anchor="t">
            <a:spAutoFit/>
          </a:bodyPr>
          <a:lstStyle/>
          <a:p>
            <a:pPr algn="l" indent="0" marL="0">
              <a:lnSpc>
                <a:spcPct val="112000"/>
              </a:lnSpc>
              <a:buNone/>
            </a:pPr>
            <a:r>
              <a:rPr lang="en-US" sz="600" dirty="0">
                <a:solidFill>
                  <a:srgbClr val="1A2B4A"/>
                </a:solidFill>
                <a:latin typeface="Space Grotesk" pitchFamily="34" charset="0"/>
                <a:ea typeface="Space Grotesk" pitchFamily="34" charset="-122"/>
                <a:cs typeface="Space Grotesk" pitchFamily="34" charset="-120"/>
              </a:rPr>
              <a:t>URL path length — deep paths obscure true destination (F = 19,041)</a:t>
            </a:r>
            <a:endParaRPr lang="en-US" sz="600" dirty="0"/>
          </a:p>
        </p:txBody>
      </p:sp>
      <p:sp>
        <p:nvSpPr>
          <p:cNvPr id="20" name="Shape 16"/>
          <p:cNvSpPr/>
          <p:nvPr/>
        </p:nvSpPr>
        <p:spPr>
          <a:xfrm>
            <a:off x="400050" y="1759818"/>
            <a:ext cx="5083476" cy="207504"/>
          </a:xfrm>
          <a:prstGeom prst="rect">
            <a:avLst/>
          </a:prstGeom>
          <a:solidFill>
            <a:srgbClr val="C8DEFF"/>
          </a:solidFill>
          <a:ln/>
        </p:spPr>
      </p:sp>
      <p:sp>
        <p:nvSpPr>
          <p:cNvPr id="21" name="Text 17"/>
          <p:cNvSpPr/>
          <p:nvPr/>
        </p:nvSpPr>
        <p:spPr>
          <a:xfrm>
            <a:off x="471488" y="1815182"/>
            <a:ext cx="92869" cy="103584"/>
          </a:xfrm>
          <a:prstGeom prst="rect">
            <a:avLst/>
          </a:prstGeom>
          <a:noFill/>
          <a:ln/>
        </p:spPr>
        <p:txBody>
          <a:bodyPr wrap="none" lIns="0" tIns="0" rIns="0" bIns="0" rtlCol="0" anchor="t">
            <a:spAutoFit/>
          </a:bodyPr>
          <a:lstStyle/>
          <a:p>
            <a:pPr algn="l" indent="0" marL="0">
              <a:buNone/>
            </a:pPr>
            <a:r>
              <a:rPr lang="en-US" sz="550" b="1" dirty="0">
                <a:solidFill>
                  <a:srgbClr val="0056B3"/>
                </a:solidFill>
                <a:latin typeface="DM Mono Medium" pitchFamily="34" charset="0"/>
                <a:ea typeface="DM Mono Medium" pitchFamily="34" charset="-122"/>
                <a:cs typeface="DM Mono Medium" pitchFamily="34" charset="-120"/>
              </a:rPr>
              <a:t>#3</a:t>
            </a:r>
            <a:endParaRPr lang="en-US" sz="550" dirty="0"/>
          </a:p>
        </p:txBody>
      </p:sp>
      <p:sp>
        <p:nvSpPr>
          <p:cNvPr id="22" name="Text 18"/>
          <p:cNvSpPr/>
          <p:nvPr/>
        </p:nvSpPr>
        <p:spPr>
          <a:xfrm>
            <a:off x="893638" y="1808038"/>
            <a:ext cx="569714" cy="112514"/>
          </a:xfrm>
          <a:prstGeom prst="rect">
            <a:avLst/>
          </a:prstGeom>
          <a:noFill/>
          <a:ln/>
        </p:spPr>
        <p:txBody>
          <a:bodyPr wrap="none" lIns="0" tIns="0" rIns="0" bIns="0" rtlCol="0" anchor="t">
            <a:spAutoFit/>
          </a:bodyPr>
          <a:lstStyle/>
          <a:p>
            <a:pPr algn="l" indent="0" marL="0">
              <a:buNone/>
            </a:pPr>
            <a:r>
              <a:rPr lang="en-US" sz="600" b="1" dirty="0">
                <a:solidFill>
                  <a:srgbClr val="0056B3"/>
                </a:solidFill>
                <a:latin typeface="DM Mono Medium" pitchFamily="34" charset="0"/>
                <a:ea typeface="DM Mono Medium" pitchFamily="34" charset="-122"/>
                <a:cs typeface="DM Mono Medium" pitchFamily="34" charset="-120"/>
              </a:rPr>
              <a:t>slash_count</a:t>
            </a:r>
            <a:endParaRPr lang="en-US" sz="600" dirty="0"/>
          </a:p>
        </p:txBody>
      </p:sp>
      <p:sp>
        <p:nvSpPr>
          <p:cNvPr id="23" name="Text 19"/>
          <p:cNvSpPr/>
          <p:nvPr/>
        </p:nvSpPr>
        <p:spPr>
          <a:xfrm>
            <a:off x="2070181" y="1809824"/>
            <a:ext cx="2977158" cy="108942"/>
          </a:xfrm>
          <a:prstGeom prst="rect">
            <a:avLst/>
          </a:prstGeom>
          <a:noFill/>
          <a:ln/>
        </p:spPr>
        <p:txBody>
          <a:bodyPr wrap="none" lIns="0" tIns="0" rIns="0" bIns="0" rtlCol="0" anchor="t">
            <a:spAutoFit/>
          </a:bodyPr>
          <a:lstStyle/>
          <a:p>
            <a:pPr algn="l" indent="0" marL="0">
              <a:lnSpc>
                <a:spcPct val="112000"/>
              </a:lnSpc>
              <a:buNone/>
            </a:pPr>
            <a:r>
              <a:rPr lang="en-US" sz="600" dirty="0">
                <a:solidFill>
                  <a:srgbClr val="1A2B4A"/>
                </a:solidFill>
                <a:latin typeface="Space Grotesk" pitchFamily="34" charset="0"/>
                <a:ea typeface="Space Grotesk" pitchFamily="34" charset="-122"/>
                <a:cs typeface="Space Grotesk" pitchFamily="34" charset="-120"/>
              </a:rPr>
              <a:t>Forward slashes — indicates directory depth and complexity (F = 10,162)</a:t>
            </a:r>
            <a:endParaRPr lang="en-US" sz="600" dirty="0"/>
          </a:p>
        </p:txBody>
      </p:sp>
      <p:sp>
        <p:nvSpPr>
          <p:cNvPr id="24" name="Shape 20"/>
          <p:cNvSpPr/>
          <p:nvPr/>
        </p:nvSpPr>
        <p:spPr>
          <a:xfrm>
            <a:off x="400050" y="1967322"/>
            <a:ext cx="5083476" cy="207504"/>
          </a:xfrm>
          <a:prstGeom prst="rect">
            <a:avLst/>
          </a:prstGeom>
          <a:solidFill>
            <a:srgbClr val="FFFFFF"/>
          </a:solidFill>
          <a:ln/>
        </p:spPr>
      </p:sp>
      <p:sp>
        <p:nvSpPr>
          <p:cNvPr id="25" name="Text 21"/>
          <p:cNvSpPr/>
          <p:nvPr/>
        </p:nvSpPr>
        <p:spPr>
          <a:xfrm>
            <a:off x="471488" y="2022686"/>
            <a:ext cx="92869" cy="103584"/>
          </a:xfrm>
          <a:prstGeom prst="rect">
            <a:avLst/>
          </a:prstGeom>
          <a:noFill/>
          <a:ln/>
        </p:spPr>
        <p:txBody>
          <a:bodyPr wrap="none" lIns="0" tIns="0" rIns="0" bIns="0" rtlCol="0" anchor="t">
            <a:spAutoFit/>
          </a:bodyPr>
          <a:lstStyle/>
          <a:p>
            <a:pPr algn="l" indent="0" marL="0">
              <a:buNone/>
            </a:pPr>
            <a:r>
              <a:rPr lang="en-US" sz="550" b="1" dirty="0">
                <a:solidFill>
                  <a:srgbClr val="0056B3"/>
                </a:solidFill>
                <a:latin typeface="DM Mono Medium" pitchFamily="34" charset="0"/>
                <a:ea typeface="DM Mono Medium" pitchFamily="34" charset="-122"/>
                <a:cs typeface="DM Mono Medium" pitchFamily="34" charset="-120"/>
              </a:rPr>
              <a:t>#4</a:t>
            </a:r>
            <a:endParaRPr lang="en-US" sz="550" dirty="0"/>
          </a:p>
        </p:txBody>
      </p:sp>
      <p:sp>
        <p:nvSpPr>
          <p:cNvPr id="26" name="Text 22"/>
          <p:cNvSpPr/>
          <p:nvPr/>
        </p:nvSpPr>
        <p:spPr>
          <a:xfrm>
            <a:off x="893638" y="2015542"/>
            <a:ext cx="932259" cy="112514"/>
          </a:xfrm>
          <a:prstGeom prst="rect">
            <a:avLst/>
          </a:prstGeom>
          <a:noFill/>
          <a:ln/>
        </p:spPr>
        <p:txBody>
          <a:bodyPr wrap="none" lIns="0" tIns="0" rIns="0" bIns="0" rtlCol="0" anchor="t">
            <a:spAutoFit/>
          </a:bodyPr>
          <a:lstStyle/>
          <a:p>
            <a:pPr algn="l" indent="0" marL="0">
              <a:buNone/>
            </a:pPr>
            <a:r>
              <a:rPr lang="en-US" sz="600" dirty="0">
                <a:solidFill>
                  <a:srgbClr val="0A192F"/>
                </a:solidFill>
                <a:latin typeface="DM Mono Medium" pitchFamily="34" charset="0"/>
                <a:ea typeface="DM Mono Medium" pitchFamily="34" charset="-122"/>
                <a:cs typeface="DM Mono Medium" pitchFamily="34" charset="-120"/>
              </a:rPr>
              <a:t>special_char_count</a:t>
            </a:r>
            <a:endParaRPr lang="en-US" sz="600" dirty="0"/>
          </a:p>
        </p:txBody>
      </p:sp>
      <p:sp>
        <p:nvSpPr>
          <p:cNvPr id="27" name="Text 23"/>
          <p:cNvSpPr/>
          <p:nvPr/>
        </p:nvSpPr>
        <p:spPr>
          <a:xfrm>
            <a:off x="2070181" y="2017328"/>
            <a:ext cx="2905720" cy="108942"/>
          </a:xfrm>
          <a:prstGeom prst="rect">
            <a:avLst/>
          </a:prstGeom>
          <a:noFill/>
          <a:ln/>
        </p:spPr>
        <p:txBody>
          <a:bodyPr wrap="none" lIns="0" tIns="0" rIns="0" bIns="0" rtlCol="0" anchor="t">
            <a:spAutoFit/>
          </a:bodyPr>
          <a:lstStyle/>
          <a:p>
            <a:pPr algn="l" indent="0" marL="0">
              <a:lnSpc>
                <a:spcPct val="112000"/>
              </a:lnSpc>
              <a:buNone/>
            </a:pPr>
            <a:r>
              <a:rPr lang="en-US" sz="600" dirty="0">
                <a:solidFill>
                  <a:srgbClr val="1A2B4A"/>
                </a:solidFill>
                <a:latin typeface="Space Grotesk" pitchFamily="34" charset="0"/>
                <a:ea typeface="Space Grotesk" pitchFamily="34" charset="-122"/>
                <a:cs typeface="Space Grotesk" pitchFamily="34" charset="-120"/>
              </a:rPr>
              <a:t>Count of @, !, %, etc. — obfuscation uses special characters (F = 8,873)</a:t>
            </a:r>
            <a:endParaRPr lang="en-US" sz="600" dirty="0"/>
          </a:p>
        </p:txBody>
      </p:sp>
      <p:sp>
        <p:nvSpPr>
          <p:cNvPr id="28" name="Shape 24"/>
          <p:cNvSpPr/>
          <p:nvPr/>
        </p:nvSpPr>
        <p:spPr>
          <a:xfrm>
            <a:off x="400050" y="2174825"/>
            <a:ext cx="5083476" cy="207504"/>
          </a:xfrm>
          <a:prstGeom prst="rect">
            <a:avLst/>
          </a:prstGeom>
          <a:solidFill>
            <a:srgbClr val="E6F0FA"/>
          </a:solidFill>
          <a:ln/>
        </p:spPr>
      </p:sp>
      <p:sp>
        <p:nvSpPr>
          <p:cNvPr id="29" name="Text 25"/>
          <p:cNvSpPr/>
          <p:nvPr/>
        </p:nvSpPr>
        <p:spPr>
          <a:xfrm>
            <a:off x="471488" y="2230189"/>
            <a:ext cx="92869" cy="103584"/>
          </a:xfrm>
          <a:prstGeom prst="rect">
            <a:avLst/>
          </a:prstGeom>
          <a:noFill/>
          <a:ln/>
        </p:spPr>
        <p:txBody>
          <a:bodyPr wrap="none" lIns="0" tIns="0" rIns="0" bIns="0" rtlCol="0" anchor="t">
            <a:spAutoFit/>
          </a:bodyPr>
          <a:lstStyle/>
          <a:p>
            <a:pPr algn="l" indent="0" marL="0">
              <a:buNone/>
            </a:pPr>
            <a:r>
              <a:rPr lang="en-US" sz="550" b="1" dirty="0">
                <a:solidFill>
                  <a:srgbClr val="0056B3"/>
                </a:solidFill>
                <a:latin typeface="DM Mono Medium" pitchFamily="34" charset="0"/>
                <a:ea typeface="DM Mono Medium" pitchFamily="34" charset="-122"/>
                <a:cs typeface="DM Mono Medium" pitchFamily="34" charset="-120"/>
              </a:rPr>
              <a:t>#5</a:t>
            </a:r>
            <a:endParaRPr lang="en-US" sz="550" dirty="0"/>
          </a:p>
        </p:txBody>
      </p:sp>
      <p:sp>
        <p:nvSpPr>
          <p:cNvPr id="30" name="Text 26"/>
          <p:cNvSpPr/>
          <p:nvPr/>
        </p:nvSpPr>
        <p:spPr>
          <a:xfrm>
            <a:off x="893638" y="2223046"/>
            <a:ext cx="673298" cy="112514"/>
          </a:xfrm>
          <a:prstGeom prst="rect">
            <a:avLst/>
          </a:prstGeom>
          <a:noFill/>
          <a:ln/>
        </p:spPr>
        <p:txBody>
          <a:bodyPr wrap="none" lIns="0" tIns="0" rIns="0" bIns="0" rtlCol="0" anchor="t">
            <a:spAutoFit/>
          </a:bodyPr>
          <a:lstStyle/>
          <a:p>
            <a:pPr algn="l" indent="0" marL="0">
              <a:buNone/>
            </a:pPr>
            <a:r>
              <a:rPr lang="en-US" sz="600" dirty="0">
                <a:solidFill>
                  <a:srgbClr val="0A192F"/>
                </a:solidFill>
                <a:latin typeface="DM Mono Medium" pitchFamily="34" charset="0"/>
                <a:ea typeface="DM Mono Medium" pitchFamily="34" charset="-122"/>
                <a:cs typeface="DM Mono Medium" pitchFamily="34" charset="-120"/>
              </a:rPr>
              <a:t>domain_length</a:t>
            </a:r>
            <a:endParaRPr lang="en-US" sz="600" dirty="0"/>
          </a:p>
        </p:txBody>
      </p:sp>
      <p:sp>
        <p:nvSpPr>
          <p:cNvPr id="31" name="Text 27"/>
          <p:cNvSpPr/>
          <p:nvPr/>
        </p:nvSpPr>
        <p:spPr>
          <a:xfrm>
            <a:off x="2070181" y="2224832"/>
            <a:ext cx="2971800" cy="108942"/>
          </a:xfrm>
          <a:prstGeom prst="rect">
            <a:avLst/>
          </a:prstGeom>
          <a:noFill/>
          <a:ln/>
        </p:spPr>
        <p:txBody>
          <a:bodyPr wrap="none" lIns="0" tIns="0" rIns="0" bIns="0" rtlCol="0" anchor="t">
            <a:spAutoFit/>
          </a:bodyPr>
          <a:lstStyle/>
          <a:p>
            <a:pPr algn="l" indent="0" marL="0">
              <a:lnSpc>
                <a:spcPct val="112000"/>
              </a:lnSpc>
              <a:buNone/>
            </a:pPr>
            <a:r>
              <a:rPr lang="en-US" sz="600" dirty="0">
                <a:solidFill>
                  <a:srgbClr val="1A2B4A"/>
                </a:solidFill>
                <a:latin typeface="Space Grotesk" pitchFamily="34" charset="0"/>
                <a:ea typeface="Space Grotesk" pitchFamily="34" charset="-122"/>
                <a:cs typeface="Space Grotesk" pitchFamily="34" charset="-120"/>
              </a:rPr>
              <a:t>Length of network location — unusual lengths signal suspicious activity</a:t>
            </a:r>
            <a:endParaRPr lang="en-US" sz="600" dirty="0"/>
          </a:p>
        </p:txBody>
      </p:sp>
      <p:sp>
        <p:nvSpPr>
          <p:cNvPr id="32" name="Shape 28"/>
          <p:cNvSpPr/>
          <p:nvPr/>
        </p:nvSpPr>
        <p:spPr>
          <a:xfrm>
            <a:off x="400050" y="2382329"/>
            <a:ext cx="5083476" cy="207504"/>
          </a:xfrm>
          <a:prstGeom prst="rect">
            <a:avLst/>
          </a:prstGeom>
          <a:solidFill>
            <a:srgbClr val="FFFFFF"/>
          </a:solidFill>
          <a:ln/>
        </p:spPr>
      </p:sp>
      <p:sp>
        <p:nvSpPr>
          <p:cNvPr id="33" name="Text 29"/>
          <p:cNvSpPr/>
          <p:nvPr/>
        </p:nvSpPr>
        <p:spPr>
          <a:xfrm>
            <a:off x="471488" y="2437693"/>
            <a:ext cx="92869" cy="103584"/>
          </a:xfrm>
          <a:prstGeom prst="rect">
            <a:avLst/>
          </a:prstGeom>
          <a:noFill/>
          <a:ln/>
        </p:spPr>
        <p:txBody>
          <a:bodyPr wrap="none" lIns="0" tIns="0" rIns="0" bIns="0" rtlCol="0" anchor="t">
            <a:spAutoFit/>
          </a:bodyPr>
          <a:lstStyle/>
          <a:p>
            <a:pPr algn="l" indent="0" marL="0">
              <a:buNone/>
            </a:pPr>
            <a:r>
              <a:rPr lang="en-US" sz="550" b="1" dirty="0">
                <a:solidFill>
                  <a:srgbClr val="0056B3"/>
                </a:solidFill>
                <a:latin typeface="DM Mono Medium" pitchFamily="34" charset="0"/>
                <a:ea typeface="DM Mono Medium" pitchFamily="34" charset="-122"/>
                <a:cs typeface="DM Mono Medium" pitchFamily="34" charset="-120"/>
              </a:rPr>
              <a:t>#6</a:t>
            </a:r>
            <a:endParaRPr lang="en-US" sz="550" dirty="0"/>
          </a:p>
        </p:txBody>
      </p:sp>
      <p:sp>
        <p:nvSpPr>
          <p:cNvPr id="34" name="Text 30"/>
          <p:cNvSpPr/>
          <p:nvPr/>
        </p:nvSpPr>
        <p:spPr>
          <a:xfrm>
            <a:off x="893638" y="2430549"/>
            <a:ext cx="517922" cy="112514"/>
          </a:xfrm>
          <a:prstGeom prst="rect">
            <a:avLst/>
          </a:prstGeom>
          <a:noFill/>
          <a:ln/>
        </p:spPr>
        <p:txBody>
          <a:bodyPr wrap="none" lIns="0" tIns="0" rIns="0" bIns="0" rtlCol="0" anchor="t">
            <a:spAutoFit/>
          </a:bodyPr>
          <a:lstStyle/>
          <a:p>
            <a:pPr algn="l" indent="0" marL="0">
              <a:buNone/>
            </a:pPr>
            <a:r>
              <a:rPr lang="en-US" sz="600" dirty="0">
                <a:solidFill>
                  <a:srgbClr val="0A192F"/>
                </a:solidFill>
                <a:latin typeface="DM Mono Medium" pitchFamily="34" charset="0"/>
                <a:ea typeface="DM Mono Medium" pitchFamily="34" charset="-122"/>
                <a:cs typeface="DM Mono Medium" pitchFamily="34" charset="-120"/>
              </a:rPr>
              <a:t>url_length</a:t>
            </a:r>
            <a:endParaRPr lang="en-US" sz="600" dirty="0"/>
          </a:p>
        </p:txBody>
      </p:sp>
      <p:sp>
        <p:nvSpPr>
          <p:cNvPr id="35" name="Text 31"/>
          <p:cNvSpPr/>
          <p:nvPr/>
        </p:nvSpPr>
        <p:spPr>
          <a:xfrm>
            <a:off x="2070181" y="2432335"/>
            <a:ext cx="3023592" cy="108942"/>
          </a:xfrm>
          <a:prstGeom prst="rect">
            <a:avLst/>
          </a:prstGeom>
          <a:noFill/>
          <a:ln/>
        </p:spPr>
        <p:txBody>
          <a:bodyPr wrap="none" lIns="0" tIns="0" rIns="0" bIns="0" rtlCol="0" anchor="t">
            <a:spAutoFit/>
          </a:bodyPr>
          <a:lstStyle/>
          <a:p>
            <a:pPr algn="l" indent="0" marL="0">
              <a:lnSpc>
                <a:spcPct val="112000"/>
              </a:lnSpc>
              <a:buNone/>
            </a:pPr>
            <a:r>
              <a:rPr lang="en-US" sz="600" dirty="0">
                <a:solidFill>
                  <a:srgbClr val="1A2B4A"/>
                </a:solidFill>
                <a:latin typeface="Space Grotesk" pitchFamily="34" charset="0"/>
                <a:ea typeface="Space Grotesk" pitchFamily="34" charset="-122"/>
                <a:cs typeface="Space Grotesk" pitchFamily="34" charset="-120"/>
              </a:rPr>
              <a:t>Total character count — malicious URLs are longer to obscure the domain</a:t>
            </a:r>
            <a:endParaRPr lang="en-US" sz="600" dirty="0"/>
          </a:p>
        </p:txBody>
      </p:sp>
      <p:sp>
        <p:nvSpPr>
          <p:cNvPr id="36" name="Shape 32"/>
          <p:cNvSpPr/>
          <p:nvPr/>
        </p:nvSpPr>
        <p:spPr>
          <a:xfrm>
            <a:off x="400050" y="2589833"/>
            <a:ext cx="5083476" cy="207504"/>
          </a:xfrm>
          <a:prstGeom prst="rect">
            <a:avLst/>
          </a:prstGeom>
          <a:solidFill>
            <a:srgbClr val="E6F0FA"/>
          </a:solidFill>
          <a:ln/>
        </p:spPr>
      </p:sp>
      <p:sp>
        <p:nvSpPr>
          <p:cNvPr id="37" name="Text 33"/>
          <p:cNvSpPr/>
          <p:nvPr/>
        </p:nvSpPr>
        <p:spPr>
          <a:xfrm>
            <a:off x="471488" y="2645197"/>
            <a:ext cx="92869" cy="103584"/>
          </a:xfrm>
          <a:prstGeom prst="rect">
            <a:avLst/>
          </a:prstGeom>
          <a:noFill/>
          <a:ln/>
        </p:spPr>
        <p:txBody>
          <a:bodyPr wrap="none" lIns="0" tIns="0" rIns="0" bIns="0" rtlCol="0" anchor="t">
            <a:spAutoFit/>
          </a:bodyPr>
          <a:lstStyle/>
          <a:p>
            <a:pPr algn="l" indent="0" marL="0">
              <a:buNone/>
            </a:pPr>
            <a:r>
              <a:rPr lang="en-US" sz="550" b="1" dirty="0">
                <a:solidFill>
                  <a:srgbClr val="0056B3"/>
                </a:solidFill>
                <a:latin typeface="DM Mono Medium" pitchFamily="34" charset="0"/>
                <a:ea typeface="DM Mono Medium" pitchFamily="34" charset="-122"/>
                <a:cs typeface="DM Mono Medium" pitchFamily="34" charset="-120"/>
              </a:rPr>
              <a:t>#7</a:t>
            </a:r>
            <a:endParaRPr lang="en-US" sz="550" dirty="0"/>
          </a:p>
        </p:txBody>
      </p:sp>
      <p:sp>
        <p:nvSpPr>
          <p:cNvPr id="38" name="Text 34"/>
          <p:cNvSpPr/>
          <p:nvPr/>
        </p:nvSpPr>
        <p:spPr>
          <a:xfrm>
            <a:off x="893638" y="2638053"/>
            <a:ext cx="362545" cy="112514"/>
          </a:xfrm>
          <a:prstGeom prst="rect">
            <a:avLst/>
          </a:prstGeom>
          <a:noFill/>
          <a:ln/>
        </p:spPr>
        <p:txBody>
          <a:bodyPr wrap="none" lIns="0" tIns="0" rIns="0" bIns="0" rtlCol="0" anchor="t">
            <a:spAutoFit/>
          </a:bodyPr>
          <a:lstStyle/>
          <a:p>
            <a:pPr algn="l" indent="0" marL="0">
              <a:buNone/>
            </a:pPr>
            <a:r>
              <a:rPr lang="en-US" sz="600" dirty="0">
                <a:solidFill>
                  <a:srgbClr val="0A192F"/>
                </a:solidFill>
                <a:latin typeface="DM Mono Medium" pitchFamily="34" charset="0"/>
                <a:ea typeface="DM Mono Medium" pitchFamily="34" charset="-122"/>
                <a:cs typeface="DM Mono Medium" pitchFamily="34" charset="-120"/>
              </a:rPr>
              <a:t>entropy</a:t>
            </a:r>
            <a:endParaRPr lang="en-US" sz="600" dirty="0"/>
          </a:p>
        </p:txBody>
      </p:sp>
      <p:sp>
        <p:nvSpPr>
          <p:cNvPr id="39" name="Text 35"/>
          <p:cNvSpPr/>
          <p:nvPr/>
        </p:nvSpPr>
        <p:spPr>
          <a:xfrm>
            <a:off x="2070181" y="2639839"/>
            <a:ext cx="2927152" cy="108942"/>
          </a:xfrm>
          <a:prstGeom prst="rect">
            <a:avLst/>
          </a:prstGeom>
          <a:noFill/>
          <a:ln/>
        </p:spPr>
        <p:txBody>
          <a:bodyPr wrap="none" lIns="0" tIns="0" rIns="0" bIns="0" rtlCol="0" anchor="t">
            <a:spAutoFit/>
          </a:bodyPr>
          <a:lstStyle/>
          <a:p>
            <a:pPr algn="l" indent="0" marL="0">
              <a:lnSpc>
                <a:spcPct val="112000"/>
              </a:lnSpc>
              <a:buNone/>
            </a:pPr>
            <a:r>
              <a:rPr lang="en-US" sz="600" dirty="0">
                <a:solidFill>
                  <a:srgbClr val="1A2B4A"/>
                </a:solidFill>
                <a:latin typeface="Space Grotesk" pitchFamily="34" charset="0"/>
                <a:ea typeface="Space Grotesk" pitchFamily="34" charset="-122"/>
                <a:cs typeface="Space Grotesk" pitchFamily="34" charset="-120"/>
              </a:rPr>
              <a:t>Shannon entropy — high entropy indicates randomness or obfuscation</a:t>
            </a:r>
            <a:endParaRPr lang="en-US" sz="600" dirty="0"/>
          </a:p>
        </p:txBody>
      </p:sp>
      <p:sp>
        <p:nvSpPr>
          <p:cNvPr id="40" name="Shape 36"/>
          <p:cNvSpPr/>
          <p:nvPr/>
        </p:nvSpPr>
        <p:spPr>
          <a:xfrm>
            <a:off x="400050" y="2797336"/>
            <a:ext cx="5083476" cy="207504"/>
          </a:xfrm>
          <a:prstGeom prst="rect">
            <a:avLst/>
          </a:prstGeom>
          <a:solidFill>
            <a:srgbClr val="FFFFFF"/>
          </a:solidFill>
          <a:ln/>
        </p:spPr>
      </p:sp>
      <p:sp>
        <p:nvSpPr>
          <p:cNvPr id="41" name="Text 37"/>
          <p:cNvSpPr/>
          <p:nvPr/>
        </p:nvSpPr>
        <p:spPr>
          <a:xfrm>
            <a:off x="471488" y="2852700"/>
            <a:ext cx="92869" cy="103584"/>
          </a:xfrm>
          <a:prstGeom prst="rect">
            <a:avLst/>
          </a:prstGeom>
          <a:noFill/>
          <a:ln/>
        </p:spPr>
        <p:txBody>
          <a:bodyPr wrap="none" lIns="0" tIns="0" rIns="0" bIns="0" rtlCol="0" anchor="t">
            <a:spAutoFit/>
          </a:bodyPr>
          <a:lstStyle/>
          <a:p>
            <a:pPr algn="l" indent="0" marL="0">
              <a:buNone/>
            </a:pPr>
            <a:r>
              <a:rPr lang="en-US" sz="550" b="1" dirty="0">
                <a:solidFill>
                  <a:srgbClr val="0056B3"/>
                </a:solidFill>
                <a:latin typeface="DM Mono Medium" pitchFamily="34" charset="0"/>
                <a:ea typeface="DM Mono Medium" pitchFamily="34" charset="-122"/>
                <a:cs typeface="DM Mono Medium" pitchFamily="34" charset="-120"/>
              </a:rPr>
              <a:t>#8</a:t>
            </a:r>
            <a:endParaRPr lang="en-US" sz="550" dirty="0"/>
          </a:p>
        </p:txBody>
      </p:sp>
      <p:sp>
        <p:nvSpPr>
          <p:cNvPr id="42" name="Text 38"/>
          <p:cNvSpPr/>
          <p:nvPr/>
        </p:nvSpPr>
        <p:spPr>
          <a:xfrm>
            <a:off x="893638" y="2845557"/>
            <a:ext cx="569714" cy="112514"/>
          </a:xfrm>
          <a:prstGeom prst="rect">
            <a:avLst/>
          </a:prstGeom>
          <a:noFill/>
          <a:ln/>
        </p:spPr>
        <p:txBody>
          <a:bodyPr wrap="none" lIns="0" tIns="0" rIns="0" bIns="0" rtlCol="0" anchor="t">
            <a:spAutoFit/>
          </a:bodyPr>
          <a:lstStyle/>
          <a:p>
            <a:pPr algn="l" indent="0" marL="0">
              <a:buNone/>
            </a:pPr>
            <a:r>
              <a:rPr lang="en-US" sz="600" dirty="0">
                <a:solidFill>
                  <a:srgbClr val="0A192F"/>
                </a:solidFill>
                <a:latin typeface="DM Mono Medium" pitchFamily="34" charset="0"/>
                <a:ea typeface="DM Mono Medium" pitchFamily="34" charset="-122"/>
                <a:cs typeface="DM Mono Medium" pitchFamily="34" charset="-120"/>
              </a:rPr>
              <a:t>digit_count</a:t>
            </a:r>
            <a:endParaRPr lang="en-US" sz="600" dirty="0"/>
          </a:p>
        </p:txBody>
      </p:sp>
      <p:sp>
        <p:nvSpPr>
          <p:cNvPr id="43" name="Text 39"/>
          <p:cNvSpPr/>
          <p:nvPr/>
        </p:nvSpPr>
        <p:spPr>
          <a:xfrm>
            <a:off x="2070181" y="2847342"/>
            <a:ext cx="3041452" cy="108942"/>
          </a:xfrm>
          <a:prstGeom prst="rect">
            <a:avLst/>
          </a:prstGeom>
          <a:noFill/>
          <a:ln/>
        </p:spPr>
        <p:txBody>
          <a:bodyPr wrap="none" lIns="0" tIns="0" rIns="0" bIns="0" rtlCol="0" anchor="t">
            <a:spAutoFit/>
          </a:bodyPr>
          <a:lstStyle/>
          <a:p>
            <a:pPr algn="l" indent="0" marL="0">
              <a:lnSpc>
                <a:spcPct val="112000"/>
              </a:lnSpc>
              <a:buNone/>
            </a:pPr>
            <a:r>
              <a:rPr lang="en-US" sz="600" dirty="0">
                <a:solidFill>
                  <a:srgbClr val="1A2B4A"/>
                </a:solidFill>
                <a:latin typeface="Space Grotesk" pitchFamily="34" charset="0"/>
                <a:ea typeface="Space Grotesk" pitchFamily="34" charset="-122"/>
                <a:cs typeface="Space Grotesk" pitchFamily="34" charset="-120"/>
              </a:rPr>
              <a:t>Total numeric digits — IP addresses and random strings inflate digit count</a:t>
            </a:r>
            <a:endParaRPr lang="en-US" sz="600" dirty="0"/>
          </a:p>
        </p:txBody>
      </p:sp>
      <p:sp>
        <p:nvSpPr>
          <p:cNvPr id="44" name="Shape 40"/>
          <p:cNvSpPr/>
          <p:nvPr/>
        </p:nvSpPr>
        <p:spPr>
          <a:xfrm>
            <a:off x="400050" y="3004840"/>
            <a:ext cx="5083476" cy="207504"/>
          </a:xfrm>
          <a:prstGeom prst="rect">
            <a:avLst/>
          </a:prstGeom>
          <a:solidFill>
            <a:srgbClr val="E6F0FA"/>
          </a:solidFill>
          <a:ln/>
        </p:spPr>
      </p:sp>
      <p:sp>
        <p:nvSpPr>
          <p:cNvPr id="45" name="Text 41"/>
          <p:cNvSpPr/>
          <p:nvPr/>
        </p:nvSpPr>
        <p:spPr>
          <a:xfrm>
            <a:off x="471488" y="3060204"/>
            <a:ext cx="92869" cy="103584"/>
          </a:xfrm>
          <a:prstGeom prst="rect">
            <a:avLst/>
          </a:prstGeom>
          <a:noFill/>
          <a:ln/>
        </p:spPr>
        <p:txBody>
          <a:bodyPr wrap="none" lIns="0" tIns="0" rIns="0" bIns="0" rtlCol="0" anchor="t">
            <a:spAutoFit/>
          </a:bodyPr>
          <a:lstStyle/>
          <a:p>
            <a:pPr algn="l" indent="0" marL="0">
              <a:buNone/>
            </a:pPr>
            <a:r>
              <a:rPr lang="en-US" sz="550" b="1" dirty="0">
                <a:solidFill>
                  <a:srgbClr val="0056B3"/>
                </a:solidFill>
                <a:latin typeface="DM Mono Medium" pitchFamily="34" charset="0"/>
                <a:ea typeface="DM Mono Medium" pitchFamily="34" charset="-122"/>
                <a:cs typeface="DM Mono Medium" pitchFamily="34" charset="-120"/>
              </a:rPr>
              <a:t>#9</a:t>
            </a:r>
            <a:endParaRPr lang="en-US" sz="550" dirty="0"/>
          </a:p>
        </p:txBody>
      </p:sp>
      <p:sp>
        <p:nvSpPr>
          <p:cNvPr id="46" name="Text 42"/>
          <p:cNvSpPr/>
          <p:nvPr/>
        </p:nvSpPr>
        <p:spPr>
          <a:xfrm>
            <a:off x="893638" y="3053060"/>
            <a:ext cx="621506" cy="112514"/>
          </a:xfrm>
          <a:prstGeom prst="rect">
            <a:avLst/>
          </a:prstGeom>
          <a:noFill/>
          <a:ln/>
        </p:spPr>
        <p:txBody>
          <a:bodyPr wrap="none" lIns="0" tIns="0" rIns="0" bIns="0" rtlCol="0" anchor="t">
            <a:spAutoFit/>
          </a:bodyPr>
          <a:lstStyle/>
          <a:p>
            <a:pPr algn="l" indent="0" marL="0">
              <a:buNone/>
            </a:pPr>
            <a:r>
              <a:rPr lang="en-US" sz="600" dirty="0">
                <a:solidFill>
                  <a:srgbClr val="0A192F"/>
                </a:solidFill>
                <a:latin typeface="DM Mono Medium" pitchFamily="34" charset="0"/>
                <a:ea typeface="DM Mono Medium" pitchFamily="34" charset="-122"/>
                <a:cs typeface="DM Mono Medium" pitchFamily="34" charset="-120"/>
              </a:rPr>
              <a:t>letter_count</a:t>
            </a:r>
            <a:endParaRPr lang="en-US" sz="600" dirty="0"/>
          </a:p>
        </p:txBody>
      </p:sp>
      <p:sp>
        <p:nvSpPr>
          <p:cNvPr id="47" name="Text 43"/>
          <p:cNvSpPr/>
          <p:nvPr/>
        </p:nvSpPr>
        <p:spPr>
          <a:xfrm>
            <a:off x="2070181" y="3054846"/>
            <a:ext cx="2852142" cy="108942"/>
          </a:xfrm>
          <a:prstGeom prst="rect">
            <a:avLst/>
          </a:prstGeom>
          <a:noFill/>
          <a:ln/>
        </p:spPr>
        <p:txBody>
          <a:bodyPr wrap="none" lIns="0" tIns="0" rIns="0" bIns="0" rtlCol="0" anchor="t">
            <a:spAutoFit/>
          </a:bodyPr>
          <a:lstStyle/>
          <a:p>
            <a:pPr algn="l" indent="0" marL="0">
              <a:lnSpc>
                <a:spcPct val="112000"/>
              </a:lnSpc>
              <a:buNone/>
            </a:pPr>
            <a:r>
              <a:rPr lang="en-US" sz="600" dirty="0">
                <a:solidFill>
                  <a:srgbClr val="1A2B4A"/>
                </a:solidFill>
                <a:latin typeface="Space Grotesk" pitchFamily="34" charset="0"/>
                <a:ea typeface="Space Grotesk" pitchFamily="34" charset="-122"/>
                <a:cs typeface="Space Grotesk" pitchFamily="34" charset="-120"/>
              </a:rPr>
              <a:t>Total alphabetic characters — baseline character composition metric</a:t>
            </a:r>
            <a:endParaRPr lang="en-US" sz="600" dirty="0"/>
          </a:p>
        </p:txBody>
      </p:sp>
      <p:sp>
        <p:nvSpPr>
          <p:cNvPr id="48" name="Shape 44"/>
          <p:cNvSpPr/>
          <p:nvPr/>
        </p:nvSpPr>
        <p:spPr>
          <a:xfrm>
            <a:off x="400050" y="3212343"/>
            <a:ext cx="5083476" cy="207504"/>
          </a:xfrm>
          <a:prstGeom prst="rect">
            <a:avLst/>
          </a:prstGeom>
          <a:solidFill>
            <a:srgbClr val="FFFFFF"/>
          </a:solidFill>
          <a:ln/>
        </p:spPr>
      </p:sp>
      <p:sp>
        <p:nvSpPr>
          <p:cNvPr id="49" name="Text 45"/>
          <p:cNvSpPr/>
          <p:nvPr/>
        </p:nvSpPr>
        <p:spPr>
          <a:xfrm>
            <a:off x="471488" y="3267708"/>
            <a:ext cx="139303" cy="103584"/>
          </a:xfrm>
          <a:prstGeom prst="rect">
            <a:avLst/>
          </a:prstGeom>
          <a:noFill/>
          <a:ln/>
        </p:spPr>
        <p:txBody>
          <a:bodyPr wrap="none" lIns="0" tIns="0" rIns="0" bIns="0" rtlCol="0" anchor="t">
            <a:spAutoFit/>
          </a:bodyPr>
          <a:lstStyle/>
          <a:p>
            <a:pPr algn="l" indent="0" marL="0">
              <a:buNone/>
            </a:pPr>
            <a:r>
              <a:rPr lang="en-US" sz="550" b="1" dirty="0">
                <a:solidFill>
                  <a:srgbClr val="0056B3"/>
                </a:solidFill>
                <a:latin typeface="DM Mono Medium" pitchFamily="34" charset="0"/>
                <a:ea typeface="DM Mono Medium" pitchFamily="34" charset="-122"/>
                <a:cs typeface="DM Mono Medium" pitchFamily="34" charset="-120"/>
              </a:rPr>
              <a:t>#10</a:t>
            </a:r>
            <a:endParaRPr lang="en-US" sz="550" dirty="0"/>
          </a:p>
        </p:txBody>
      </p:sp>
      <p:sp>
        <p:nvSpPr>
          <p:cNvPr id="50" name="Text 46"/>
          <p:cNvSpPr/>
          <p:nvPr/>
        </p:nvSpPr>
        <p:spPr>
          <a:xfrm>
            <a:off x="893638" y="3260564"/>
            <a:ext cx="569714" cy="112514"/>
          </a:xfrm>
          <a:prstGeom prst="rect">
            <a:avLst/>
          </a:prstGeom>
          <a:noFill/>
          <a:ln/>
        </p:spPr>
        <p:txBody>
          <a:bodyPr wrap="none" lIns="0" tIns="0" rIns="0" bIns="0" rtlCol="0" anchor="t">
            <a:spAutoFit/>
          </a:bodyPr>
          <a:lstStyle/>
          <a:p>
            <a:pPr algn="l" indent="0" marL="0">
              <a:buNone/>
            </a:pPr>
            <a:r>
              <a:rPr lang="en-US" sz="600" dirty="0">
                <a:solidFill>
                  <a:srgbClr val="0A192F"/>
                </a:solidFill>
                <a:latin typeface="DM Mono Medium" pitchFamily="34" charset="0"/>
                <a:ea typeface="DM Mono Medium" pitchFamily="34" charset="-122"/>
                <a:cs typeface="DM Mono Medium" pitchFamily="34" charset="-120"/>
              </a:rPr>
              <a:t>digit_ratio</a:t>
            </a:r>
            <a:endParaRPr lang="en-US" sz="600" dirty="0"/>
          </a:p>
        </p:txBody>
      </p:sp>
      <p:sp>
        <p:nvSpPr>
          <p:cNvPr id="51" name="Text 47"/>
          <p:cNvSpPr/>
          <p:nvPr/>
        </p:nvSpPr>
        <p:spPr>
          <a:xfrm>
            <a:off x="2070181" y="3262350"/>
            <a:ext cx="2836069" cy="108942"/>
          </a:xfrm>
          <a:prstGeom prst="rect">
            <a:avLst/>
          </a:prstGeom>
          <a:noFill/>
          <a:ln/>
        </p:spPr>
        <p:txBody>
          <a:bodyPr wrap="none" lIns="0" tIns="0" rIns="0" bIns="0" rtlCol="0" anchor="t">
            <a:spAutoFit/>
          </a:bodyPr>
          <a:lstStyle/>
          <a:p>
            <a:pPr algn="l" indent="0" marL="0">
              <a:lnSpc>
                <a:spcPct val="112000"/>
              </a:lnSpc>
              <a:buNone/>
            </a:pPr>
            <a:r>
              <a:rPr lang="en-US" sz="600" dirty="0">
                <a:solidFill>
                  <a:srgbClr val="1A2B4A"/>
                </a:solidFill>
                <a:latin typeface="Space Grotesk" pitchFamily="34" charset="0"/>
                <a:ea typeface="Space Grotesk" pitchFamily="34" charset="-122"/>
                <a:cs typeface="Space Grotesk" pitchFamily="34" charset="-120"/>
              </a:rPr>
              <a:t>Ratio of digits to URL length — high ratio = algorithmically generated</a:t>
            </a:r>
            <a:endParaRPr lang="en-US" sz="600" dirty="0"/>
          </a:p>
        </p:txBody>
      </p:sp>
      <p:sp>
        <p:nvSpPr>
          <p:cNvPr id="52" name="Text 48"/>
          <p:cNvSpPr/>
          <p:nvPr/>
        </p:nvSpPr>
        <p:spPr>
          <a:xfrm>
            <a:off x="5897863" y="894755"/>
            <a:ext cx="2846059"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TOP FEATURES BY ANOVA F-SCORE</a:t>
            </a:r>
            <a:endParaRPr lang="en-US" sz="550" dirty="0"/>
          </a:p>
        </p:txBody>
      </p:sp>
      <p:sp>
        <p:nvSpPr>
          <p:cNvPr id="53" name="Shape 49"/>
          <p:cNvSpPr/>
          <p:nvPr/>
        </p:nvSpPr>
        <p:spPr>
          <a:xfrm>
            <a:off x="5897863" y="1084064"/>
            <a:ext cx="2846059" cy="805458"/>
          </a:xfrm>
          <a:prstGeom prst="rect">
            <a:avLst/>
          </a:prstGeom>
          <a:solidFill>
            <a:srgbClr val="0A192F"/>
          </a:solidFill>
          <a:ln/>
        </p:spPr>
      </p:sp>
      <p:sp>
        <p:nvSpPr>
          <p:cNvPr id="54" name="Text 50"/>
          <p:cNvSpPr/>
          <p:nvPr/>
        </p:nvSpPr>
        <p:spPr>
          <a:xfrm>
            <a:off x="5997876" y="1155502"/>
            <a:ext cx="2646034" cy="103584"/>
          </a:xfrm>
          <a:prstGeom prst="rect">
            <a:avLst/>
          </a:prstGeom>
          <a:noFill/>
          <a:ln/>
        </p:spPr>
        <p:txBody>
          <a:bodyPr wrap="square" lIns="0" tIns="0" rIns="0" bIns="0" rtlCol="0" anchor="t">
            <a:spAutoFit/>
          </a:bodyPr>
          <a:lstStyle/>
          <a:p>
            <a:pPr algn="l" indent="0" marL="0">
              <a:buNone/>
            </a:pPr>
            <a:r>
              <a:rPr lang="en-US" sz="550" spc="2" kern="0" dirty="0">
                <a:solidFill>
                  <a:srgbClr val="4A90D9"/>
                </a:solidFill>
                <a:latin typeface="DM Mono" pitchFamily="34" charset="0"/>
                <a:ea typeface="DM Mono" pitchFamily="34" charset="-122"/>
                <a:cs typeface="DM Mono" pitchFamily="34" charset="-120"/>
              </a:rPr>
              <a:t>RANK 1 — MOST DISCRIMINATIVE</a:t>
            </a:r>
            <a:endParaRPr lang="en-US" sz="550" dirty="0"/>
          </a:p>
        </p:txBody>
      </p:sp>
      <p:sp>
        <p:nvSpPr>
          <p:cNvPr id="55" name="Text 51"/>
          <p:cNvSpPr/>
          <p:nvPr/>
        </p:nvSpPr>
        <p:spPr>
          <a:xfrm>
            <a:off x="5997876" y="1273373"/>
            <a:ext cx="2646034" cy="166092"/>
          </a:xfrm>
          <a:prstGeom prst="rect">
            <a:avLst/>
          </a:prstGeom>
          <a:noFill/>
          <a:ln/>
        </p:spPr>
        <p:txBody>
          <a:bodyPr wrap="square" lIns="0" tIns="0" rIns="0" bIns="0" rtlCol="0" anchor="t">
            <a:spAutoFit/>
          </a:bodyPr>
          <a:lstStyle/>
          <a:p>
            <a:pPr algn="l" indent="0" marL="0">
              <a:buNone/>
            </a:pPr>
            <a:r>
              <a:rPr lang="en-US" sz="900" b="1" dirty="0">
                <a:solidFill>
                  <a:srgbClr val="FFFFFF"/>
                </a:solidFill>
                <a:latin typeface="DM Mono Medium" pitchFamily="34" charset="0"/>
                <a:ea typeface="DM Mono Medium" pitchFamily="34" charset="-122"/>
                <a:cs typeface="DM Mono Medium" pitchFamily="34" charset="-120"/>
              </a:rPr>
              <a:t>dot_count</a:t>
            </a:r>
            <a:endParaRPr lang="en-US" sz="900" dirty="0"/>
          </a:p>
        </p:txBody>
      </p:sp>
      <p:sp>
        <p:nvSpPr>
          <p:cNvPr id="56" name="Text 52"/>
          <p:cNvSpPr/>
          <p:nvPr/>
        </p:nvSpPr>
        <p:spPr>
          <a:xfrm>
            <a:off x="5997876" y="1453753"/>
            <a:ext cx="2646034" cy="121444"/>
          </a:xfrm>
          <a:prstGeom prst="rect">
            <a:avLst/>
          </a:prstGeom>
          <a:noFill/>
          <a:ln/>
        </p:spPr>
        <p:txBody>
          <a:bodyPr wrap="square" lIns="0" tIns="0" rIns="0" bIns="0" rtlCol="0" anchor="t">
            <a:spAutoFit/>
          </a:bodyPr>
          <a:lstStyle/>
          <a:p>
            <a:pPr algn="l" indent="0" marL="0">
              <a:buNone/>
            </a:pPr>
            <a:r>
              <a:rPr lang="en-US" sz="650" dirty="0">
                <a:solidFill>
                  <a:srgbClr val="4A90D9"/>
                </a:solidFill>
                <a:latin typeface="DM Mono" pitchFamily="34" charset="0"/>
                <a:ea typeface="DM Mono" pitchFamily="34" charset="-122"/>
                <a:cs typeface="DM Mono" pitchFamily="34" charset="-120"/>
              </a:rPr>
              <a:t>F-Score: 31,994 · p &lt; 0.001</a:t>
            </a:r>
            <a:endParaRPr lang="en-US" sz="650" dirty="0"/>
          </a:p>
        </p:txBody>
      </p:sp>
      <p:sp>
        <p:nvSpPr>
          <p:cNvPr id="57" name="Text 53"/>
          <p:cNvSpPr/>
          <p:nvPr/>
        </p:nvSpPr>
        <p:spPr>
          <a:xfrm>
            <a:off x="5997876" y="1603772"/>
            <a:ext cx="2646034" cy="214313"/>
          </a:xfrm>
          <a:prstGeom prst="rect">
            <a:avLst/>
          </a:prstGeom>
          <a:noFill/>
          <a:ln/>
        </p:spPr>
        <p:txBody>
          <a:bodyPr wrap="square" lIns="0" tIns="0" rIns="0" bIns="0" rtlCol="0" anchor="t">
            <a:spAutoFit/>
          </a:bodyPr>
          <a:lstStyle/>
          <a:p>
            <a:pPr algn="l" indent="0" marL="0">
              <a:lnSpc>
                <a:spcPct val="100000"/>
              </a:lnSpc>
              <a:buNone/>
            </a:pPr>
            <a:r>
              <a:rPr lang="en-US" sz="600" dirty="0">
                <a:solidFill>
                  <a:srgbClr val="8BA4C0"/>
                </a:solidFill>
                <a:latin typeface="Space Grotesk" pitchFamily="34" charset="0"/>
                <a:ea typeface="Space Grotesk" pitchFamily="34" charset="-122"/>
                <a:cs typeface="Space Grotesk" pitchFamily="34" charset="-120"/>
              </a:rPr>
              <a:t>Subdomain stacking mimics legitimacy — e.g. paypal.com.verify.attacker.net</a:t>
            </a:r>
            <a:endParaRPr lang="en-US" sz="600" dirty="0"/>
          </a:p>
        </p:txBody>
      </p:sp>
      <p:sp>
        <p:nvSpPr>
          <p:cNvPr id="58" name="Shape 54"/>
          <p:cNvSpPr/>
          <p:nvPr/>
        </p:nvSpPr>
        <p:spPr>
          <a:xfrm>
            <a:off x="5897863" y="1960959"/>
            <a:ext cx="2846059" cy="698302"/>
          </a:xfrm>
          <a:prstGeom prst="rect">
            <a:avLst/>
          </a:prstGeom>
          <a:solidFill>
            <a:srgbClr val="0A192F"/>
          </a:solidFill>
          <a:ln/>
        </p:spPr>
      </p:sp>
      <p:sp>
        <p:nvSpPr>
          <p:cNvPr id="59" name="Text 55"/>
          <p:cNvSpPr/>
          <p:nvPr/>
        </p:nvSpPr>
        <p:spPr>
          <a:xfrm>
            <a:off x="5997876" y="2032397"/>
            <a:ext cx="2646034" cy="103584"/>
          </a:xfrm>
          <a:prstGeom prst="rect">
            <a:avLst/>
          </a:prstGeom>
          <a:noFill/>
          <a:ln/>
        </p:spPr>
        <p:txBody>
          <a:bodyPr wrap="square" lIns="0" tIns="0" rIns="0" bIns="0" rtlCol="0" anchor="t">
            <a:spAutoFit/>
          </a:bodyPr>
          <a:lstStyle/>
          <a:p>
            <a:pPr algn="l" indent="0" marL="0">
              <a:buNone/>
            </a:pPr>
            <a:r>
              <a:rPr lang="en-US" sz="550" spc="2" kern="0" dirty="0">
                <a:solidFill>
                  <a:srgbClr val="4A90D9"/>
                </a:solidFill>
                <a:latin typeface="DM Mono" pitchFamily="34" charset="0"/>
                <a:ea typeface="DM Mono" pitchFamily="34" charset="-122"/>
                <a:cs typeface="DM Mono" pitchFamily="34" charset="-120"/>
              </a:rPr>
              <a:t>RANK 2</a:t>
            </a:r>
            <a:endParaRPr lang="en-US" sz="550" dirty="0"/>
          </a:p>
        </p:txBody>
      </p:sp>
      <p:sp>
        <p:nvSpPr>
          <p:cNvPr id="60" name="Text 56"/>
          <p:cNvSpPr/>
          <p:nvPr/>
        </p:nvSpPr>
        <p:spPr>
          <a:xfrm>
            <a:off x="5997876" y="2150269"/>
            <a:ext cx="2646034" cy="166092"/>
          </a:xfrm>
          <a:prstGeom prst="rect">
            <a:avLst/>
          </a:prstGeom>
          <a:noFill/>
          <a:ln/>
        </p:spPr>
        <p:txBody>
          <a:bodyPr wrap="square" lIns="0" tIns="0" rIns="0" bIns="0" rtlCol="0" anchor="t">
            <a:spAutoFit/>
          </a:bodyPr>
          <a:lstStyle/>
          <a:p>
            <a:pPr algn="l" indent="0" marL="0">
              <a:buNone/>
            </a:pPr>
            <a:r>
              <a:rPr lang="en-US" sz="900" b="1" dirty="0">
                <a:solidFill>
                  <a:srgbClr val="FFFFFF"/>
                </a:solidFill>
                <a:latin typeface="DM Mono Medium" pitchFamily="34" charset="0"/>
                <a:ea typeface="DM Mono Medium" pitchFamily="34" charset="-122"/>
                <a:cs typeface="DM Mono Medium" pitchFamily="34" charset="-120"/>
              </a:rPr>
              <a:t>path_length</a:t>
            </a:r>
            <a:endParaRPr lang="en-US" sz="900" dirty="0"/>
          </a:p>
        </p:txBody>
      </p:sp>
      <p:sp>
        <p:nvSpPr>
          <p:cNvPr id="61" name="Text 57"/>
          <p:cNvSpPr/>
          <p:nvPr/>
        </p:nvSpPr>
        <p:spPr>
          <a:xfrm>
            <a:off x="5997876" y="2330648"/>
            <a:ext cx="2646034" cy="121444"/>
          </a:xfrm>
          <a:prstGeom prst="rect">
            <a:avLst/>
          </a:prstGeom>
          <a:noFill/>
          <a:ln/>
        </p:spPr>
        <p:txBody>
          <a:bodyPr wrap="square" lIns="0" tIns="0" rIns="0" bIns="0" rtlCol="0" anchor="t">
            <a:spAutoFit/>
          </a:bodyPr>
          <a:lstStyle/>
          <a:p>
            <a:pPr algn="l" indent="0" marL="0">
              <a:buNone/>
            </a:pPr>
            <a:r>
              <a:rPr lang="en-US" sz="650" dirty="0">
                <a:solidFill>
                  <a:srgbClr val="4A90D9"/>
                </a:solidFill>
                <a:latin typeface="DM Mono" pitchFamily="34" charset="0"/>
                <a:ea typeface="DM Mono" pitchFamily="34" charset="-122"/>
                <a:cs typeface="DM Mono" pitchFamily="34" charset="-120"/>
              </a:rPr>
              <a:t>F-Score: 19,041 · p &lt; 0.001</a:t>
            </a:r>
            <a:endParaRPr lang="en-US" sz="650" dirty="0"/>
          </a:p>
        </p:txBody>
      </p:sp>
      <p:sp>
        <p:nvSpPr>
          <p:cNvPr id="62" name="Text 58"/>
          <p:cNvSpPr/>
          <p:nvPr/>
        </p:nvSpPr>
        <p:spPr>
          <a:xfrm>
            <a:off x="5997876" y="2480667"/>
            <a:ext cx="2646034" cy="107156"/>
          </a:xfrm>
          <a:prstGeom prst="rect">
            <a:avLst/>
          </a:prstGeom>
          <a:noFill/>
          <a:ln/>
        </p:spPr>
        <p:txBody>
          <a:bodyPr wrap="none" lIns="0" tIns="0" rIns="0" bIns="0" rtlCol="0" anchor="t">
            <a:spAutoFit/>
          </a:bodyPr>
          <a:lstStyle/>
          <a:p>
            <a:pPr algn="l" indent="0" marL="0">
              <a:lnSpc>
                <a:spcPct val="100000"/>
              </a:lnSpc>
              <a:buNone/>
            </a:pPr>
            <a:r>
              <a:rPr lang="en-US" sz="600" dirty="0">
                <a:solidFill>
                  <a:srgbClr val="8BA4C0"/>
                </a:solidFill>
                <a:latin typeface="Space Grotesk" pitchFamily="34" charset="0"/>
                <a:ea typeface="Space Grotesk" pitchFamily="34" charset="-122"/>
                <a:cs typeface="Space Grotesk" pitchFamily="34" charset="-120"/>
              </a:rPr>
              <a:t>Deep directory paths hide the true destination</a:t>
            </a:r>
            <a:endParaRPr lang="en-US" sz="600" dirty="0"/>
          </a:p>
        </p:txBody>
      </p:sp>
      <p:sp>
        <p:nvSpPr>
          <p:cNvPr id="63" name="Shape 59"/>
          <p:cNvSpPr/>
          <p:nvPr/>
        </p:nvSpPr>
        <p:spPr>
          <a:xfrm>
            <a:off x="5897863" y="2730698"/>
            <a:ext cx="2846059" cy="698302"/>
          </a:xfrm>
          <a:prstGeom prst="rect">
            <a:avLst/>
          </a:prstGeom>
          <a:solidFill>
            <a:srgbClr val="0A192F"/>
          </a:solidFill>
          <a:ln/>
        </p:spPr>
      </p:sp>
      <p:sp>
        <p:nvSpPr>
          <p:cNvPr id="64" name="Text 60"/>
          <p:cNvSpPr/>
          <p:nvPr/>
        </p:nvSpPr>
        <p:spPr>
          <a:xfrm>
            <a:off x="5997876" y="2802136"/>
            <a:ext cx="2646034" cy="103584"/>
          </a:xfrm>
          <a:prstGeom prst="rect">
            <a:avLst/>
          </a:prstGeom>
          <a:noFill/>
          <a:ln/>
        </p:spPr>
        <p:txBody>
          <a:bodyPr wrap="square" lIns="0" tIns="0" rIns="0" bIns="0" rtlCol="0" anchor="t">
            <a:spAutoFit/>
          </a:bodyPr>
          <a:lstStyle/>
          <a:p>
            <a:pPr algn="l" indent="0" marL="0">
              <a:buNone/>
            </a:pPr>
            <a:r>
              <a:rPr lang="en-US" sz="550" spc="2" kern="0" dirty="0">
                <a:solidFill>
                  <a:srgbClr val="4A90D9"/>
                </a:solidFill>
                <a:latin typeface="DM Mono" pitchFamily="34" charset="0"/>
                <a:ea typeface="DM Mono" pitchFamily="34" charset="-122"/>
                <a:cs typeface="DM Mono" pitchFamily="34" charset="-120"/>
              </a:rPr>
              <a:t>RANK 3</a:t>
            </a:r>
            <a:endParaRPr lang="en-US" sz="550" dirty="0"/>
          </a:p>
        </p:txBody>
      </p:sp>
      <p:sp>
        <p:nvSpPr>
          <p:cNvPr id="65" name="Text 61"/>
          <p:cNvSpPr/>
          <p:nvPr/>
        </p:nvSpPr>
        <p:spPr>
          <a:xfrm>
            <a:off x="5997876" y="2920008"/>
            <a:ext cx="2646034" cy="166092"/>
          </a:xfrm>
          <a:prstGeom prst="rect">
            <a:avLst/>
          </a:prstGeom>
          <a:noFill/>
          <a:ln/>
        </p:spPr>
        <p:txBody>
          <a:bodyPr wrap="square" lIns="0" tIns="0" rIns="0" bIns="0" rtlCol="0" anchor="t">
            <a:spAutoFit/>
          </a:bodyPr>
          <a:lstStyle/>
          <a:p>
            <a:pPr algn="l" indent="0" marL="0">
              <a:buNone/>
            </a:pPr>
            <a:r>
              <a:rPr lang="en-US" sz="900" b="1" dirty="0">
                <a:solidFill>
                  <a:srgbClr val="FFFFFF"/>
                </a:solidFill>
                <a:latin typeface="DM Mono Medium" pitchFamily="34" charset="0"/>
                <a:ea typeface="DM Mono Medium" pitchFamily="34" charset="-122"/>
                <a:cs typeface="DM Mono Medium" pitchFamily="34" charset="-120"/>
              </a:rPr>
              <a:t>slash_count</a:t>
            </a:r>
            <a:endParaRPr lang="en-US" sz="900" dirty="0"/>
          </a:p>
        </p:txBody>
      </p:sp>
      <p:sp>
        <p:nvSpPr>
          <p:cNvPr id="66" name="Text 62"/>
          <p:cNvSpPr/>
          <p:nvPr/>
        </p:nvSpPr>
        <p:spPr>
          <a:xfrm>
            <a:off x="5997876" y="3100388"/>
            <a:ext cx="2646034" cy="121444"/>
          </a:xfrm>
          <a:prstGeom prst="rect">
            <a:avLst/>
          </a:prstGeom>
          <a:noFill/>
          <a:ln/>
        </p:spPr>
        <p:txBody>
          <a:bodyPr wrap="square" lIns="0" tIns="0" rIns="0" bIns="0" rtlCol="0" anchor="t">
            <a:spAutoFit/>
          </a:bodyPr>
          <a:lstStyle/>
          <a:p>
            <a:pPr algn="l" indent="0" marL="0">
              <a:buNone/>
            </a:pPr>
            <a:r>
              <a:rPr lang="en-US" sz="650" dirty="0">
                <a:solidFill>
                  <a:srgbClr val="4A90D9"/>
                </a:solidFill>
                <a:latin typeface="DM Mono" pitchFamily="34" charset="0"/>
                <a:ea typeface="DM Mono" pitchFamily="34" charset="-122"/>
                <a:cs typeface="DM Mono" pitchFamily="34" charset="-120"/>
              </a:rPr>
              <a:t>F-Score: 10,162 · p &lt; 0.001</a:t>
            </a:r>
            <a:endParaRPr lang="en-US" sz="650" dirty="0"/>
          </a:p>
        </p:txBody>
      </p:sp>
      <p:sp>
        <p:nvSpPr>
          <p:cNvPr id="67" name="Text 63"/>
          <p:cNvSpPr/>
          <p:nvPr/>
        </p:nvSpPr>
        <p:spPr>
          <a:xfrm>
            <a:off x="5997876" y="3250406"/>
            <a:ext cx="2646034" cy="107156"/>
          </a:xfrm>
          <a:prstGeom prst="rect">
            <a:avLst/>
          </a:prstGeom>
          <a:noFill/>
          <a:ln/>
        </p:spPr>
        <p:txBody>
          <a:bodyPr wrap="none" lIns="0" tIns="0" rIns="0" bIns="0" rtlCol="0" anchor="t">
            <a:spAutoFit/>
          </a:bodyPr>
          <a:lstStyle/>
          <a:p>
            <a:pPr algn="l" indent="0" marL="0">
              <a:lnSpc>
                <a:spcPct val="100000"/>
              </a:lnSpc>
              <a:buNone/>
            </a:pPr>
            <a:r>
              <a:rPr lang="en-US" sz="600" dirty="0">
                <a:solidFill>
                  <a:srgbClr val="8BA4C0"/>
                </a:solidFill>
                <a:latin typeface="Space Grotesk" pitchFamily="34" charset="0"/>
                <a:ea typeface="Space Grotesk" pitchFamily="34" charset="-122"/>
                <a:cs typeface="Space Grotesk" pitchFamily="34" charset="-120"/>
              </a:rPr>
              <a:t>High slash count correlates with obfuscated URL structures</a:t>
            </a:r>
            <a:endParaRPr lang="en-US" sz="600" dirty="0"/>
          </a:p>
        </p:txBody>
      </p:sp>
      <p:sp>
        <p:nvSpPr>
          <p:cNvPr id="68" name="Shape 64"/>
          <p:cNvSpPr/>
          <p:nvPr/>
        </p:nvSpPr>
        <p:spPr>
          <a:xfrm>
            <a:off x="5897863" y="3529013"/>
            <a:ext cx="2846059" cy="769348"/>
          </a:xfrm>
          <a:prstGeom prst="rect">
            <a:avLst/>
          </a:prstGeom>
          <a:solidFill>
            <a:srgbClr val="E6F0FA"/>
          </a:solidFill>
          <a:ln/>
        </p:spPr>
      </p:sp>
      <p:sp>
        <p:nvSpPr>
          <p:cNvPr id="69" name="Shape 65"/>
          <p:cNvSpPr/>
          <p:nvPr/>
        </p:nvSpPr>
        <p:spPr>
          <a:xfrm>
            <a:off x="5897863" y="3529013"/>
            <a:ext cx="2846059" cy="21431"/>
          </a:xfrm>
          <a:prstGeom prst="rect">
            <a:avLst/>
          </a:prstGeom>
          <a:solidFill>
            <a:srgbClr val="0056B3"/>
          </a:solidFill>
          <a:ln/>
        </p:spPr>
      </p:sp>
      <p:sp>
        <p:nvSpPr>
          <p:cNvPr id="70" name="Text 66"/>
          <p:cNvSpPr/>
          <p:nvPr/>
        </p:nvSpPr>
        <p:spPr>
          <a:xfrm>
            <a:off x="5997876" y="3600450"/>
            <a:ext cx="2646034" cy="200025"/>
          </a:xfrm>
          <a:prstGeom prst="rect">
            <a:avLst/>
          </a:prstGeom>
          <a:noFill/>
          <a:ln/>
        </p:spPr>
        <p:txBody>
          <a:bodyPr wrap="none" lIns="0" tIns="0" rIns="0" bIns="0" rtlCol="0" anchor="t">
            <a:spAutoFit/>
          </a:bodyPr>
          <a:lstStyle/>
          <a:p>
            <a:pPr algn="l" indent="0" marL="0">
              <a:lnSpc>
                <a:spcPct val="80000"/>
              </a:lnSpc>
              <a:buNone/>
            </a:pPr>
            <a:r>
              <a:rPr lang="en-US" sz="1400" b="1" dirty="0">
                <a:solidFill>
                  <a:srgbClr val="0056B3"/>
                </a:solidFill>
                <a:latin typeface="DM Mono Medium" pitchFamily="34" charset="0"/>
                <a:ea typeface="DM Mono Medium" pitchFamily="34" charset="-122"/>
                <a:cs typeface="DM Mono Medium" pitchFamily="34" charset="-120"/>
              </a:rPr>
              <a:t>&lt; 1ms</a:t>
            </a:r>
            <a:endParaRPr lang="en-US" sz="1400" dirty="0"/>
          </a:p>
        </p:txBody>
      </p:sp>
      <p:sp>
        <p:nvSpPr>
          <p:cNvPr id="71" name="Text 67"/>
          <p:cNvSpPr/>
          <p:nvPr/>
        </p:nvSpPr>
        <p:spPr>
          <a:xfrm>
            <a:off x="5997876" y="3843338"/>
            <a:ext cx="2646034" cy="362155"/>
          </a:xfrm>
          <a:prstGeom prst="rect">
            <a:avLst/>
          </a:prstGeom>
          <a:noFill/>
          <a:ln/>
        </p:spPr>
        <p:txBody>
          <a:bodyPr wrap="square" lIns="0" tIns="0" rIns="0" bIns="0" rtlCol="0" anchor="t">
            <a:spAutoFit/>
          </a:bodyPr>
          <a:lstStyle/>
          <a:p>
            <a:pPr algn="l" indent="0" marL="0">
              <a:lnSpc>
                <a:spcPct val="104000"/>
              </a:lnSpc>
              <a:buNone/>
            </a:pPr>
            <a:r>
              <a:rPr lang="en-US" sz="650" b="1" dirty="0">
                <a:solidFill>
                  <a:srgbClr val="0A192F"/>
                </a:solidFill>
                <a:latin typeface="Space Grotesk Bold" pitchFamily="34" charset="0"/>
                <a:ea typeface="Space Grotesk Bold" pitchFamily="34" charset="-122"/>
                <a:cs typeface="Space Grotesk Bold" pitchFamily="34" charset="-120"/>
              </a:rPr>
              <a:t>Extraction time per URL</a:t>
            </a:r>
            <a:r>
              <a:rPr lang="en-US" sz="650" dirty="0">
                <a:solidFill>
                  <a:srgbClr val="1A2B4A"/>
                </a:solidFill>
                <a:latin typeface="Space Grotesk" pitchFamily="34" charset="0"/>
                <a:ea typeface="Space Grotesk" pitchFamily="34" charset="-122"/>
                <a:cs typeface="Space Grotesk" pitchFamily="34" charset="-120"/>
              </a:rPr>
              <a:t> — all 10 features computed from </a:t>
            </a:r>
            <a:r>
              <a:rPr lang="en-US" sz="650" dirty="0">
                <a:solidFill>
                  <a:srgbClr val="1A2B4A"/>
                </a:solidFill>
                <a:latin typeface="Space Grotesk" pitchFamily="34" charset="0"/>
                <a:ea typeface="Space Grotesk" pitchFamily="34" charset="-122"/>
                <a:cs typeface="Space Grotesk" pitchFamily="34" charset="-120"/>
              </a:rPr>
              <a:t>the URL string alone. No DNS, no WHOIS, no page loading </a:t>
            </a:r>
            <a:r>
              <a:rPr lang="en-US" sz="650" dirty="0">
                <a:solidFill>
                  <a:srgbClr val="1A2B4A"/>
                </a:solidFill>
                <a:latin typeface="Space Grotesk" pitchFamily="34" charset="0"/>
                <a:ea typeface="Space Grotesk" pitchFamily="34" charset="-122"/>
                <a:cs typeface="Space Grotesk" pitchFamily="34" charset="-120"/>
              </a:rPr>
              <a:t>required.</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794742"/>
          </a:xfrm>
          <a:prstGeom prst="rect">
            <a:avLst/>
          </a:prstGeom>
          <a:solidFill>
            <a:srgbClr val="0A192F"/>
          </a:solidFill>
          <a:ln/>
        </p:spPr>
      </p:sp>
      <p:sp>
        <p:nvSpPr>
          <p:cNvPr id="5" name="Text 1"/>
          <p:cNvSpPr/>
          <p:nvPr/>
        </p:nvSpPr>
        <p:spPr>
          <a:xfrm>
            <a:off x="400050" y="200025"/>
            <a:ext cx="3077170" cy="121444"/>
          </a:xfrm>
          <a:prstGeom prst="rect">
            <a:avLst/>
          </a:prstGeom>
          <a:noFill/>
          <a:ln/>
        </p:spPr>
        <p:txBody>
          <a:bodyPr wrap="square" lIns="0" tIns="0" rIns="0" bIns="0" rtlCol="0" anchor="t">
            <a:spAutoFit/>
          </a:bodyPr>
          <a:lstStyle/>
          <a:p>
            <a:pPr algn="l" indent="0" marL="0">
              <a:buNone/>
            </a:pPr>
            <a:r>
              <a:rPr lang="en-US" sz="650" spc="2" kern="0" dirty="0">
                <a:solidFill>
                  <a:srgbClr val="4A90D9"/>
                </a:solidFill>
                <a:latin typeface="DM Mono" pitchFamily="34" charset="0"/>
                <a:ea typeface="DM Mono" pitchFamily="34" charset="-122"/>
                <a:cs typeface="DM Mono" pitchFamily="34" charset="-120"/>
              </a:rPr>
              <a:t>06 / 10</a:t>
            </a:r>
            <a:endParaRPr lang="en-US" sz="650" dirty="0"/>
          </a:p>
        </p:txBody>
      </p:sp>
      <p:sp>
        <p:nvSpPr>
          <p:cNvPr id="6" name="Text 2"/>
          <p:cNvSpPr/>
          <p:nvPr/>
        </p:nvSpPr>
        <p:spPr>
          <a:xfrm>
            <a:off x="400050" y="350044"/>
            <a:ext cx="3077170" cy="273248"/>
          </a:xfrm>
          <a:prstGeom prst="rect">
            <a:avLst/>
          </a:prstGeom>
          <a:noFill/>
          <a:ln/>
        </p:spPr>
        <p:txBody>
          <a:bodyPr wrap="square" lIns="0" tIns="0" rIns="0" bIns="0" rtlCol="0" anchor="t">
            <a:spAutoFit/>
          </a:bodyPr>
          <a:lstStyle/>
          <a:p>
            <a:pPr algn="l" indent="0" marL="0">
              <a:buNone/>
            </a:pPr>
            <a:r>
              <a:rPr lang="en-US" sz="1500" b="1" dirty="0">
                <a:solidFill>
                  <a:srgbClr val="FFFFFF"/>
                </a:solidFill>
                <a:latin typeface="Space Grotesk Bold" pitchFamily="34" charset="0"/>
                <a:ea typeface="Space Grotesk Bold" pitchFamily="34" charset="-122"/>
                <a:cs typeface="Space Grotesk Bold" pitchFamily="34" charset="-120"/>
              </a:rPr>
              <a:t>Results — </a:t>
            </a:r>
            <a:r>
              <a:rPr lang="en-US" sz="1500" b="1" dirty="0">
                <a:solidFill>
                  <a:srgbClr val="4A90D9"/>
                </a:solidFill>
                <a:latin typeface="Space Grotesk Bold" pitchFamily="34" charset="0"/>
                <a:ea typeface="Space Grotesk Bold" pitchFamily="34" charset="-122"/>
                <a:cs typeface="Space Grotesk Bold" pitchFamily="34" charset="-120"/>
              </a:rPr>
              <a:t>Model Performance</a:t>
            </a:r>
            <a:endParaRPr lang="en-US" sz="1500" dirty="0"/>
          </a:p>
        </p:txBody>
      </p:sp>
      <p:sp>
        <p:nvSpPr>
          <p:cNvPr id="7" name="Text 3"/>
          <p:cNvSpPr/>
          <p:nvPr/>
        </p:nvSpPr>
        <p:spPr>
          <a:xfrm>
            <a:off x="400050" y="994767"/>
            <a:ext cx="4997751"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TEST SET PERFORMANCE — 128,211 URLS</a:t>
            </a:r>
            <a:endParaRPr lang="en-US" sz="550" dirty="0"/>
          </a:p>
        </p:txBody>
      </p:sp>
      <p:sp>
        <p:nvSpPr>
          <p:cNvPr id="8" name="Shape 4"/>
          <p:cNvSpPr/>
          <p:nvPr/>
        </p:nvSpPr>
        <p:spPr>
          <a:xfrm>
            <a:off x="407194" y="1219795"/>
            <a:ext cx="1141158" cy="257175"/>
          </a:xfrm>
          <a:prstGeom prst="rect">
            <a:avLst/>
          </a:prstGeom>
          <a:solidFill>
            <a:srgbClr val="0A192F"/>
          </a:solidFill>
          <a:ln/>
        </p:spPr>
      </p:sp>
      <p:sp>
        <p:nvSpPr>
          <p:cNvPr id="9" name="Shape 5"/>
          <p:cNvSpPr/>
          <p:nvPr/>
        </p:nvSpPr>
        <p:spPr>
          <a:xfrm>
            <a:off x="1541208" y="1219795"/>
            <a:ext cx="7144" cy="257175"/>
          </a:xfrm>
          <a:prstGeom prst="rect">
            <a:avLst/>
          </a:prstGeom>
          <a:solidFill>
            <a:srgbClr val="1E3A5F"/>
          </a:solidFill>
          <a:ln/>
        </p:spPr>
      </p:sp>
      <p:sp>
        <p:nvSpPr>
          <p:cNvPr id="10" name="Text 6"/>
          <p:cNvSpPr/>
          <p:nvPr/>
        </p:nvSpPr>
        <p:spPr>
          <a:xfrm>
            <a:off x="407194" y="1219795"/>
            <a:ext cx="1141158" cy="257175"/>
          </a:xfrm>
          <a:prstGeom prst="rect">
            <a:avLst/>
          </a:prstGeom>
          <a:noFill/>
          <a:ln/>
        </p:spPr>
        <p:txBody>
          <a:bodyPr wrap="none" lIns="102108" tIns="85090" rIns="102108" bIns="85090" rtlCol="0" anchor="ctr">
            <a:spAutoFit/>
          </a:bodyPr>
          <a:lstStyle/>
          <a:p>
            <a:pPr algn="l" indent="0" marL="0">
              <a:buNone/>
            </a:pPr>
            <a:r>
              <a:rPr lang="en-US" sz="550" spc="1" kern="0" dirty="0">
                <a:solidFill>
                  <a:srgbClr val="8BA4C0"/>
                </a:solidFill>
                <a:latin typeface="DM Mono Medium" pitchFamily="34" charset="0"/>
                <a:ea typeface="DM Mono Medium" pitchFamily="34" charset="-122"/>
                <a:cs typeface="DM Mono Medium" pitchFamily="34" charset="-120"/>
              </a:rPr>
              <a:t>MODEL</a:t>
            </a:r>
            <a:endParaRPr lang="en-US" sz="550" dirty="0"/>
          </a:p>
        </p:txBody>
      </p:sp>
      <p:sp>
        <p:nvSpPr>
          <p:cNvPr id="11" name="Shape 7"/>
          <p:cNvSpPr/>
          <p:nvPr/>
        </p:nvSpPr>
        <p:spPr>
          <a:xfrm>
            <a:off x="1549217" y="1219795"/>
            <a:ext cx="680610" cy="257175"/>
          </a:xfrm>
          <a:prstGeom prst="rect">
            <a:avLst/>
          </a:prstGeom>
          <a:solidFill>
            <a:srgbClr val="0A192F"/>
          </a:solidFill>
          <a:ln/>
        </p:spPr>
      </p:sp>
      <p:sp>
        <p:nvSpPr>
          <p:cNvPr id="12" name="Shape 8"/>
          <p:cNvSpPr/>
          <p:nvPr/>
        </p:nvSpPr>
        <p:spPr>
          <a:xfrm>
            <a:off x="2222683" y="1219795"/>
            <a:ext cx="7144" cy="257175"/>
          </a:xfrm>
          <a:prstGeom prst="rect">
            <a:avLst/>
          </a:prstGeom>
          <a:solidFill>
            <a:srgbClr val="1E3A5F"/>
          </a:solidFill>
          <a:ln/>
        </p:spPr>
      </p:sp>
      <p:sp>
        <p:nvSpPr>
          <p:cNvPr id="13" name="Text 9"/>
          <p:cNvSpPr/>
          <p:nvPr/>
        </p:nvSpPr>
        <p:spPr>
          <a:xfrm>
            <a:off x="1549217" y="1219795"/>
            <a:ext cx="680610" cy="257175"/>
          </a:xfrm>
          <a:prstGeom prst="rect">
            <a:avLst/>
          </a:prstGeom>
          <a:noFill/>
          <a:ln/>
        </p:spPr>
        <p:txBody>
          <a:bodyPr wrap="none" lIns="102108" tIns="85090" rIns="102108" bIns="85090" rtlCol="0" anchor="ctr">
            <a:spAutoFit/>
          </a:bodyPr>
          <a:lstStyle/>
          <a:p>
            <a:pPr algn="l" indent="0" marL="0">
              <a:buNone/>
            </a:pPr>
            <a:r>
              <a:rPr lang="en-US" sz="550" spc="1" kern="0" dirty="0">
                <a:solidFill>
                  <a:srgbClr val="8BA4C0"/>
                </a:solidFill>
                <a:latin typeface="DM Mono Medium" pitchFamily="34" charset="0"/>
                <a:ea typeface="DM Mono Medium" pitchFamily="34" charset="-122"/>
                <a:cs typeface="DM Mono Medium" pitchFamily="34" charset="-120"/>
              </a:rPr>
              <a:t>ACCURACY</a:t>
            </a:r>
            <a:endParaRPr lang="en-US" sz="550" dirty="0"/>
          </a:p>
        </p:txBody>
      </p:sp>
      <p:sp>
        <p:nvSpPr>
          <p:cNvPr id="14" name="Shape 10"/>
          <p:cNvSpPr/>
          <p:nvPr/>
        </p:nvSpPr>
        <p:spPr>
          <a:xfrm>
            <a:off x="2228766" y="1219795"/>
            <a:ext cx="743257" cy="257175"/>
          </a:xfrm>
          <a:prstGeom prst="rect">
            <a:avLst/>
          </a:prstGeom>
          <a:solidFill>
            <a:srgbClr val="0A192F"/>
          </a:solidFill>
          <a:ln/>
        </p:spPr>
      </p:sp>
      <p:sp>
        <p:nvSpPr>
          <p:cNvPr id="15" name="Shape 11"/>
          <p:cNvSpPr/>
          <p:nvPr/>
        </p:nvSpPr>
        <p:spPr>
          <a:xfrm>
            <a:off x="2964879" y="1219795"/>
            <a:ext cx="7144" cy="257175"/>
          </a:xfrm>
          <a:prstGeom prst="rect">
            <a:avLst/>
          </a:prstGeom>
          <a:solidFill>
            <a:srgbClr val="1E3A5F"/>
          </a:solidFill>
          <a:ln/>
        </p:spPr>
      </p:sp>
      <p:sp>
        <p:nvSpPr>
          <p:cNvPr id="16" name="Text 12"/>
          <p:cNvSpPr/>
          <p:nvPr/>
        </p:nvSpPr>
        <p:spPr>
          <a:xfrm>
            <a:off x="2228766" y="1219795"/>
            <a:ext cx="743257" cy="257175"/>
          </a:xfrm>
          <a:prstGeom prst="rect">
            <a:avLst/>
          </a:prstGeom>
          <a:noFill/>
          <a:ln/>
        </p:spPr>
        <p:txBody>
          <a:bodyPr wrap="none" lIns="102108" tIns="85090" rIns="102108" bIns="85090" rtlCol="0" anchor="ctr">
            <a:spAutoFit/>
          </a:bodyPr>
          <a:lstStyle/>
          <a:p>
            <a:pPr algn="l" indent="0" marL="0">
              <a:buNone/>
            </a:pPr>
            <a:r>
              <a:rPr lang="en-US" sz="550" spc="1" kern="0" dirty="0">
                <a:solidFill>
                  <a:srgbClr val="8BA4C0"/>
                </a:solidFill>
                <a:latin typeface="DM Mono Medium" pitchFamily="34" charset="0"/>
                <a:ea typeface="DM Mono Medium" pitchFamily="34" charset="-122"/>
                <a:cs typeface="DM Mono Medium" pitchFamily="34" charset="-120"/>
              </a:rPr>
              <a:t>PRECISION</a:t>
            </a:r>
            <a:endParaRPr lang="en-US" sz="550" dirty="0"/>
          </a:p>
        </p:txBody>
      </p:sp>
      <p:sp>
        <p:nvSpPr>
          <p:cNvPr id="17" name="Shape 13"/>
          <p:cNvSpPr/>
          <p:nvPr/>
        </p:nvSpPr>
        <p:spPr>
          <a:xfrm>
            <a:off x="2970181" y="1219795"/>
            <a:ext cx="585815" cy="257175"/>
          </a:xfrm>
          <a:prstGeom prst="rect">
            <a:avLst/>
          </a:prstGeom>
          <a:solidFill>
            <a:srgbClr val="0A192F"/>
          </a:solidFill>
          <a:ln/>
        </p:spPr>
      </p:sp>
      <p:sp>
        <p:nvSpPr>
          <p:cNvPr id="18" name="Shape 14"/>
          <p:cNvSpPr/>
          <p:nvPr/>
        </p:nvSpPr>
        <p:spPr>
          <a:xfrm>
            <a:off x="3548853" y="1219795"/>
            <a:ext cx="7144" cy="257175"/>
          </a:xfrm>
          <a:prstGeom prst="rect">
            <a:avLst/>
          </a:prstGeom>
          <a:solidFill>
            <a:srgbClr val="1E3A5F"/>
          </a:solidFill>
          <a:ln/>
        </p:spPr>
      </p:sp>
      <p:sp>
        <p:nvSpPr>
          <p:cNvPr id="19" name="Text 15"/>
          <p:cNvSpPr/>
          <p:nvPr/>
        </p:nvSpPr>
        <p:spPr>
          <a:xfrm>
            <a:off x="2970181" y="1219795"/>
            <a:ext cx="585815" cy="257175"/>
          </a:xfrm>
          <a:prstGeom prst="rect">
            <a:avLst/>
          </a:prstGeom>
          <a:noFill/>
          <a:ln/>
        </p:spPr>
        <p:txBody>
          <a:bodyPr wrap="none" lIns="102108" tIns="85090" rIns="102108" bIns="85090" rtlCol="0" anchor="ctr">
            <a:spAutoFit/>
          </a:bodyPr>
          <a:lstStyle/>
          <a:p>
            <a:pPr algn="l" indent="0" marL="0">
              <a:buNone/>
            </a:pPr>
            <a:r>
              <a:rPr lang="en-US" sz="550" spc="1" kern="0" dirty="0">
                <a:solidFill>
                  <a:srgbClr val="8BA4C0"/>
                </a:solidFill>
                <a:latin typeface="DM Mono Medium" pitchFamily="34" charset="0"/>
                <a:ea typeface="DM Mono Medium" pitchFamily="34" charset="-122"/>
                <a:cs typeface="DM Mono Medium" pitchFamily="34" charset="-120"/>
              </a:rPr>
              <a:t>RECALL</a:t>
            </a:r>
            <a:endParaRPr lang="en-US" sz="550" dirty="0"/>
          </a:p>
        </p:txBody>
      </p:sp>
      <p:sp>
        <p:nvSpPr>
          <p:cNvPr id="20" name="Shape 16"/>
          <p:cNvSpPr/>
          <p:nvPr/>
        </p:nvSpPr>
        <p:spPr>
          <a:xfrm>
            <a:off x="3558453" y="1219795"/>
            <a:ext cx="682703" cy="257175"/>
          </a:xfrm>
          <a:prstGeom prst="rect">
            <a:avLst/>
          </a:prstGeom>
          <a:solidFill>
            <a:srgbClr val="0A192F"/>
          </a:solidFill>
          <a:ln/>
        </p:spPr>
      </p:sp>
      <p:sp>
        <p:nvSpPr>
          <p:cNvPr id="21" name="Shape 17"/>
          <p:cNvSpPr/>
          <p:nvPr/>
        </p:nvSpPr>
        <p:spPr>
          <a:xfrm>
            <a:off x="4234011" y="1219795"/>
            <a:ext cx="7144" cy="257175"/>
          </a:xfrm>
          <a:prstGeom prst="rect">
            <a:avLst/>
          </a:prstGeom>
          <a:solidFill>
            <a:srgbClr val="1E3A5F"/>
          </a:solidFill>
          <a:ln/>
        </p:spPr>
      </p:sp>
      <p:sp>
        <p:nvSpPr>
          <p:cNvPr id="22" name="Text 18"/>
          <p:cNvSpPr/>
          <p:nvPr/>
        </p:nvSpPr>
        <p:spPr>
          <a:xfrm>
            <a:off x="3558453" y="1219795"/>
            <a:ext cx="682703" cy="257175"/>
          </a:xfrm>
          <a:prstGeom prst="rect">
            <a:avLst/>
          </a:prstGeom>
          <a:noFill/>
          <a:ln/>
        </p:spPr>
        <p:txBody>
          <a:bodyPr wrap="none" lIns="102108" tIns="85090" rIns="102108" bIns="85090" rtlCol="0" anchor="ctr">
            <a:spAutoFit/>
          </a:bodyPr>
          <a:lstStyle/>
          <a:p>
            <a:pPr algn="l" indent="0" marL="0">
              <a:buNone/>
            </a:pPr>
            <a:r>
              <a:rPr lang="en-US" sz="550" spc="1" kern="0" dirty="0">
                <a:solidFill>
                  <a:srgbClr val="8BA4C0"/>
                </a:solidFill>
                <a:latin typeface="DM Mono Medium" pitchFamily="34" charset="0"/>
                <a:ea typeface="DM Mono Medium" pitchFamily="34" charset="-122"/>
                <a:cs typeface="DM Mono Medium" pitchFamily="34" charset="-120"/>
              </a:rPr>
              <a:t>F1-SCORE</a:t>
            </a:r>
            <a:endParaRPr lang="en-US" sz="550" dirty="0"/>
          </a:p>
        </p:txBody>
      </p:sp>
      <p:sp>
        <p:nvSpPr>
          <p:cNvPr id="23" name="Shape 19"/>
          <p:cNvSpPr/>
          <p:nvPr/>
        </p:nvSpPr>
        <p:spPr>
          <a:xfrm>
            <a:off x="4240290" y="1219795"/>
            <a:ext cx="521103" cy="257175"/>
          </a:xfrm>
          <a:prstGeom prst="rect">
            <a:avLst/>
          </a:prstGeom>
          <a:solidFill>
            <a:srgbClr val="0A192F"/>
          </a:solidFill>
          <a:ln/>
        </p:spPr>
      </p:sp>
      <p:sp>
        <p:nvSpPr>
          <p:cNvPr id="24" name="Shape 20"/>
          <p:cNvSpPr/>
          <p:nvPr/>
        </p:nvSpPr>
        <p:spPr>
          <a:xfrm>
            <a:off x="4754249" y="1219795"/>
            <a:ext cx="7144" cy="257175"/>
          </a:xfrm>
          <a:prstGeom prst="rect">
            <a:avLst/>
          </a:prstGeom>
          <a:solidFill>
            <a:srgbClr val="1E3A5F"/>
          </a:solidFill>
          <a:ln/>
        </p:spPr>
      </p:sp>
      <p:sp>
        <p:nvSpPr>
          <p:cNvPr id="25" name="Text 21"/>
          <p:cNvSpPr/>
          <p:nvPr/>
        </p:nvSpPr>
        <p:spPr>
          <a:xfrm>
            <a:off x="4240290" y="1219795"/>
            <a:ext cx="521103" cy="257175"/>
          </a:xfrm>
          <a:prstGeom prst="rect">
            <a:avLst/>
          </a:prstGeom>
          <a:noFill/>
          <a:ln/>
        </p:spPr>
        <p:txBody>
          <a:bodyPr wrap="none" lIns="102108" tIns="85090" rIns="102108" bIns="85090" rtlCol="0" anchor="ctr">
            <a:spAutoFit/>
          </a:bodyPr>
          <a:lstStyle/>
          <a:p>
            <a:pPr algn="l" indent="0" marL="0">
              <a:buNone/>
            </a:pPr>
            <a:r>
              <a:rPr lang="en-US" sz="550" spc="1" kern="0" dirty="0">
                <a:solidFill>
                  <a:srgbClr val="8BA4C0"/>
                </a:solidFill>
                <a:latin typeface="DM Mono Medium" pitchFamily="34" charset="0"/>
                <a:ea typeface="DM Mono Medium" pitchFamily="34" charset="-122"/>
                <a:cs typeface="DM Mono Medium" pitchFamily="34" charset="-120"/>
              </a:rPr>
              <a:t>FPR</a:t>
            </a:r>
            <a:endParaRPr lang="en-US" sz="550" dirty="0"/>
          </a:p>
        </p:txBody>
      </p:sp>
      <p:sp>
        <p:nvSpPr>
          <p:cNvPr id="26" name="Shape 22"/>
          <p:cNvSpPr/>
          <p:nvPr/>
        </p:nvSpPr>
        <p:spPr>
          <a:xfrm>
            <a:off x="4764798" y="1219795"/>
            <a:ext cx="625859" cy="257175"/>
          </a:xfrm>
          <a:prstGeom prst="rect">
            <a:avLst/>
          </a:prstGeom>
          <a:solidFill>
            <a:srgbClr val="0A192F"/>
          </a:solidFill>
          <a:ln/>
        </p:spPr>
      </p:sp>
      <p:sp>
        <p:nvSpPr>
          <p:cNvPr id="27" name="Text 23"/>
          <p:cNvSpPr/>
          <p:nvPr/>
        </p:nvSpPr>
        <p:spPr>
          <a:xfrm>
            <a:off x="4764798" y="1219795"/>
            <a:ext cx="625859" cy="257175"/>
          </a:xfrm>
          <a:prstGeom prst="rect">
            <a:avLst/>
          </a:prstGeom>
          <a:noFill/>
          <a:ln/>
        </p:spPr>
        <p:txBody>
          <a:bodyPr wrap="none" lIns="102108" tIns="85090" rIns="102108" bIns="85090" rtlCol="0" anchor="ctr">
            <a:spAutoFit/>
          </a:bodyPr>
          <a:lstStyle/>
          <a:p>
            <a:pPr algn="l" indent="0" marL="0">
              <a:buNone/>
            </a:pPr>
            <a:r>
              <a:rPr lang="en-US" sz="550" spc="1" kern="0" dirty="0">
                <a:solidFill>
                  <a:srgbClr val="8BA4C0"/>
                </a:solidFill>
                <a:latin typeface="DM Mono Medium" pitchFamily="34" charset="0"/>
                <a:ea typeface="DM Mono Medium" pitchFamily="34" charset="-122"/>
                <a:cs typeface="DM Mono Medium" pitchFamily="34" charset="-120"/>
              </a:rPr>
              <a:t>ROC AUC</a:t>
            </a:r>
            <a:endParaRPr lang="en-US" sz="550" dirty="0"/>
          </a:p>
        </p:txBody>
      </p:sp>
      <p:sp>
        <p:nvSpPr>
          <p:cNvPr id="28" name="Shape 24"/>
          <p:cNvSpPr/>
          <p:nvPr/>
        </p:nvSpPr>
        <p:spPr>
          <a:xfrm>
            <a:off x="407194" y="1476970"/>
            <a:ext cx="4983463" cy="308967"/>
          </a:xfrm>
          <a:prstGeom prst="rect">
            <a:avLst/>
          </a:prstGeom>
          <a:solidFill>
            <a:srgbClr val="EEF4FB"/>
          </a:solidFill>
          <a:ln/>
        </p:spPr>
      </p:sp>
      <p:sp>
        <p:nvSpPr>
          <p:cNvPr id="29" name="Text 25"/>
          <p:cNvSpPr/>
          <p:nvPr/>
        </p:nvSpPr>
        <p:spPr>
          <a:xfrm>
            <a:off x="407194" y="1476970"/>
            <a:ext cx="1147353" cy="308967"/>
          </a:xfrm>
          <a:prstGeom prst="rect">
            <a:avLst/>
          </a:prstGeom>
          <a:noFill/>
          <a:ln/>
        </p:spPr>
        <p:txBody>
          <a:bodyPr wrap="none" lIns="102108" tIns="102108" rIns="102108" bIns="102108" rtlCol="0" anchor="ctr">
            <a:spAutoFit/>
          </a:bodyPr>
          <a:lstStyle/>
          <a:p>
            <a:pPr algn="l" indent="0" marL="0">
              <a:buNone/>
            </a:pPr>
            <a:r>
              <a:rPr lang="en-US" sz="650" dirty="0">
                <a:solidFill>
                  <a:srgbClr val="0A192F"/>
                </a:solidFill>
                <a:latin typeface="Space Grotesk SemiBold" pitchFamily="34" charset="0"/>
                <a:ea typeface="Space Grotesk SemiBold" pitchFamily="34" charset="-122"/>
                <a:cs typeface="Space Grotesk SemiBold" pitchFamily="34" charset="-120"/>
              </a:rPr>
              <a:t>Logistic Regression</a:t>
            </a:r>
            <a:endParaRPr lang="en-US" sz="650" dirty="0"/>
          </a:p>
        </p:txBody>
      </p:sp>
      <p:sp>
        <p:nvSpPr>
          <p:cNvPr id="30" name="Text 26"/>
          <p:cNvSpPr/>
          <p:nvPr/>
        </p:nvSpPr>
        <p:spPr>
          <a:xfrm>
            <a:off x="1554547" y="1476970"/>
            <a:ext cx="679912" cy="308967"/>
          </a:xfrm>
          <a:prstGeom prst="rect">
            <a:avLst/>
          </a:prstGeom>
          <a:noFill/>
          <a:ln/>
        </p:spPr>
        <p:txBody>
          <a:bodyPr wrap="none" lIns="102108" tIns="102108" rIns="102108" bIns="102108" rtlCol="0" anchor="ctr">
            <a:spAutoFit/>
          </a:bodyPr>
          <a:lstStyle/>
          <a:p>
            <a:pPr algn="l" indent="0" marL="0">
              <a:buNone/>
            </a:pPr>
            <a:r>
              <a:rPr lang="en-US" sz="750" dirty="0">
                <a:solidFill>
                  <a:srgbClr val="1A2B4A"/>
                </a:solidFill>
                <a:latin typeface="DM Mono" pitchFamily="34" charset="0"/>
                <a:ea typeface="DM Mono" pitchFamily="34" charset="-122"/>
                <a:cs typeface="DM Mono" pitchFamily="34" charset="-120"/>
              </a:rPr>
              <a:t>78.94%</a:t>
            </a:r>
            <a:endParaRPr lang="en-US" sz="750" dirty="0"/>
          </a:p>
        </p:txBody>
      </p:sp>
      <p:sp>
        <p:nvSpPr>
          <p:cNvPr id="31" name="Text 27"/>
          <p:cNvSpPr/>
          <p:nvPr/>
        </p:nvSpPr>
        <p:spPr>
          <a:xfrm>
            <a:off x="2234459" y="1476970"/>
            <a:ext cx="741722" cy="308967"/>
          </a:xfrm>
          <a:prstGeom prst="rect">
            <a:avLst/>
          </a:prstGeom>
          <a:noFill/>
          <a:ln/>
        </p:spPr>
        <p:txBody>
          <a:bodyPr wrap="none" lIns="102108" tIns="102108" rIns="102108" bIns="102108" rtlCol="0" anchor="ctr">
            <a:spAutoFit/>
          </a:bodyPr>
          <a:lstStyle/>
          <a:p>
            <a:pPr algn="l" indent="0" marL="0">
              <a:buNone/>
            </a:pPr>
            <a:r>
              <a:rPr lang="en-US" sz="750" dirty="0">
                <a:solidFill>
                  <a:srgbClr val="1A2B4A"/>
                </a:solidFill>
                <a:latin typeface="DM Mono" pitchFamily="34" charset="0"/>
                <a:ea typeface="DM Mono" pitchFamily="34" charset="-122"/>
                <a:cs typeface="DM Mono" pitchFamily="34" charset="-120"/>
              </a:rPr>
              <a:t>0.7883</a:t>
            </a:r>
            <a:endParaRPr lang="en-US" sz="750" dirty="0"/>
          </a:p>
        </p:txBody>
      </p:sp>
      <p:sp>
        <p:nvSpPr>
          <p:cNvPr id="32" name="Text 28"/>
          <p:cNvSpPr/>
          <p:nvPr/>
        </p:nvSpPr>
        <p:spPr>
          <a:xfrm>
            <a:off x="2976181" y="1476970"/>
            <a:ext cx="587183" cy="308967"/>
          </a:xfrm>
          <a:prstGeom prst="rect">
            <a:avLst/>
          </a:prstGeom>
          <a:noFill/>
          <a:ln/>
        </p:spPr>
        <p:txBody>
          <a:bodyPr wrap="none" lIns="102108" tIns="102108" rIns="102108" bIns="102108" rtlCol="0" anchor="ctr">
            <a:spAutoFit/>
          </a:bodyPr>
          <a:lstStyle/>
          <a:p>
            <a:pPr algn="l" indent="0" marL="0">
              <a:buNone/>
            </a:pPr>
            <a:r>
              <a:rPr lang="en-US" sz="750" dirty="0">
                <a:solidFill>
                  <a:srgbClr val="1A2B4A"/>
                </a:solidFill>
                <a:latin typeface="DM Mono" pitchFamily="34" charset="0"/>
                <a:ea typeface="DM Mono" pitchFamily="34" charset="-122"/>
                <a:cs typeface="DM Mono" pitchFamily="34" charset="-120"/>
              </a:rPr>
              <a:t>0.5008</a:t>
            </a:r>
            <a:endParaRPr lang="en-US" sz="750" dirty="0"/>
          </a:p>
        </p:txBody>
      </p:sp>
      <p:sp>
        <p:nvSpPr>
          <p:cNvPr id="33" name="Text 29"/>
          <p:cNvSpPr/>
          <p:nvPr/>
        </p:nvSpPr>
        <p:spPr>
          <a:xfrm>
            <a:off x="3563364" y="1476970"/>
            <a:ext cx="679912" cy="308967"/>
          </a:xfrm>
          <a:prstGeom prst="rect">
            <a:avLst/>
          </a:prstGeom>
          <a:noFill/>
          <a:ln/>
        </p:spPr>
        <p:txBody>
          <a:bodyPr wrap="none" lIns="102108" tIns="102108" rIns="102108" bIns="102108" rtlCol="0" anchor="ctr">
            <a:spAutoFit/>
          </a:bodyPr>
          <a:lstStyle/>
          <a:p>
            <a:pPr algn="l" indent="0" marL="0">
              <a:buNone/>
            </a:pPr>
            <a:r>
              <a:rPr lang="en-US" sz="750" dirty="0">
                <a:solidFill>
                  <a:srgbClr val="1A2B4A"/>
                </a:solidFill>
                <a:latin typeface="DM Mono" pitchFamily="34" charset="0"/>
                <a:ea typeface="DM Mono" pitchFamily="34" charset="-122"/>
                <a:cs typeface="DM Mono" pitchFamily="34" charset="-120"/>
              </a:rPr>
              <a:t>0.6125</a:t>
            </a:r>
            <a:endParaRPr lang="en-US" sz="750" dirty="0"/>
          </a:p>
        </p:txBody>
      </p:sp>
      <p:sp>
        <p:nvSpPr>
          <p:cNvPr id="34" name="Text 30"/>
          <p:cNvSpPr/>
          <p:nvPr/>
        </p:nvSpPr>
        <p:spPr>
          <a:xfrm>
            <a:off x="4243276" y="1476970"/>
            <a:ext cx="521522" cy="308967"/>
          </a:xfrm>
          <a:prstGeom prst="rect">
            <a:avLst/>
          </a:prstGeom>
          <a:noFill/>
          <a:ln/>
        </p:spPr>
        <p:txBody>
          <a:bodyPr wrap="none" lIns="102108" tIns="102108" rIns="102108" bIns="102108" rtlCol="0" anchor="ctr">
            <a:spAutoFit/>
          </a:bodyPr>
          <a:lstStyle/>
          <a:p>
            <a:pPr algn="l" indent="0" marL="0">
              <a:buNone/>
            </a:pPr>
            <a:r>
              <a:rPr lang="en-US" sz="750" dirty="0">
                <a:solidFill>
                  <a:srgbClr val="1A2B4A"/>
                </a:solidFill>
                <a:latin typeface="DM Mono" pitchFamily="34" charset="0"/>
                <a:ea typeface="DM Mono" pitchFamily="34" charset="-122"/>
                <a:cs typeface="DM Mono" pitchFamily="34" charset="-120"/>
              </a:rPr>
              <a:t>6.69%</a:t>
            </a:r>
            <a:endParaRPr lang="en-US" sz="750" dirty="0"/>
          </a:p>
        </p:txBody>
      </p:sp>
      <p:sp>
        <p:nvSpPr>
          <p:cNvPr id="35" name="Text 31"/>
          <p:cNvSpPr/>
          <p:nvPr/>
        </p:nvSpPr>
        <p:spPr>
          <a:xfrm>
            <a:off x="4764798" y="1476970"/>
            <a:ext cx="625859" cy="308967"/>
          </a:xfrm>
          <a:prstGeom prst="rect">
            <a:avLst/>
          </a:prstGeom>
          <a:noFill/>
          <a:ln/>
        </p:spPr>
        <p:txBody>
          <a:bodyPr wrap="none" lIns="102108" tIns="102108" rIns="102108" bIns="102108" rtlCol="0" anchor="ctr">
            <a:spAutoFit/>
          </a:bodyPr>
          <a:lstStyle/>
          <a:p>
            <a:pPr algn="l" indent="0" marL="0">
              <a:buNone/>
            </a:pPr>
            <a:r>
              <a:rPr lang="en-US" sz="750" dirty="0">
                <a:solidFill>
                  <a:srgbClr val="1A2B4A"/>
                </a:solidFill>
                <a:latin typeface="DM Mono" pitchFamily="34" charset="0"/>
                <a:ea typeface="DM Mono" pitchFamily="34" charset="-122"/>
                <a:cs typeface="DM Mono" pitchFamily="34" charset="-120"/>
              </a:rPr>
              <a:t>0.8241</a:t>
            </a:r>
            <a:endParaRPr lang="en-US" sz="750" dirty="0"/>
          </a:p>
        </p:txBody>
      </p:sp>
      <p:sp>
        <p:nvSpPr>
          <p:cNvPr id="36" name="Shape 32"/>
          <p:cNvSpPr/>
          <p:nvPr/>
        </p:nvSpPr>
        <p:spPr>
          <a:xfrm>
            <a:off x="407194" y="1785938"/>
            <a:ext cx="4983463" cy="308967"/>
          </a:xfrm>
          <a:prstGeom prst="rect">
            <a:avLst/>
          </a:prstGeom>
          <a:solidFill>
            <a:srgbClr val="0A192F"/>
          </a:solidFill>
          <a:ln/>
        </p:spPr>
      </p:sp>
      <p:sp>
        <p:nvSpPr>
          <p:cNvPr id="37" name="Text 33"/>
          <p:cNvSpPr/>
          <p:nvPr/>
        </p:nvSpPr>
        <p:spPr>
          <a:xfrm>
            <a:off x="407194" y="1785938"/>
            <a:ext cx="1147353" cy="308967"/>
          </a:xfrm>
          <a:prstGeom prst="rect">
            <a:avLst/>
          </a:prstGeom>
          <a:noFill/>
          <a:ln/>
        </p:spPr>
        <p:txBody>
          <a:bodyPr wrap="none" lIns="102108" tIns="102108" rIns="102108" bIns="102108" rtlCol="0" anchor="ctr">
            <a:spAutoFit/>
          </a:bodyPr>
          <a:lstStyle/>
          <a:p>
            <a:pPr algn="l" indent="0" marL="0">
              <a:buNone/>
            </a:pPr>
            <a:r>
              <a:rPr lang="en-US" sz="650" b="1" dirty="0">
                <a:solidFill>
                  <a:srgbClr val="4A90D9"/>
                </a:solidFill>
                <a:latin typeface="Space Grotesk Bold" pitchFamily="34" charset="0"/>
                <a:ea typeface="Space Grotesk Bold" pitchFamily="34" charset="-122"/>
                <a:cs typeface="Space Grotesk Bold" pitchFamily="34" charset="-120"/>
              </a:rPr>
              <a:t>Random Forest ★</a:t>
            </a:r>
            <a:endParaRPr lang="en-US" sz="650" dirty="0"/>
          </a:p>
        </p:txBody>
      </p:sp>
      <p:sp>
        <p:nvSpPr>
          <p:cNvPr id="38" name="Text 34"/>
          <p:cNvSpPr/>
          <p:nvPr/>
        </p:nvSpPr>
        <p:spPr>
          <a:xfrm>
            <a:off x="1554547" y="1785938"/>
            <a:ext cx="679912" cy="308967"/>
          </a:xfrm>
          <a:prstGeom prst="rect">
            <a:avLst/>
          </a:prstGeom>
          <a:noFill/>
          <a:ln/>
        </p:spPr>
        <p:txBody>
          <a:bodyPr wrap="none" lIns="102108" tIns="102108" rIns="102108" bIns="102108" rtlCol="0" anchor="ctr">
            <a:spAutoFit/>
          </a:bodyPr>
          <a:lstStyle/>
          <a:p>
            <a:pPr algn="l" indent="0" marL="0">
              <a:buNone/>
            </a:pPr>
            <a:r>
              <a:rPr lang="en-US" sz="700" b="1" dirty="0">
                <a:solidFill>
                  <a:srgbClr val="FFFFFF"/>
                </a:solidFill>
                <a:latin typeface="DM Mono Medium" pitchFamily="34" charset="0"/>
                <a:ea typeface="DM Mono Medium" pitchFamily="34" charset="-122"/>
                <a:cs typeface="DM Mono Medium" pitchFamily="34" charset="-120"/>
              </a:rPr>
              <a:t>94.03%</a:t>
            </a:r>
            <a:endParaRPr lang="en-US" sz="700" dirty="0"/>
          </a:p>
        </p:txBody>
      </p:sp>
      <p:sp>
        <p:nvSpPr>
          <p:cNvPr id="39" name="Text 35"/>
          <p:cNvSpPr/>
          <p:nvPr/>
        </p:nvSpPr>
        <p:spPr>
          <a:xfrm>
            <a:off x="2234459" y="1785938"/>
            <a:ext cx="741722" cy="308967"/>
          </a:xfrm>
          <a:prstGeom prst="rect">
            <a:avLst/>
          </a:prstGeom>
          <a:noFill/>
          <a:ln/>
        </p:spPr>
        <p:txBody>
          <a:bodyPr wrap="none" lIns="102108" tIns="102108" rIns="102108" bIns="102108" rtlCol="0" anchor="ctr">
            <a:spAutoFit/>
          </a:bodyPr>
          <a:lstStyle/>
          <a:p>
            <a:pPr algn="l" indent="0" marL="0">
              <a:buNone/>
            </a:pPr>
            <a:r>
              <a:rPr lang="en-US" sz="700" b="1" dirty="0">
                <a:solidFill>
                  <a:srgbClr val="FFFFFF"/>
                </a:solidFill>
                <a:latin typeface="DM Mono Medium" pitchFamily="34" charset="0"/>
                <a:ea typeface="DM Mono Medium" pitchFamily="34" charset="-122"/>
                <a:cs typeface="DM Mono Medium" pitchFamily="34" charset="-120"/>
              </a:rPr>
              <a:t>0.8946</a:t>
            </a:r>
            <a:endParaRPr lang="en-US" sz="700" dirty="0"/>
          </a:p>
        </p:txBody>
      </p:sp>
      <p:sp>
        <p:nvSpPr>
          <p:cNvPr id="40" name="Text 36"/>
          <p:cNvSpPr/>
          <p:nvPr/>
        </p:nvSpPr>
        <p:spPr>
          <a:xfrm>
            <a:off x="2976181" y="1785938"/>
            <a:ext cx="587183" cy="308967"/>
          </a:xfrm>
          <a:prstGeom prst="rect">
            <a:avLst/>
          </a:prstGeom>
          <a:noFill/>
          <a:ln/>
        </p:spPr>
        <p:txBody>
          <a:bodyPr wrap="none" lIns="102108" tIns="102108" rIns="102108" bIns="102108" rtlCol="0" anchor="ctr">
            <a:spAutoFit/>
          </a:bodyPr>
          <a:lstStyle/>
          <a:p>
            <a:pPr algn="l" indent="0" marL="0">
              <a:buNone/>
            </a:pPr>
            <a:r>
              <a:rPr lang="en-US" sz="700" b="1" dirty="0">
                <a:solidFill>
                  <a:srgbClr val="FFFFFF"/>
                </a:solidFill>
                <a:latin typeface="DM Mono Medium" pitchFamily="34" charset="0"/>
                <a:ea typeface="DM Mono Medium" pitchFamily="34" charset="-122"/>
                <a:cs typeface="DM Mono Medium" pitchFamily="34" charset="-120"/>
              </a:rPr>
              <a:t>0.9300</a:t>
            </a:r>
            <a:endParaRPr lang="en-US" sz="700" dirty="0"/>
          </a:p>
        </p:txBody>
      </p:sp>
      <p:sp>
        <p:nvSpPr>
          <p:cNvPr id="41" name="Text 37"/>
          <p:cNvSpPr/>
          <p:nvPr/>
        </p:nvSpPr>
        <p:spPr>
          <a:xfrm>
            <a:off x="3563364" y="1785938"/>
            <a:ext cx="679912" cy="308967"/>
          </a:xfrm>
          <a:prstGeom prst="rect">
            <a:avLst/>
          </a:prstGeom>
          <a:noFill/>
          <a:ln/>
        </p:spPr>
        <p:txBody>
          <a:bodyPr wrap="none" lIns="102108" tIns="102108" rIns="102108" bIns="102108" rtlCol="0" anchor="ctr">
            <a:spAutoFit/>
          </a:bodyPr>
          <a:lstStyle/>
          <a:p>
            <a:pPr algn="l" indent="0" marL="0">
              <a:buNone/>
            </a:pPr>
            <a:r>
              <a:rPr lang="en-US" sz="700" b="1" dirty="0">
                <a:solidFill>
                  <a:srgbClr val="FFFFFF"/>
                </a:solidFill>
                <a:latin typeface="DM Mono Medium" pitchFamily="34" charset="0"/>
                <a:ea typeface="DM Mono Medium" pitchFamily="34" charset="-122"/>
                <a:cs typeface="DM Mono Medium" pitchFamily="34" charset="-120"/>
              </a:rPr>
              <a:t>0.9120</a:t>
            </a:r>
            <a:endParaRPr lang="en-US" sz="700" dirty="0"/>
          </a:p>
        </p:txBody>
      </p:sp>
      <p:sp>
        <p:nvSpPr>
          <p:cNvPr id="42" name="Text 38"/>
          <p:cNvSpPr/>
          <p:nvPr/>
        </p:nvSpPr>
        <p:spPr>
          <a:xfrm>
            <a:off x="4243276" y="1785938"/>
            <a:ext cx="521522" cy="308967"/>
          </a:xfrm>
          <a:prstGeom prst="rect">
            <a:avLst/>
          </a:prstGeom>
          <a:noFill/>
          <a:ln/>
        </p:spPr>
        <p:txBody>
          <a:bodyPr wrap="none" lIns="102108" tIns="102108" rIns="102108" bIns="102108" rtlCol="0" anchor="ctr">
            <a:spAutoFit/>
          </a:bodyPr>
          <a:lstStyle/>
          <a:p>
            <a:pPr algn="l" indent="0" marL="0">
              <a:buNone/>
            </a:pPr>
            <a:r>
              <a:rPr lang="en-US" sz="700" b="1" dirty="0">
                <a:solidFill>
                  <a:srgbClr val="FFFFFF"/>
                </a:solidFill>
                <a:latin typeface="DM Mono Medium" pitchFamily="34" charset="0"/>
                <a:ea typeface="DM Mono Medium" pitchFamily="34" charset="-122"/>
                <a:cs typeface="DM Mono Medium" pitchFamily="34" charset="-120"/>
              </a:rPr>
              <a:t>5.45%</a:t>
            </a:r>
            <a:endParaRPr lang="en-US" sz="700" dirty="0"/>
          </a:p>
        </p:txBody>
      </p:sp>
      <p:sp>
        <p:nvSpPr>
          <p:cNvPr id="43" name="Text 39"/>
          <p:cNvSpPr/>
          <p:nvPr/>
        </p:nvSpPr>
        <p:spPr>
          <a:xfrm>
            <a:off x="4764798" y="1785938"/>
            <a:ext cx="625859" cy="308967"/>
          </a:xfrm>
          <a:prstGeom prst="rect">
            <a:avLst/>
          </a:prstGeom>
          <a:noFill/>
          <a:ln/>
        </p:spPr>
        <p:txBody>
          <a:bodyPr wrap="none" lIns="102108" tIns="102108" rIns="102108" bIns="102108" rtlCol="0" anchor="ctr">
            <a:spAutoFit/>
          </a:bodyPr>
          <a:lstStyle/>
          <a:p>
            <a:pPr algn="l" indent="0" marL="0">
              <a:buNone/>
            </a:pPr>
            <a:r>
              <a:rPr lang="en-US" sz="700" b="1" dirty="0">
                <a:solidFill>
                  <a:srgbClr val="FFFFFF"/>
                </a:solidFill>
                <a:latin typeface="DM Mono Medium" pitchFamily="34" charset="0"/>
                <a:ea typeface="DM Mono Medium" pitchFamily="34" charset="-122"/>
                <a:cs typeface="DM Mono Medium" pitchFamily="34" charset="-120"/>
              </a:rPr>
              <a:t>0.9855</a:t>
            </a:r>
            <a:endParaRPr lang="en-US" sz="700" dirty="0"/>
          </a:p>
        </p:txBody>
      </p:sp>
      <p:sp>
        <p:nvSpPr>
          <p:cNvPr id="44" name="Text 40"/>
          <p:cNvSpPr/>
          <p:nvPr/>
        </p:nvSpPr>
        <p:spPr>
          <a:xfrm>
            <a:off x="407194" y="2094905"/>
            <a:ext cx="1147353" cy="312539"/>
          </a:xfrm>
          <a:prstGeom prst="rect">
            <a:avLst/>
          </a:prstGeom>
          <a:noFill/>
          <a:ln/>
        </p:spPr>
        <p:txBody>
          <a:bodyPr wrap="none" lIns="102108" tIns="102108" rIns="102108" bIns="102108" rtlCol="0" anchor="ctr">
            <a:spAutoFit/>
          </a:bodyPr>
          <a:lstStyle/>
          <a:p>
            <a:pPr algn="l" indent="0" marL="0">
              <a:buNone/>
            </a:pPr>
            <a:r>
              <a:rPr lang="en-US" sz="650" dirty="0">
                <a:solidFill>
                  <a:srgbClr val="0A192F"/>
                </a:solidFill>
                <a:latin typeface="Space Grotesk SemiBold" pitchFamily="34" charset="0"/>
                <a:ea typeface="Space Grotesk SemiBold" pitchFamily="34" charset="-122"/>
                <a:cs typeface="Space Grotesk SemiBold" pitchFamily="34" charset="-120"/>
              </a:rPr>
              <a:t>SVM (LinearSVC)</a:t>
            </a:r>
            <a:endParaRPr lang="en-US" sz="650" dirty="0"/>
          </a:p>
        </p:txBody>
      </p:sp>
      <p:sp>
        <p:nvSpPr>
          <p:cNvPr id="45" name="Text 41"/>
          <p:cNvSpPr/>
          <p:nvPr/>
        </p:nvSpPr>
        <p:spPr>
          <a:xfrm>
            <a:off x="1554547" y="2094905"/>
            <a:ext cx="679912" cy="312539"/>
          </a:xfrm>
          <a:prstGeom prst="rect">
            <a:avLst/>
          </a:prstGeom>
          <a:noFill/>
          <a:ln/>
        </p:spPr>
        <p:txBody>
          <a:bodyPr wrap="none" lIns="102108" tIns="102108" rIns="102108" bIns="102108" rtlCol="0" anchor="ctr">
            <a:spAutoFit/>
          </a:bodyPr>
          <a:lstStyle/>
          <a:p>
            <a:pPr algn="l" indent="0" marL="0">
              <a:buNone/>
            </a:pPr>
            <a:r>
              <a:rPr lang="en-US" sz="750" dirty="0">
                <a:solidFill>
                  <a:srgbClr val="1A2B4A"/>
                </a:solidFill>
                <a:latin typeface="DM Mono" pitchFamily="34" charset="0"/>
                <a:ea typeface="DM Mono" pitchFamily="34" charset="-122"/>
                <a:cs typeface="DM Mono" pitchFamily="34" charset="-120"/>
              </a:rPr>
              <a:t>78.43%</a:t>
            </a:r>
            <a:endParaRPr lang="en-US" sz="750" dirty="0"/>
          </a:p>
        </p:txBody>
      </p:sp>
      <p:sp>
        <p:nvSpPr>
          <p:cNvPr id="46" name="Text 42"/>
          <p:cNvSpPr/>
          <p:nvPr/>
        </p:nvSpPr>
        <p:spPr>
          <a:xfrm>
            <a:off x="2234459" y="2094905"/>
            <a:ext cx="741722" cy="312539"/>
          </a:xfrm>
          <a:prstGeom prst="rect">
            <a:avLst/>
          </a:prstGeom>
          <a:noFill/>
          <a:ln/>
        </p:spPr>
        <p:txBody>
          <a:bodyPr wrap="none" lIns="102108" tIns="102108" rIns="102108" bIns="102108" rtlCol="0" anchor="ctr">
            <a:spAutoFit/>
          </a:bodyPr>
          <a:lstStyle/>
          <a:p>
            <a:pPr algn="l" indent="0" marL="0">
              <a:buNone/>
            </a:pPr>
            <a:r>
              <a:rPr lang="en-US" sz="750" dirty="0">
                <a:solidFill>
                  <a:srgbClr val="1A2B4A"/>
                </a:solidFill>
                <a:latin typeface="DM Mono" pitchFamily="34" charset="0"/>
                <a:ea typeface="DM Mono" pitchFamily="34" charset="-122"/>
                <a:cs typeface="DM Mono" pitchFamily="34" charset="-120"/>
              </a:rPr>
              <a:t>0.7716</a:t>
            </a:r>
            <a:endParaRPr lang="en-US" sz="750" dirty="0"/>
          </a:p>
        </p:txBody>
      </p:sp>
      <p:sp>
        <p:nvSpPr>
          <p:cNvPr id="47" name="Text 43"/>
          <p:cNvSpPr/>
          <p:nvPr/>
        </p:nvSpPr>
        <p:spPr>
          <a:xfrm>
            <a:off x="2976181" y="2094905"/>
            <a:ext cx="587183" cy="312539"/>
          </a:xfrm>
          <a:prstGeom prst="rect">
            <a:avLst/>
          </a:prstGeom>
          <a:noFill/>
          <a:ln/>
        </p:spPr>
        <p:txBody>
          <a:bodyPr wrap="none" lIns="102108" tIns="102108" rIns="102108" bIns="102108" rtlCol="0" anchor="ctr">
            <a:spAutoFit/>
          </a:bodyPr>
          <a:lstStyle/>
          <a:p>
            <a:pPr algn="l" indent="0" marL="0">
              <a:buNone/>
            </a:pPr>
            <a:r>
              <a:rPr lang="en-US" sz="750" dirty="0">
                <a:solidFill>
                  <a:srgbClr val="1A2B4A"/>
                </a:solidFill>
                <a:latin typeface="DM Mono" pitchFamily="34" charset="0"/>
                <a:ea typeface="DM Mono" pitchFamily="34" charset="-122"/>
                <a:cs typeface="DM Mono" pitchFamily="34" charset="-120"/>
              </a:rPr>
              <a:t>0.4984</a:t>
            </a:r>
            <a:endParaRPr lang="en-US" sz="750" dirty="0"/>
          </a:p>
        </p:txBody>
      </p:sp>
      <p:sp>
        <p:nvSpPr>
          <p:cNvPr id="48" name="Text 44"/>
          <p:cNvSpPr/>
          <p:nvPr/>
        </p:nvSpPr>
        <p:spPr>
          <a:xfrm>
            <a:off x="3563364" y="2094905"/>
            <a:ext cx="679912" cy="312539"/>
          </a:xfrm>
          <a:prstGeom prst="rect">
            <a:avLst/>
          </a:prstGeom>
          <a:noFill/>
          <a:ln/>
        </p:spPr>
        <p:txBody>
          <a:bodyPr wrap="none" lIns="102108" tIns="102108" rIns="102108" bIns="102108" rtlCol="0" anchor="ctr">
            <a:spAutoFit/>
          </a:bodyPr>
          <a:lstStyle/>
          <a:p>
            <a:pPr algn="l" indent="0" marL="0">
              <a:buNone/>
            </a:pPr>
            <a:r>
              <a:rPr lang="en-US" sz="750" dirty="0">
                <a:solidFill>
                  <a:srgbClr val="1A2B4A"/>
                </a:solidFill>
                <a:latin typeface="DM Mono" pitchFamily="34" charset="0"/>
                <a:ea typeface="DM Mono" pitchFamily="34" charset="-122"/>
                <a:cs typeface="DM Mono" pitchFamily="34" charset="-120"/>
              </a:rPr>
              <a:t>0.6056</a:t>
            </a:r>
            <a:endParaRPr lang="en-US" sz="750" dirty="0"/>
          </a:p>
        </p:txBody>
      </p:sp>
      <p:sp>
        <p:nvSpPr>
          <p:cNvPr id="49" name="Text 45"/>
          <p:cNvSpPr/>
          <p:nvPr/>
        </p:nvSpPr>
        <p:spPr>
          <a:xfrm>
            <a:off x="4243276" y="2094905"/>
            <a:ext cx="521522" cy="312539"/>
          </a:xfrm>
          <a:prstGeom prst="rect">
            <a:avLst/>
          </a:prstGeom>
          <a:noFill/>
          <a:ln/>
        </p:spPr>
        <p:txBody>
          <a:bodyPr wrap="none" lIns="102108" tIns="102108" rIns="102108" bIns="102108" rtlCol="0" anchor="ctr">
            <a:spAutoFit/>
          </a:bodyPr>
          <a:lstStyle/>
          <a:p>
            <a:pPr algn="l" indent="0" marL="0">
              <a:buNone/>
            </a:pPr>
            <a:r>
              <a:rPr lang="en-US" sz="750" dirty="0">
                <a:solidFill>
                  <a:srgbClr val="1A2B4A"/>
                </a:solidFill>
                <a:latin typeface="DM Mono" pitchFamily="34" charset="0"/>
                <a:ea typeface="DM Mono" pitchFamily="34" charset="-122"/>
                <a:cs typeface="DM Mono" pitchFamily="34" charset="-120"/>
              </a:rPr>
              <a:t>7.34%</a:t>
            </a:r>
            <a:endParaRPr lang="en-US" sz="750" dirty="0"/>
          </a:p>
        </p:txBody>
      </p:sp>
      <p:sp>
        <p:nvSpPr>
          <p:cNvPr id="50" name="Text 46"/>
          <p:cNvSpPr/>
          <p:nvPr/>
        </p:nvSpPr>
        <p:spPr>
          <a:xfrm>
            <a:off x="4764798" y="2094905"/>
            <a:ext cx="625859" cy="312539"/>
          </a:xfrm>
          <a:prstGeom prst="rect">
            <a:avLst/>
          </a:prstGeom>
          <a:noFill/>
          <a:ln/>
        </p:spPr>
        <p:txBody>
          <a:bodyPr wrap="none" lIns="102108" tIns="102108" rIns="102108" bIns="102108" rtlCol="0" anchor="ctr">
            <a:spAutoFit/>
          </a:bodyPr>
          <a:lstStyle/>
          <a:p>
            <a:pPr algn="l" indent="0" marL="0">
              <a:buNone/>
            </a:pPr>
            <a:r>
              <a:rPr lang="en-US" sz="750" dirty="0">
                <a:solidFill>
                  <a:srgbClr val="1A2B4A"/>
                </a:solidFill>
                <a:latin typeface="DM Mono" pitchFamily="34" charset="0"/>
                <a:ea typeface="DM Mono" pitchFamily="34" charset="-122"/>
                <a:cs typeface="DM Mono" pitchFamily="34" charset="-120"/>
              </a:rPr>
              <a:t>0.8286</a:t>
            </a:r>
            <a:endParaRPr lang="en-US" sz="750" dirty="0"/>
          </a:p>
        </p:txBody>
      </p:sp>
      <p:sp>
        <p:nvSpPr>
          <p:cNvPr id="51" name="Shape 47"/>
          <p:cNvSpPr/>
          <p:nvPr/>
        </p:nvSpPr>
        <p:spPr>
          <a:xfrm>
            <a:off x="400050" y="2528888"/>
            <a:ext cx="4997751" cy="875109"/>
          </a:xfrm>
          <a:prstGeom prst="rect">
            <a:avLst/>
          </a:prstGeom>
          <a:solidFill>
            <a:srgbClr val="E6F0FA"/>
          </a:solidFill>
          <a:ln/>
        </p:spPr>
      </p:sp>
      <p:sp>
        <p:nvSpPr>
          <p:cNvPr id="52" name="Shape 48"/>
          <p:cNvSpPr/>
          <p:nvPr/>
        </p:nvSpPr>
        <p:spPr>
          <a:xfrm>
            <a:off x="400050" y="2528888"/>
            <a:ext cx="4997751" cy="21431"/>
          </a:xfrm>
          <a:prstGeom prst="rect">
            <a:avLst/>
          </a:prstGeom>
          <a:solidFill>
            <a:srgbClr val="0056B3"/>
          </a:solidFill>
          <a:ln/>
        </p:spPr>
      </p:sp>
      <p:sp>
        <p:nvSpPr>
          <p:cNvPr id="53" name="Text 49"/>
          <p:cNvSpPr/>
          <p:nvPr/>
        </p:nvSpPr>
        <p:spPr>
          <a:xfrm>
            <a:off x="514350" y="2628900"/>
            <a:ext cx="4769151"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5-FOLD CROSS-VALIDATION (100,000 ROWS) — STABILITY CHECK</a:t>
            </a:r>
            <a:endParaRPr lang="en-US" sz="550" dirty="0"/>
          </a:p>
        </p:txBody>
      </p:sp>
      <p:sp>
        <p:nvSpPr>
          <p:cNvPr id="54" name="Text 50"/>
          <p:cNvSpPr/>
          <p:nvPr/>
        </p:nvSpPr>
        <p:spPr>
          <a:xfrm>
            <a:off x="514350" y="2791420"/>
            <a:ext cx="878681" cy="117872"/>
          </a:xfrm>
          <a:prstGeom prst="rect">
            <a:avLst/>
          </a:prstGeom>
          <a:noFill/>
          <a:ln/>
        </p:spPr>
        <p:txBody>
          <a:bodyPr wrap="none" lIns="0" tIns="0" rIns="0" bIns="0" rtlCol="0" anchor="t">
            <a:spAutoFit/>
          </a:bodyPr>
          <a:lstStyle/>
          <a:p>
            <a:pPr algn="l" indent="0" marL="0">
              <a:buNone/>
            </a:pPr>
            <a:r>
              <a:rPr lang="en-US" sz="650" dirty="0">
                <a:solidFill>
                  <a:srgbClr val="0A192F"/>
                </a:solidFill>
                <a:latin typeface="Space Grotesk SemiBold" pitchFamily="34" charset="0"/>
                <a:ea typeface="Space Grotesk SemiBold" pitchFamily="34" charset="-122"/>
                <a:cs typeface="Space Grotesk SemiBold" pitchFamily="34" charset="-120"/>
              </a:rPr>
              <a:t>Logistic Regression</a:t>
            </a:r>
            <a:endParaRPr lang="en-US" sz="650" dirty="0"/>
          </a:p>
        </p:txBody>
      </p:sp>
      <p:sp>
        <p:nvSpPr>
          <p:cNvPr id="55" name="Text 51"/>
          <p:cNvSpPr/>
          <p:nvPr/>
        </p:nvSpPr>
        <p:spPr>
          <a:xfrm>
            <a:off x="3290395" y="2789634"/>
            <a:ext cx="1993106" cy="121444"/>
          </a:xfrm>
          <a:prstGeom prst="rect">
            <a:avLst/>
          </a:prstGeom>
          <a:noFill/>
          <a:ln/>
        </p:spPr>
        <p:txBody>
          <a:bodyPr wrap="square" lIns="0" tIns="0" rIns="0" bIns="0" rtlCol="0" anchor="t">
            <a:spAutoFit/>
          </a:bodyPr>
          <a:lstStyle/>
          <a:p>
            <a:pPr algn="l" indent="0" marL="0">
              <a:buNone/>
            </a:pPr>
            <a:r>
              <a:rPr lang="en-US" sz="650" dirty="0">
                <a:solidFill>
                  <a:srgbClr val="1A2B4A"/>
                </a:solidFill>
                <a:latin typeface="DM Mono" pitchFamily="34" charset="0"/>
                <a:ea typeface="DM Mono" pitchFamily="34" charset="-122"/>
                <a:cs typeface="DM Mono" pitchFamily="34" charset="-120"/>
              </a:rPr>
              <a:t>75.82% ± 0.19% | F1: 0.7497 ± 0.0024</a:t>
            </a:r>
            <a:endParaRPr lang="en-US" sz="650" dirty="0"/>
          </a:p>
        </p:txBody>
      </p:sp>
      <p:sp>
        <p:nvSpPr>
          <p:cNvPr id="56" name="Text 52"/>
          <p:cNvSpPr/>
          <p:nvPr/>
        </p:nvSpPr>
        <p:spPr>
          <a:xfrm>
            <a:off x="514350" y="2955727"/>
            <a:ext cx="671513" cy="117872"/>
          </a:xfrm>
          <a:prstGeom prst="rect">
            <a:avLst/>
          </a:prstGeom>
          <a:noFill/>
          <a:ln/>
        </p:spPr>
        <p:txBody>
          <a:bodyPr wrap="none" lIns="0" tIns="0" rIns="0" bIns="0" rtlCol="0" anchor="t">
            <a:spAutoFit/>
          </a:bodyPr>
          <a:lstStyle/>
          <a:p>
            <a:pPr algn="l" indent="0" marL="0">
              <a:buNone/>
            </a:pPr>
            <a:r>
              <a:rPr lang="en-US" sz="650" dirty="0">
                <a:solidFill>
                  <a:srgbClr val="0A192F"/>
                </a:solidFill>
                <a:latin typeface="Space Grotesk SemiBold" pitchFamily="34" charset="0"/>
                <a:ea typeface="Space Grotesk SemiBold" pitchFamily="34" charset="-122"/>
                <a:cs typeface="Space Grotesk SemiBold" pitchFamily="34" charset="-120"/>
              </a:rPr>
              <a:t>Random Forest</a:t>
            </a:r>
            <a:endParaRPr lang="en-US" sz="650" dirty="0"/>
          </a:p>
        </p:txBody>
      </p:sp>
      <p:sp>
        <p:nvSpPr>
          <p:cNvPr id="57" name="Text 53"/>
          <p:cNvSpPr/>
          <p:nvPr/>
        </p:nvSpPr>
        <p:spPr>
          <a:xfrm>
            <a:off x="3151091" y="2953941"/>
            <a:ext cx="2132409" cy="121444"/>
          </a:xfrm>
          <a:prstGeom prst="rect">
            <a:avLst/>
          </a:prstGeom>
          <a:noFill/>
          <a:ln/>
        </p:spPr>
        <p:txBody>
          <a:bodyPr wrap="square" lIns="0" tIns="0" rIns="0" bIns="0" rtlCol="0" anchor="t">
            <a:spAutoFit/>
          </a:bodyPr>
          <a:lstStyle/>
          <a:p>
            <a:pPr algn="l" indent="0" marL="0">
              <a:buNone/>
            </a:pPr>
            <a:r>
              <a:rPr lang="en-US" sz="650" b="1" dirty="0">
                <a:solidFill>
                  <a:srgbClr val="0056B3"/>
                </a:solidFill>
                <a:latin typeface="DM Mono Medium" pitchFamily="34" charset="0"/>
                <a:ea typeface="DM Mono Medium" pitchFamily="34" charset="-122"/>
                <a:cs typeface="DM Mono Medium" pitchFamily="34" charset="-120"/>
              </a:rPr>
              <a:t>91.95% ± 0.17% | F1: 0.9198 ± 0.0017 ★</a:t>
            </a:r>
            <a:endParaRPr lang="en-US" sz="650" dirty="0"/>
          </a:p>
        </p:txBody>
      </p:sp>
      <p:sp>
        <p:nvSpPr>
          <p:cNvPr id="58" name="Text 54"/>
          <p:cNvSpPr/>
          <p:nvPr/>
        </p:nvSpPr>
        <p:spPr>
          <a:xfrm>
            <a:off x="514350" y="3120033"/>
            <a:ext cx="734020" cy="117872"/>
          </a:xfrm>
          <a:prstGeom prst="rect">
            <a:avLst/>
          </a:prstGeom>
          <a:noFill/>
          <a:ln/>
        </p:spPr>
        <p:txBody>
          <a:bodyPr wrap="none" lIns="0" tIns="0" rIns="0" bIns="0" rtlCol="0" anchor="t">
            <a:spAutoFit/>
          </a:bodyPr>
          <a:lstStyle/>
          <a:p>
            <a:pPr algn="l" indent="0" marL="0">
              <a:buNone/>
            </a:pPr>
            <a:r>
              <a:rPr lang="en-US" sz="650" dirty="0">
                <a:solidFill>
                  <a:srgbClr val="0A192F"/>
                </a:solidFill>
                <a:latin typeface="Space Grotesk SemiBold" pitchFamily="34" charset="0"/>
                <a:ea typeface="Space Grotesk SemiBold" pitchFamily="34" charset="-122"/>
                <a:cs typeface="Space Grotesk SemiBold" pitchFamily="34" charset="-120"/>
              </a:rPr>
              <a:t>SVM (LinearSVC)</a:t>
            </a:r>
            <a:endParaRPr lang="en-US" sz="650" dirty="0"/>
          </a:p>
        </p:txBody>
      </p:sp>
      <p:sp>
        <p:nvSpPr>
          <p:cNvPr id="59" name="Text 55"/>
          <p:cNvSpPr/>
          <p:nvPr/>
        </p:nvSpPr>
        <p:spPr>
          <a:xfrm>
            <a:off x="3290395" y="3118247"/>
            <a:ext cx="1993106" cy="121444"/>
          </a:xfrm>
          <a:prstGeom prst="rect">
            <a:avLst/>
          </a:prstGeom>
          <a:noFill/>
          <a:ln/>
        </p:spPr>
        <p:txBody>
          <a:bodyPr wrap="square" lIns="0" tIns="0" rIns="0" bIns="0" rtlCol="0" anchor="t">
            <a:spAutoFit/>
          </a:bodyPr>
          <a:lstStyle/>
          <a:p>
            <a:pPr algn="l" indent="0" marL="0">
              <a:buNone/>
            </a:pPr>
            <a:r>
              <a:rPr lang="en-US" sz="650" dirty="0">
                <a:solidFill>
                  <a:srgbClr val="1A2B4A"/>
                </a:solidFill>
                <a:latin typeface="DM Mono" pitchFamily="34" charset="0"/>
                <a:ea typeface="DM Mono" pitchFamily="34" charset="-122"/>
                <a:cs typeface="DM Mono" pitchFamily="34" charset="-120"/>
              </a:rPr>
              <a:t>75.81% ± 0.19% | F1: 0.7487 ± 0.0024</a:t>
            </a:r>
            <a:endParaRPr lang="en-US" sz="650" dirty="0"/>
          </a:p>
        </p:txBody>
      </p:sp>
      <p:sp>
        <p:nvSpPr>
          <p:cNvPr id="60" name="Text 56"/>
          <p:cNvSpPr/>
          <p:nvPr/>
        </p:nvSpPr>
        <p:spPr>
          <a:xfrm>
            <a:off x="5926438" y="994767"/>
            <a:ext cx="2817484"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ACCURACY COMPARISON</a:t>
            </a:r>
            <a:endParaRPr lang="en-US" sz="550" dirty="0"/>
          </a:p>
        </p:txBody>
      </p:sp>
      <p:pic>
        <p:nvPicPr>
          <p:cNvPr id="61" name="Image 1" descr="preencoded.png">    </p:cNvPr>
          <p:cNvPicPr>
            <a:picLocks noChangeAspect="1"/>
          </p:cNvPicPr>
          <p:nvPr/>
        </p:nvPicPr>
        <p:blipFill>
          <a:blip r:embed="rId2"/>
          <a:stretch>
            <a:fillRect/>
          </a:stretch>
        </p:blipFill>
        <p:spPr>
          <a:xfrm>
            <a:off x="5926438" y="1212652"/>
            <a:ext cx="2816423" cy="2000250"/>
          </a:xfrm>
          <a:prstGeom prst="rect">
            <a:avLst/>
          </a:prstGeom>
        </p:spPr>
      </p:pic>
      <p:sp>
        <p:nvSpPr>
          <p:cNvPr id="62" name="Shape 57"/>
          <p:cNvSpPr/>
          <p:nvPr/>
        </p:nvSpPr>
        <p:spPr>
          <a:xfrm>
            <a:off x="5926438" y="3327202"/>
            <a:ext cx="2817484" cy="936501"/>
          </a:xfrm>
          <a:prstGeom prst="rect">
            <a:avLst/>
          </a:prstGeom>
          <a:solidFill>
            <a:srgbClr val="0A192F"/>
          </a:solidFill>
          <a:ln/>
        </p:spPr>
      </p:sp>
      <p:sp>
        <p:nvSpPr>
          <p:cNvPr id="63" name="Text 58"/>
          <p:cNvSpPr/>
          <p:nvPr/>
        </p:nvSpPr>
        <p:spPr>
          <a:xfrm>
            <a:off x="6040738" y="3427214"/>
            <a:ext cx="2588884" cy="103584"/>
          </a:xfrm>
          <a:prstGeom prst="rect">
            <a:avLst/>
          </a:prstGeom>
          <a:noFill/>
          <a:ln/>
        </p:spPr>
        <p:txBody>
          <a:bodyPr wrap="square" lIns="0" tIns="0" rIns="0" bIns="0" rtlCol="0" anchor="t">
            <a:spAutoFit/>
          </a:bodyPr>
          <a:lstStyle/>
          <a:p>
            <a:pPr algn="l" indent="0" marL="0">
              <a:buNone/>
            </a:pPr>
            <a:r>
              <a:rPr lang="en-US" sz="550" spc="2" kern="0" dirty="0">
                <a:solidFill>
                  <a:srgbClr val="4A90D9"/>
                </a:solidFill>
                <a:latin typeface="DM Mono" pitchFamily="34" charset="0"/>
                <a:ea typeface="DM Mono" pitchFamily="34" charset="-122"/>
                <a:cs typeface="DM Mono" pitchFamily="34" charset="-120"/>
              </a:rPr>
              <a:t>KEY FINDING</a:t>
            </a:r>
            <a:endParaRPr lang="en-US" sz="550" dirty="0"/>
          </a:p>
        </p:txBody>
      </p:sp>
      <p:sp>
        <p:nvSpPr>
          <p:cNvPr id="64" name="Text 59"/>
          <p:cNvSpPr/>
          <p:nvPr/>
        </p:nvSpPr>
        <p:spPr>
          <a:xfrm>
            <a:off x="6040738" y="3587948"/>
            <a:ext cx="2588884" cy="575742"/>
          </a:xfrm>
          <a:prstGeom prst="rect">
            <a:avLst/>
          </a:prstGeom>
          <a:noFill/>
          <a:ln/>
        </p:spPr>
        <p:txBody>
          <a:bodyPr wrap="square" lIns="0" tIns="0" rIns="0" bIns="0" rtlCol="0" anchor="t">
            <a:spAutoFit/>
          </a:bodyPr>
          <a:lstStyle/>
          <a:p>
            <a:pPr algn="l" indent="0" marL="0">
              <a:lnSpc>
                <a:spcPct val="124000"/>
              </a:lnSpc>
              <a:buNone/>
            </a:pPr>
            <a:r>
              <a:rPr lang="en-US" sz="650" dirty="0">
                <a:solidFill>
                  <a:srgbClr val="C8DEFF"/>
                </a:solidFill>
                <a:latin typeface="Space Grotesk" pitchFamily="34" charset="0"/>
                <a:ea typeface="Space Grotesk" pitchFamily="34" charset="-122"/>
                <a:cs typeface="Space Grotesk" pitchFamily="34" charset="-120"/>
              </a:rPr>
              <a:t>Random Forest outperforms linear models by </a:t>
            </a:r>
            <a:r>
              <a:rPr lang="en-US" sz="650" b="1" dirty="0">
                <a:solidFill>
                  <a:srgbClr val="FFFFFF"/>
                </a:solidFill>
                <a:latin typeface="Space Grotesk Bold" pitchFamily="34" charset="0"/>
                <a:ea typeface="Space Grotesk Bold" pitchFamily="34" charset="-122"/>
                <a:cs typeface="Space Grotesk Bold" pitchFamily="34" charset="-120"/>
              </a:rPr>
              <a:t>+15 percentage points</a:t>
            </a:r>
            <a:r>
              <a:rPr lang="en-US" sz="650" dirty="0">
                <a:solidFill>
                  <a:srgbClr val="C8DEFF"/>
                </a:solidFill>
                <a:latin typeface="Space Grotesk" pitchFamily="34" charset="0"/>
                <a:ea typeface="Space Grotesk" pitchFamily="34" charset="-122"/>
                <a:cs typeface="Space Grotesk" pitchFamily="34" charset="-120"/>
              </a:rPr>
              <a:t> in accuracy and </a:t>
            </a:r>
            <a:r>
              <a:rPr lang="en-US" sz="650" b="1" dirty="0">
                <a:solidFill>
                  <a:srgbClr val="FFFFFF"/>
                </a:solidFill>
                <a:latin typeface="Space Grotesk Bold" pitchFamily="34" charset="0"/>
                <a:ea typeface="Space Grotesk Bold" pitchFamily="34" charset="-122"/>
                <a:cs typeface="Space Grotesk Bold" pitchFamily="34" charset="-120"/>
              </a:rPr>
              <a:t>+0.30 in F1-Score</a:t>
            </a:r>
            <a:r>
              <a:rPr lang="en-US" sz="650" dirty="0">
                <a:solidFill>
                  <a:srgbClr val="C8DEFF"/>
                </a:solidFill>
                <a:latin typeface="Space Grotesk" pitchFamily="34" charset="0"/>
                <a:ea typeface="Space Grotesk" pitchFamily="34" charset="-122"/>
                <a:cs typeface="Space Grotesk" pitchFamily="34" charset="-120"/>
              </a:rPr>
              <a:t>. </a:t>
            </a:r>
            <a:r>
              <a:rPr lang="en-US" sz="650" dirty="0">
                <a:solidFill>
                  <a:srgbClr val="C8DEFF"/>
                </a:solidFill>
                <a:latin typeface="Space Grotesk" pitchFamily="34" charset="0"/>
                <a:ea typeface="Space Grotesk" pitchFamily="34" charset="-122"/>
                <a:cs typeface="Space Grotesk" pitchFamily="34" charset="-120"/>
              </a:rPr>
              <a:t>Cross-validation confirms this is not overfitting — </a:t>
            </a:r>
            <a:r>
              <a:rPr lang="en-US" sz="650" dirty="0">
                <a:solidFill>
                  <a:srgbClr val="C8DEFF"/>
                </a:solidFill>
                <a:latin typeface="Space Grotesk" pitchFamily="34" charset="0"/>
                <a:ea typeface="Space Grotesk" pitchFamily="34" charset="-122"/>
                <a:cs typeface="Space Grotesk" pitchFamily="34" charset="-120"/>
              </a:rPr>
              <a:t>stability ±0.17%.</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794742"/>
          </a:xfrm>
          <a:prstGeom prst="rect">
            <a:avLst/>
          </a:prstGeom>
          <a:solidFill>
            <a:srgbClr val="0A192F"/>
          </a:solidFill>
          <a:ln/>
        </p:spPr>
      </p:sp>
      <p:sp>
        <p:nvSpPr>
          <p:cNvPr id="5" name="Text 1"/>
          <p:cNvSpPr/>
          <p:nvPr/>
        </p:nvSpPr>
        <p:spPr>
          <a:xfrm>
            <a:off x="400050" y="200025"/>
            <a:ext cx="2568178" cy="121444"/>
          </a:xfrm>
          <a:prstGeom prst="rect">
            <a:avLst/>
          </a:prstGeom>
          <a:noFill/>
          <a:ln/>
        </p:spPr>
        <p:txBody>
          <a:bodyPr wrap="square" lIns="0" tIns="0" rIns="0" bIns="0" rtlCol="0" anchor="t">
            <a:spAutoFit/>
          </a:bodyPr>
          <a:lstStyle/>
          <a:p>
            <a:pPr algn="l" indent="0" marL="0">
              <a:buNone/>
            </a:pPr>
            <a:r>
              <a:rPr lang="en-US" sz="650" spc="2" kern="0" dirty="0">
                <a:solidFill>
                  <a:srgbClr val="4A90D9"/>
                </a:solidFill>
                <a:latin typeface="DM Mono" pitchFamily="34" charset="0"/>
                <a:ea typeface="DM Mono" pitchFamily="34" charset="-122"/>
                <a:cs typeface="DM Mono" pitchFamily="34" charset="-120"/>
              </a:rPr>
              <a:t>07 / 10</a:t>
            </a:r>
            <a:endParaRPr lang="en-US" sz="650" dirty="0"/>
          </a:p>
        </p:txBody>
      </p:sp>
      <p:sp>
        <p:nvSpPr>
          <p:cNvPr id="6" name="Text 2"/>
          <p:cNvSpPr/>
          <p:nvPr/>
        </p:nvSpPr>
        <p:spPr>
          <a:xfrm>
            <a:off x="400050" y="350044"/>
            <a:ext cx="2568178" cy="273248"/>
          </a:xfrm>
          <a:prstGeom prst="rect">
            <a:avLst/>
          </a:prstGeom>
          <a:noFill/>
          <a:ln/>
        </p:spPr>
        <p:txBody>
          <a:bodyPr wrap="square" lIns="0" tIns="0" rIns="0" bIns="0" rtlCol="0" anchor="t">
            <a:spAutoFit/>
          </a:bodyPr>
          <a:lstStyle/>
          <a:p>
            <a:pPr algn="l" indent="0" marL="0">
              <a:buNone/>
            </a:pPr>
            <a:r>
              <a:rPr lang="en-US" sz="1500" b="1" dirty="0">
                <a:solidFill>
                  <a:srgbClr val="FFFFFF"/>
                </a:solidFill>
                <a:latin typeface="Space Grotesk Bold" pitchFamily="34" charset="0"/>
                <a:ea typeface="Space Grotesk Bold" pitchFamily="34" charset="-122"/>
                <a:cs typeface="Space Grotesk Bold" pitchFamily="34" charset="-120"/>
              </a:rPr>
              <a:t>Why </a:t>
            </a:r>
            <a:r>
              <a:rPr lang="en-US" sz="1500" b="1" dirty="0">
                <a:solidFill>
                  <a:srgbClr val="4A90D9"/>
                </a:solidFill>
                <a:latin typeface="Space Grotesk Bold" pitchFamily="34" charset="0"/>
                <a:ea typeface="Space Grotesk Bold" pitchFamily="34" charset="-122"/>
                <a:cs typeface="Space Grotesk Bold" pitchFamily="34" charset="-120"/>
              </a:rPr>
              <a:t>Random Forest</a:t>
            </a:r>
            <a:r>
              <a:rPr lang="en-US" sz="1500" b="1" dirty="0">
                <a:solidFill>
                  <a:srgbClr val="FFFFFF"/>
                </a:solidFill>
                <a:latin typeface="Space Grotesk Bold" pitchFamily="34" charset="0"/>
                <a:ea typeface="Space Grotesk Bold" pitchFamily="34" charset="-122"/>
                <a:cs typeface="Space Grotesk Bold" pitchFamily="34" charset="-120"/>
              </a:rPr>
              <a:t> Won</a:t>
            </a:r>
            <a:endParaRPr lang="en-US" sz="1500" dirty="0"/>
          </a:p>
        </p:txBody>
      </p:sp>
      <p:sp>
        <p:nvSpPr>
          <p:cNvPr id="7" name="Text 3"/>
          <p:cNvSpPr/>
          <p:nvPr/>
        </p:nvSpPr>
        <p:spPr>
          <a:xfrm>
            <a:off x="400050" y="1023342"/>
            <a:ext cx="4329113"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THREE REASONS FOR SUPERIORITY</a:t>
            </a:r>
            <a:endParaRPr lang="en-US" sz="550" dirty="0"/>
          </a:p>
        </p:txBody>
      </p:sp>
      <p:sp>
        <p:nvSpPr>
          <p:cNvPr id="8" name="Shape 4"/>
          <p:cNvSpPr/>
          <p:nvPr/>
        </p:nvSpPr>
        <p:spPr>
          <a:xfrm>
            <a:off x="400050" y="1284089"/>
            <a:ext cx="4329113" cy="851502"/>
          </a:xfrm>
          <a:prstGeom prst="rect">
            <a:avLst/>
          </a:prstGeom>
          <a:solidFill>
            <a:srgbClr val="E6F0FA"/>
          </a:solidFill>
          <a:ln/>
        </p:spPr>
      </p:sp>
      <p:sp>
        <p:nvSpPr>
          <p:cNvPr id="9" name="Shape 5"/>
          <p:cNvSpPr/>
          <p:nvPr/>
        </p:nvSpPr>
        <p:spPr>
          <a:xfrm>
            <a:off x="400050" y="1284089"/>
            <a:ext cx="4329113" cy="21431"/>
          </a:xfrm>
          <a:prstGeom prst="rect">
            <a:avLst/>
          </a:prstGeom>
          <a:solidFill>
            <a:srgbClr val="0056B3"/>
          </a:solidFill>
          <a:ln/>
        </p:spPr>
      </p:sp>
      <p:sp>
        <p:nvSpPr>
          <p:cNvPr id="10" name="Text 6"/>
          <p:cNvSpPr/>
          <p:nvPr/>
        </p:nvSpPr>
        <p:spPr>
          <a:xfrm>
            <a:off x="542925" y="1398389"/>
            <a:ext cx="257175" cy="200025"/>
          </a:xfrm>
          <a:prstGeom prst="rect">
            <a:avLst/>
          </a:prstGeom>
          <a:noFill/>
          <a:ln/>
        </p:spPr>
        <p:txBody>
          <a:bodyPr wrap="none" lIns="0" tIns="0" rIns="0" bIns="0" rtlCol="0" anchor="t">
            <a:spAutoFit/>
          </a:bodyPr>
          <a:lstStyle/>
          <a:p>
            <a:pPr algn="l" indent="0" marL="0">
              <a:lnSpc>
                <a:spcPct val="80000"/>
              </a:lnSpc>
              <a:buNone/>
            </a:pPr>
            <a:r>
              <a:rPr lang="en-US" sz="1400" b="1" dirty="0">
                <a:solidFill>
                  <a:srgbClr val="0056B3"/>
                </a:solidFill>
                <a:latin typeface="DM Mono Medium" pitchFamily="34" charset="0"/>
                <a:ea typeface="DM Mono Medium" pitchFamily="34" charset="-122"/>
                <a:cs typeface="DM Mono Medium" pitchFamily="34" charset="-120"/>
              </a:rPr>
              <a:t>01</a:t>
            </a:r>
            <a:endParaRPr lang="en-US" sz="1400" dirty="0"/>
          </a:p>
        </p:txBody>
      </p:sp>
      <p:sp>
        <p:nvSpPr>
          <p:cNvPr id="11" name="Text 7"/>
          <p:cNvSpPr/>
          <p:nvPr/>
        </p:nvSpPr>
        <p:spPr>
          <a:xfrm>
            <a:off x="928688" y="1398389"/>
            <a:ext cx="3657600" cy="126802"/>
          </a:xfrm>
          <a:prstGeom prst="rect">
            <a:avLst/>
          </a:prstGeom>
          <a:noFill/>
          <a:ln/>
        </p:spPr>
        <p:txBody>
          <a:bodyPr wrap="square" lIns="0" tIns="0" rIns="0" bIns="0" rtlCol="0" anchor="t">
            <a:spAutoFit/>
          </a:bodyPr>
          <a:lstStyle/>
          <a:p>
            <a:pPr algn="l" indent="0" marL="0">
              <a:buNone/>
            </a:pPr>
            <a:r>
              <a:rPr lang="en-US" sz="700" b="1" spc="1" kern="0" dirty="0">
                <a:solidFill>
                  <a:srgbClr val="0A192F"/>
                </a:solidFill>
                <a:latin typeface="Space Grotesk Bold" pitchFamily="34" charset="0"/>
                <a:ea typeface="Space Grotesk Bold" pitchFamily="34" charset="-122"/>
                <a:cs typeface="Space Grotesk Bold" pitchFamily="34" charset="-120"/>
              </a:rPr>
              <a:t>NON-LINEARITY OF PHISHING PATTERNS</a:t>
            </a:r>
            <a:endParaRPr lang="en-US" sz="700" dirty="0"/>
          </a:p>
        </p:txBody>
      </p:sp>
      <p:sp>
        <p:nvSpPr>
          <p:cNvPr id="12" name="Text 8"/>
          <p:cNvSpPr/>
          <p:nvPr/>
        </p:nvSpPr>
        <p:spPr>
          <a:xfrm>
            <a:off x="928688" y="1568053"/>
            <a:ext cx="3657600" cy="431806"/>
          </a:xfrm>
          <a:prstGeom prst="rect">
            <a:avLst/>
          </a:prstGeom>
          <a:noFill/>
          <a:ln/>
        </p:spPr>
        <p:txBody>
          <a:bodyPr wrap="square" lIns="0" tIns="0" rIns="0" bIns="0" rtlCol="0" anchor="t">
            <a:spAutoFit/>
          </a:bodyPr>
          <a:lstStyle/>
          <a:p>
            <a:pPr algn="l" indent="0" marL="0">
              <a:lnSpc>
                <a:spcPct val="124000"/>
              </a:lnSpc>
              <a:buNone/>
            </a:pPr>
            <a:r>
              <a:rPr lang="en-US" sz="650" dirty="0">
                <a:solidFill>
                  <a:srgbClr val="1A2B4A"/>
                </a:solidFill>
                <a:latin typeface="Space Grotesk" pitchFamily="34" charset="0"/>
                <a:ea typeface="Space Grotesk" pitchFamily="34" charset="-122"/>
                <a:cs typeface="Space Grotesk" pitchFamily="34" charset="-120"/>
              </a:rPr>
              <a:t>URL features interact in complex, non-linear ways. A long URL with </a:t>
            </a:r>
            <a:r>
              <a:rPr lang="en-US" sz="650" b="1" dirty="0">
                <a:solidFill>
                  <a:srgbClr val="0056B3"/>
                </a:solidFill>
                <a:latin typeface="Space Grotesk Bold" pitchFamily="34" charset="0"/>
                <a:ea typeface="Space Grotesk Bold" pitchFamily="34" charset="-122"/>
                <a:cs typeface="Space Grotesk Bold" pitchFamily="34" charset="-120"/>
              </a:rPr>
              <a:t>high entropy AND many dots</a:t>
            </a:r>
            <a:r>
              <a:rPr lang="en-US" sz="650" dirty="0">
                <a:solidFill>
                  <a:srgbClr val="1A2B4A"/>
                </a:solidFill>
                <a:latin typeface="Space Grotesk" pitchFamily="34" charset="0"/>
                <a:ea typeface="Space Grotesk" pitchFamily="34" charset="-122"/>
                <a:cs typeface="Space Grotesk" pitchFamily="34" charset="-120"/>
              </a:rPr>
              <a:t> is far more suspicious than any single feature alone. Random </a:t>
            </a:r>
            <a:r>
              <a:rPr lang="en-US" sz="650" dirty="0">
                <a:solidFill>
                  <a:srgbClr val="1A2B4A"/>
                </a:solidFill>
                <a:latin typeface="Space Grotesk" pitchFamily="34" charset="0"/>
                <a:ea typeface="Space Grotesk" pitchFamily="34" charset="-122"/>
                <a:cs typeface="Space Grotesk" pitchFamily="34" charset="-120"/>
              </a:rPr>
              <a:t>Forest captures these interactions; linear models cannot.</a:t>
            </a:r>
            <a:endParaRPr lang="en-US" sz="650" dirty="0"/>
          </a:p>
        </p:txBody>
      </p:sp>
      <p:sp>
        <p:nvSpPr>
          <p:cNvPr id="13" name="Shape 9"/>
          <p:cNvSpPr/>
          <p:nvPr/>
        </p:nvSpPr>
        <p:spPr>
          <a:xfrm>
            <a:off x="400050" y="2242747"/>
            <a:ext cx="4329113" cy="851502"/>
          </a:xfrm>
          <a:prstGeom prst="rect">
            <a:avLst/>
          </a:prstGeom>
          <a:solidFill>
            <a:srgbClr val="E6F0FA"/>
          </a:solidFill>
          <a:ln/>
        </p:spPr>
      </p:sp>
      <p:sp>
        <p:nvSpPr>
          <p:cNvPr id="14" name="Shape 10"/>
          <p:cNvSpPr/>
          <p:nvPr/>
        </p:nvSpPr>
        <p:spPr>
          <a:xfrm>
            <a:off x="400050" y="2242747"/>
            <a:ext cx="4329113" cy="21431"/>
          </a:xfrm>
          <a:prstGeom prst="rect">
            <a:avLst/>
          </a:prstGeom>
          <a:solidFill>
            <a:srgbClr val="0056B3"/>
          </a:solidFill>
          <a:ln/>
        </p:spPr>
      </p:sp>
      <p:sp>
        <p:nvSpPr>
          <p:cNvPr id="15" name="Text 11"/>
          <p:cNvSpPr/>
          <p:nvPr/>
        </p:nvSpPr>
        <p:spPr>
          <a:xfrm>
            <a:off x="542925" y="2357047"/>
            <a:ext cx="257175" cy="200025"/>
          </a:xfrm>
          <a:prstGeom prst="rect">
            <a:avLst/>
          </a:prstGeom>
          <a:noFill/>
          <a:ln/>
        </p:spPr>
        <p:txBody>
          <a:bodyPr wrap="none" lIns="0" tIns="0" rIns="0" bIns="0" rtlCol="0" anchor="t">
            <a:spAutoFit/>
          </a:bodyPr>
          <a:lstStyle/>
          <a:p>
            <a:pPr algn="l" indent="0" marL="0">
              <a:lnSpc>
                <a:spcPct val="80000"/>
              </a:lnSpc>
              <a:buNone/>
            </a:pPr>
            <a:r>
              <a:rPr lang="en-US" sz="1400" b="1" dirty="0">
                <a:solidFill>
                  <a:srgbClr val="0056B3"/>
                </a:solidFill>
                <a:latin typeface="DM Mono Medium" pitchFamily="34" charset="0"/>
                <a:ea typeface="DM Mono Medium" pitchFamily="34" charset="-122"/>
                <a:cs typeface="DM Mono Medium" pitchFamily="34" charset="-120"/>
              </a:rPr>
              <a:t>02</a:t>
            </a:r>
            <a:endParaRPr lang="en-US" sz="1400" dirty="0"/>
          </a:p>
        </p:txBody>
      </p:sp>
      <p:sp>
        <p:nvSpPr>
          <p:cNvPr id="16" name="Text 12"/>
          <p:cNvSpPr/>
          <p:nvPr/>
        </p:nvSpPr>
        <p:spPr>
          <a:xfrm>
            <a:off x="928688" y="2357047"/>
            <a:ext cx="3657600" cy="126802"/>
          </a:xfrm>
          <a:prstGeom prst="rect">
            <a:avLst/>
          </a:prstGeom>
          <a:noFill/>
          <a:ln/>
        </p:spPr>
        <p:txBody>
          <a:bodyPr wrap="square" lIns="0" tIns="0" rIns="0" bIns="0" rtlCol="0" anchor="t">
            <a:spAutoFit/>
          </a:bodyPr>
          <a:lstStyle/>
          <a:p>
            <a:pPr algn="l" indent="0" marL="0">
              <a:buNone/>
            </a:pPr>
            <a:r>
              <a:rPr lang="en-US" sz="700" b="1" spc="1" kern="0" dirty="0">
                <a:solidFill>
                  <a:srgbClr val="0A192F"/>
                </a:solidFill>
                <a:latin typeface="Space Grotesk Bold" pitchFamily="34" charset="0"/>
                <a:ea typeface="Space Grotesk Bold" pitchFamily="34" charset="-122"/>
                <a:cs typeface="Space Grotesk Bold" pitchFamily="34" charset="-120"/>
              </a:rPr>
              <a:t>ENSEMBLE ROBUSTNESS — 200 TREES</a:t>
            </a:r>
            <a:endParaRPr lang="en-US" sz="700" dirty="0"/>
          </a:p>
        </p:txBody>
      </p:sp>
      <p:sp>
        <p:nvSpPr>
          <p:cNvPr id="17" name="Text 13"/>
          <p:cNvSpPr/>
          <p:nvPr/>
        </p:nvSpPr>
        <p:spPr>
          <a:xfrm>
            <a:off x="928688" y="2526711"/>
            <a:ext cx="3657600" cy="431806"/>
          </a:xfrm>
          <a:prstGeom prst="rect">
            <a:avLst/>
          </a:prstGeom>
          <a:noFill/>
          <a:ln/>
        </p:spPr>
        <p:txBody>
          <a:bodyPr wrap="square" lIns="0" tIns="0" rIns="0" bIns="0" rtlCol="0" anchor="t">
            <a:spAutoFit/>
          </a:bodyPr>
          <a:lstStyle/>
          <a:p>
            <a:pPr algn="l" indent="0" marL="0">
              <a:lnSpc>
                <a:spcPct val="124000"/>
              </a:lnSpc>
              <a:buNone/>
            </a:pPr>
            <a:r>
              <a:rPr lang="en-US" sz="650" b="1" dirty="0">
                <a:solidFill>
                  <a:srgbClr val="0056B3"/>
                </a:solidFill>
                <a:latin typeface="Space Grotesk Bold" pitchFamily="34" charset="0"/>
                <a:ea typeface="Space Grotesk Bold" pitchFamily="34" charset="-122"/>
                <a:cs typeface="Space Grotesk Bold" pitchFamily="34" charset="-120"/>
              </a:rPr>
              <a:t>200 decision trees vote</a:t>
            </a:r>
            <a:r>
              <a:rPr lang="en-US" sz="650" dirty="0">
                <a:solidFill>
                  <a:srgbClr val="1A2B4A"/>
                </a:solidFill>
                <a:latin typeface="Space Grotesk" pitchFamily="34" charset="0"/>
                <a:ea typeface="Space Grotesk" pitchFamily="34" charset="-122"/>
                <a:cs typeface="Space Grotesk" pitchFamily="34" charset="-120"/>
              </a:rPr>
              <a:t> on each URL. No single tree dominates. This reduces </a:t>
            </a:r>
            <a:r>
              <a:rPr lang="en-US" sz="650" dirty="0">
                <a:solidFill>
                  <a:srgbClr val="1A2B4A"/>
                </a:solidFill>
                <a:latin typeface="Space Grotesk" pitchFamily="34" charset="0"/>
                <a:ea typeface="Space Grotesk" pitchFamily="34" charset="-122"/>
                <a:cs typeface="Space Grotesk" pitchFamily="34" charset="-120"/>
              </a:rPr>
              <a:t>variance and handles the diversity of phishing tactics — from IP-based attacks to </a:t>
            </a:r>
            <a:r>
              <a:rPr lang="en-US" sz="650" dirty="0">
                <a:solidFill>
                  <a:srgbClr val="1A2B4A"/>
                </a:solidFill>
                <a:latin typeface="Space Grotesk" pitchFamily="34" charset="0"/>
                <a:ea typeface="Space Grotesk" pitchFamily="34" charset="-122"/>
                <a:cs typeface="Space Grotesk" pitchFamily="34" charset="-120"/>
              </a:rPr>
              <a:t>domain-spoofing to obfuscated paths.</a:t>
            </a:r>
            <a:endParaRPr lang="en-US" sz="650" dirty="0"/>
          </a:p>
        </p:txBody>
      </p:sp>
      <p:sp>
        <p:nvSpPr>
          <p:cNvPr id="18" name="Shape 14"/>
          <p:cNvSpPr/>
          <p:nvPr/>
        </p:nvSpPr>
        <p:spPr>
          <a:xfrm>
            <a:off x="400050" y="3201405"/>
            <a:ext cx="4329113" cy="851502"/>
          </a:xfrm>
          <a:prstGeom prst="rect">
            <a:avLst/>
          </a:prstGeom>
          <a:solidFill>
            <a:srgbClr val="E6F0FA"/>
          </a:solidFill>
          <a:ln/>
        </p:spPr>
      </p:sp>
      <p:sp>
        <p:nvSpPr>
          <p:cNvPr id="19" name="Shape 15"/>
          <p:cNvSpPr/>
          <p:nvPr/>
        </p:nvSpPr>
        <p:spPr>
          <a:xfrm>
            <a:off x="400050" y="3201405"/>
            <a:ext cx="4329113" cy="21431"/>
          </a:xfrm>
          <a:prstGeom prst="rect">
            <a:avLst/>
          </a:prstGeom>
          <a:solidFill>
            <a:srgbClr val="0056B3"/>
          </a:solidFill>
          <a:ln/>
        </p:spPr>
      </p:sp>
      <p:sp>
        <p:nvSpPr>
          <p:cNvPr id="20" name="Text 16"/>
          <p:cNvSpPr/>
          <p:nvPr/>
        </p:nvSpPr>
        <p:spPr>
          <a:xfrm>
            <a:off x="542925" y="3315705"/>
            <a:ext cx="257175" cy="200025"/>
          </a:xfrm>
          <a:prstGeom prst="rect">
            <a:avLst/>
          </a:prstGeom>
          <a:noFill/>
          <a:ln/>
        </p:spPr>
        <p:txBody>
          <a:bodyPr wrap="none" lIns="0" tIns="0" rIns="0" bIns="0" rtlCol="0" anchor="t">
            <a:spAutoFit/>
          </a:bodyPr>
          <a:lstStyle/>
          <a:p>
            <a:pPr algn="l" indent="0" marL="0">
              <a:lnSpc>
                <a:spcPct val="80000"/>
              </a:lnSpc>
              <a:buNone/>
            </a:pPr>
            <a:r>
              <a:rPr lang="en-US" sz="1400" b="1" dirty="0">
                <a:solidFill>
                  <a:srgbClr val="0056B3"/>
                </a:solidFill>
                <a:latin typeface="DM Mono Medium" pitchFamily="34" charset="0"/>
                <a:ea typeface="DM Mono Medium" pitchFamily="34" charset="-122"/>
                <a:cs typeface="DM Mono Medium" pitchFamily="34" charset="-120"/>
              </a:rPr>
              <a:t>03</a:t>
            </a:r>
            <a:endParaRPr lang="en-US" sz="1400" dirty="0"/>
          </a:p>
        </p:txBody>
      </p:sp>
      <p:sp>
        <p:nvSpPr>
          <p:cNvPr id="21" name="Text 17"/>
          <p:cNvSpPr/>
          <p:nvPr/>
        </p:nvSpPr>
        <p:spPr>
          <a:xfrm>
            <a:off x="928688" y="3315705"/>
            <a:ext cx="3657600" cy="126802"/>
          </a:xfrm>
          <a:prstGeom prst="rect">
            <a:avLst/>
          </a:prstGeom>
          <a:noFill/>
          <a:ln/>
        </p:spPr>
        <p:txBody>
          <a:bodyPr wrap="square" lIns="0" tIns="0" rIns="0" bIns="0" rtlCol="0" anchor="t">
            <a:spAutoFit/>
          </a:bodyPr>
          <a:lstStyle/>
          <a:p>
            <a:pPr algn="l" indent="0" marL="0">
              <a:buNone/>
            </a:pPr>
            <a:r>
              <a:rPr lang="en-US" sz="700" b="1" spc="1" kern="0" dirty="0">
                <a:solidFill>
                  <a:srgbClr val="0A192F"/>
                </a:solidFill>
                <a:latin typeface="Space Grotesk Bold" pitchFamily="34" charset="0"/>
                <a:ea typeface="Space Grotesk Bold" pitchFamily="34" charset="-122"/>
                <a:cs typeface="Space Grotesk Bold" pitchFamily="34" charset="-120"/>
              </a:rPr>
              <a:t>CLASS IMBALANCE HANDLING</a:t>
            </a:r>
            <a:endParaRPr lang="en-US" sz="700" dirty="0"/>
          </a:p>
        </p:txBody>
      </p:sp>
      <p:sp>
        <p:nvSpPr>
          <p:cNvPr id="22" name="Text 18"/>
          <p:cNvSpPr/>
          <p:nvPr/>
        </p:nvSpPr>
        <p:spPr>
          <a:xfrm>
            <a:off x="928688" y="3485369"/>
            <a:ext cx="3657600" cy="431806"/>
          </a:xfrm>
          <a:prstGeom prst="rect">
            <a:avLst/>
          </a:prstGeom>
          <a:noFill/>
          <a:ln/>
        </p:spPr>
        <p:txBody>
          <a:bodyPr wrap="square" lIns="0" tIns="0" rIns="0" bIns="0" rtlCol="0" anchor="t">
            <a:spAutoFit/>
          </a:bodyPr>
          <a:lstStyle/>
          <a:p>
            <a:pPr algn="l" indent="0" marL="0">
              <a:lnSpc>
                <a:spcPct val="124000"/>
              </a:lnSpc>
              <a:buNone/>
            </a:pPr>
            <a:r>
              <a:rPr lang="en-US" sz="650" dirty="0">
                <a:solidFill>
                  <a:srgbClr val="1A2B4A"/>
                </a:solidFill>
                <a:latin typeface="Space Grotesk" pitchFamily="34" charset="0"/>
                <a:ea typeface="Space Grotesk" pitchFamily="34" charset="-122"/>
                <a:cs typeface="Space Grotesk" pitchFamily="34" charset="-120"/>
              </a:rPr>
              <a:t>With </a:t>
            </a:r>
            <a:r>
              <a:rPr lang="en-US" sz="650" b="1" dirty="0">
                <a:solidFill>
                  <a:srgbClr val="0056B3"/>
                </a:solidFill>
                <a:latin typeface="Space Grotesk Bold" pitchFamily="34" charset="0"/>
                <a:ea typeface="Space Grotesk Bold" pitchFamily="34" charset="-122"/>
                <a:cs typeface="Space Grotesk Bold" pitchFamily="34" charset="-120"/>
              </a:rPr>
              <a:t>class_weight='balanced'</a:t>
            </a:r>
            <a:r>
              <a:rPr lang="en-US" sz="650" dirty="0">
                <a:solidFill>
                  <a:srgbClr val="1A2B4A"/>
                </a:solidFill>
                <a:latin typeface="Space Grotesk" pitchFamily="34" charset="0"/>
                <a:ea typeface="Space Grotesk" pitchFamily="34" charset="-122"/>
                <a:cs typeface="Space Grotesk" pitchFamily="34" charset="-120"/>
              </a:rPr>
              <a:t>, RF adjusts for the 66/34 class split automatically. </a:t>
            </a:r>
            <a:r>
              <a:rPr lang="en-US" sz="650" dirty="0">
                <a:solidFill>
                  <a:srgbClr val="1A2B4A"/>
                </a:solidFill>
                <a:latin typeface="Space Grotesk" pitchFamily="34" charset="0"/>
                <a:ea typeface="Space Grotesk" pitchFamily="34" charset="-122"/>
                <a:cs typeface="Space Grotesk" pitchFamily="34" charset="-120"/>
              </a:rPr>
              <a:t>Linear models achieved only ~50% Recall — missing half of all phishing URLs. RF </a:t>
            </a:r>
            <a:r>
              <a:rPr lang="en-US" sz="650" dirty="0">
                <a:solidFill>
                  <a:srgbClr val="1A2B4A"/>
                </a:solidFill>
                <a:latin typeface="Space Grotesk" pitchFamily="34" charset="0"/>
                <a:ea typeface="Space Grotesk" pitchFamily="34" charset="-122"/>
                <a:cs typeface="Space Grotesk" pitchFamily="34" charset="-120"/>
              </a:rPr>
              <a:t>achieved </a:t>
            </a:r>
            <a:r>
              <a:rPr lang="en-US" sz="650" b="1" dirty="0">
                <a:solidFill>
                  <a:srgbClr val="0056B3"/>
                </a:solidFill>
                <a:latin typeface="Space Grotesk Bold" pitchFamily="34" charset="0"/>
                <a:ea typeface="Space Grotesk Bold" pitchFamily="34" charset="-122"/>
                <a:cs typeface="Space Grotesk Bold" pitchFamily="34" charset="-120"/>
              </a:rPr>
              <a:t>93% Recall</a:t>
            </a:r>
            <a:r>
              <a:rPr lang="en-US" sz="650" dirty="0">
                <a:solidFill>
                  <a:srgbClr val="1A2B4A"/>
                </a:solidFill>
                <a:latin typeface="Space Grotesk" pitchFamily="34" charset="0"/>
                <a:ea typeface="Space Grotesk" pitchFamily="34" charset="-122"/>
                <a:cs typeface="Space Grotesk" pitchFamily="34" charset="-120"/>
              </a:rPr>
              <a:t>.</a:t>
            </a:r>
            <a:endParaRPr lang="en-US" sz="650" dirty="0"/>
          </a:p>
        </p:txBody>
      </p:sp>
      <p:sp>
        <p:nvSpPr>
          <p:cNvPr id="23" name="Text 19"/>
          <p:cNvSpPr/>
          <p:nvPr/>
        </p:nvSpPr>
        <p:spPr>
          <a:xfrm>
            <a:off x="5314950" y="1023342"/>
            <a:ext cx="3429000"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RECALL COMPARISON — THE CRITICAL METRIC</a:t>
            </a:r>
            <a:endParaRPr lang="en-US" sz="550" dirty="0"/>
          </a:p>
        </p:txBody>
      </p:sp>
      <p:pic>
        <p:nvPicPr>
          <p:cNvPr id="24" name="Image 1" descr="preencoded.png">    </p:cNvPr>
          <p:cNvPicPr>
            <a:picLocks noChangeAspect="1"/>
          </p:cNvPicPr>
          <p:nvPr/>
        </p:nvPicPr>
        <p:blipFill>
          <a:blip r:embed="rId2"/>
          <a:stretch>
            <a:fillRect/>
          </a:stretch>
        </p:blipFill>
        <p:spPr>
          <a:xfrm>
            <a:off x="5314950" y="1241227"/>
            <a:ext cx="3429000" cy="2143125"/>
          </a:xfrm>
          <a:prstGeom prst="rect">
            <a:avLst/>
          </a:prstGeom>
        </p:spPr>
      </p:pic>
      <p:sp>
        <p:nvSpPr>
          <p:cNvPr id="25" name="Shape 20"/>
          <p:cNvSpPr/>
          <p:nvPr/>
        </p:nvSpPr>
        <p:spPr>
          <a:xfrm>
            <a:off x="5314950" y="3527227"/>
            <a:ext cx="3429000" cy="814388"/>
          </a:xfrm>
          <a:prstGeom prst="rect">
            <a:avLst/>
          </a:prstGeom>
          <a:solidFill>
            <a:srgbClr val="0A192F"/>
          </a:solidFill>
          <a:ln/>
        </p:spPr>
      </p:sp>
      <p:sp>
        <p:nvSpPr>
          <p:cNvPr id="26" name="Text 21"/>
          <p:cNvSpPr/>
          <p:nvPr/>
        </p:nvSpPr>
        <p:spPr>
          <a:xfrm>
            <a:off x="5472113" y="3805833"/>
            <a:ext cx="614363" cy="257175"/>
          </a:xfrm>
          <a:prstGeom prst="rect">
            <a:avLst/>
          </a:prstGeom>
          <a:noFill/>
          <a:ln/>
        </p:spPr>
        <p:txBody>
          <a:bodyPr wrap="none" lIns="0" tIns="0" rIns="0" bIns="0" rtlCol="0" anchor="t">
            <a:spAutoFit/>
          </a:bodyPr>
          <a:lstStyle/>
          <a:p>
            <a:pPr algn="l" indent="0" marL="0">
              <a:lnSpc>
                <a:spcPct val="80000"/>
              </a:lnSpc>
              <a:buNone/>
            </a:pPr>
            <a:r>
              <a:rPr lang="en-US" sz="1800" b="1" dirty="0">
                <a:solidFill>
                  <a:srgbClr val="4A90D9"/>
                </a:solidFill>
                <a:latin typeface="DM Mono Medium" pitchFamily="34" charset="0"/>
                <a:ea typeface="DM Mono Medium" pitchFamily="34" charset="-122"/>
                <a:cs typeface="DM Mono Medium" pitchFamily="34" charset="-120"/>
              </a:rPr>
              <a:t>+43%</a:t>
            </a:r>
            <a:endParaRPr lang="en-US" sz="1800" dirty="0"/>
          </a:p>
        </p:txBody>
      </p:sp>
      <p:sp>
        <p:nvSpPr>
          <p:cNvPr id="27" name="Text 22"/>
          <p:cNvSpPr/>
          <p:nvPr/>
        </p:nvSpPr>
        <p:spPr>
          <a:xfrm>
            <a:off x="6377304" y="3655814"/>
            <a:ext cx="2209484" cy="557213"/>
          </a:xfrm>
          <a:prstGeom prst="rect">
            <a:avLst/>
          </a:prstGeom>
          <a:noFill/>
          <a:ln/>
        </p:spPr>
        <p:txBody>
          <a:bodyPr wrap="square" lIns="0" tIns="0" rIns="0" bIns="0" rtlCol="0" anchor="t">
            <a:spAutoFit/>
          </a:bodyPr>
          <a:lstStyle/>
          <a:p>
            <a:pPr algn="l" indent="0" marL="0">
              <a:lnSpc>
                <a:spcPct val="120000"/>
              </a:lnSpc>
              <a:buNone/>
            </a:pPr>
            <a:r>
              <a:rPr lang="en-US" sz="650" b="1" dirty="0">
                <a:solidFill>
                  <a:srgbClr val="FFFFFF"/>
                </a:solidFill>
                <a:latin typeface="Space Grotesk Bold" pitchFamily="34" charset="0"/>
                <a:ea typeface="Space Grotesk Bold" pitchFamily="34" charset="-122"/>
                <a:cs typeface="Space Grotesk Bold" pitchFamily="34" charset="-120"/>
              </a:rPr>
              <a:t>Recall advantage</a:t>
            </a:r>
            <a:r>
              <a:rPr lang="en-US" sz="650" dirty="0">
                <a:solidFill>
                  <a:srgbClr val="C8DEFF"/>
                </a:solidFill>
                <a:latin typeface="Space Grotesk" pitchFamily="34" charset="0"/>
                <a:ea typeface="Space Grotesk" pitchFamily="34" charset="-122"/>
                <a:cs typeface="Space Grotesk" pitchFamily="34" charset="-120"/>
              </a:rPr>
              <a:t> of Random Forest over linear </a:t>
            </a:r>
            <a:r>
              <a:rPr lang="en-US" sz="650" dirty="0">
                <a:solidFill>
                  <a:srgbClr val="C8DEFF"/>
                </a:solidFill>
                <a:latin typeface="Space Grotesk" pitchFamily="34" charset="0"/>
                <a:ea typeface="Space Grotesk" pitchFamily="34" charset="-122"/>
                <a:cs typeface="Space Grotesk" pitchFamily="34" charset="-120"/>
              </a:rPr>
              <a:t>models — meaning RF catches 43% more </a:t>
            </a:r>
            <a:r>
              <a:rPr lang="en-US" sz="650" dirty="0">
                <a:solidFill>
                  <a:srgbClr val="C8DEFF"/>
                </a:solidFill>
                <a:latin typeface="Space Grotesk" pitchFamily="34" charset="0"/>
                <a:ea typeface="Space Grotesk" pitchFamily="34" charset="-122"/>
                <a:cs typeface="Space Grotesk" pitchFamily="34" charset="-120"/>
              </a:rPr>
              <a:t>phishing URLs that LR and SVM would miss </a:t>
            </a:r>
            <a:r>
              <a:rPr lang="en-US" sz="650" dirty="0">
                <a:solidFill>
                  <a:srgbClr val="C8DEFF"/>
                </a:solidFill>
                <a:latin typeface="Space Grotesk" pitchFamily="34" charset="0"/>
                <a:ea typeface="Space Grotesk" pitchFamily="34" charset="-122"/>
                <a:cs typeface="Space Grotesk" pitchFamily="34" charset="-120"/>
              </a:rPr>
              <a:t>entirely</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794742"/>
          </a:xfrm>
          <a:prstGeom prst="rect">
            <a:avLst/>
          </a:prstGeom>
          <a:solidFill>
            <a:srgbClr val="0A192F"/>
          </a:solidFill>
          <a:ln/>
        </p:spPr>
      </p:sp>
      <p:sp>
        <p:nvSpPr>
          <p:cNvPr id="5" name="Text 1"/>
          <p:cNvSpPr/>
          <p:nvPr/>
        </p:nvSpPr>
        <p:spPr>
          <a:xfrm>
            <a:off x="400050" y="200025"/>
            <a:ext cx="2505670" cy="121444"/>
          </a:xfrm>
          <a:prstGeom prst="rect">
            <a:avLst/>
          </a:prstGeom>
          <a:noFill/>
          <a:ln/>
        </p:spPr>
        <p:txBody>
          <a:bodyPr wrap="square" lIns="0" tIns="0" rIns="0" bIns="0" rtlCol="0" anchor="t">
            <a:spAutoFit/>
          </a:bodyPr>
          <a:lstStyle/>
          <a:p>
            <a:pPr algn="l" indent="0" marL="0">
              <a:buNone/>
            </a:pPr>
            <a:r>
              <a:rPr lang="en-US" sz="650" spc="2" kern="0" dirty="0">
                <a:solidFill>
                  <a:srgbClr val="4A90D9"/>
                </a:solidFill>
                <a:latin typeface="DM Mono" pitchFamily="34" charset="0"/>
                <a:ea typeface="DM Mono" pitchFamily="34" charset="-122"/>
                <a:cs typeface="DM Mono" pitchFamily="34" charset="-120"/>
              </a:rPr>
              <a:t>08 / 10</a:t>
            </a:r>
            <a:endParaRPr lang="en-US" sz="650" dirty="0"/>
          </a:p>
        </p:txBody>
      </p:sp>
      <p:sp>
        <p:nvSpPr>
          <p:cNvPr id="6" name="Text 2"/>
          <p:cNvSpPr/>
          <p:nvPr/>
        </p:nvSpPr>
        <p:spPr>
          <a:xfrm>
            <a:off x="400050" y="350044"/>
            <a:ext cx="2505670" cy="273248"/>
          </a:xfrm>
          <a:prstGeom prst="rect">
            <a:avLst/>
          </a:prstGeom>
          <a:noFill/>
          <a:ln/>
        </p:spPr>
        <p:txBody>
          <a:bodyPr wrap="square" lIns="0" tIns="0" rIns="0" bIns="0" rtlCol="0" anchor="t">
            <a:spAutoFit/>
          </a:bodyPr>
          <a:lstStyle/>
          <a:p>
            <a:pPr algn="l" indent="0" marL="0">
              <a:buNone/>
            </a:pPr>
            <a:r>
              <a:rPr lang="en-US" sz="1500" b="1" dirty="0">
                <a:solidFill>
                  <a:srgbClr val="FFFFFF"/>
                </a:solidFill>
                <a:latin typeface="Space Grotesk Bold" pitchFamily="34" charset="0"/>
                <a:ea typeface="Space Grotesk Bold" pitchFamily="34" charset="-122"/>
                <a:cs typeface="Space Grotesk Bold" pitchFamily="34" charset="-120"/>
              </a:rPr>
              <a:t>Limitations &amp; </a:t>
            </a:r>
            <a:r>
              <a:rPr lang="en-US" sz="1500" b="1" dirty="0">
                <a:solidFill>
                  <a:srgbClr val="4A90D9"/>
                </a:solidFill>
                <a:latin typeface="Space Grotesk Bold" pitchFamily="34" charset="0"/>
                <a:ea typeface="Space Grotesk Bold" pitchFamily="34" charset="-122"/>
                <a:cs typeface="Space Grotesk Bold" pitchFamily="34" charset="-120"/>
              </a:rPr>
              <a:t>Discussion</a:t>
            </a:r>
            <a:endParaRPr lang="en-US" sz="1500" dirty="0"/>
          </a:p>
        </p:txBody>
      </p:sp>
      <p:sp>
        <p:nvSpPr>
          <p:cNvPr id="7" name="Text 3"/>
          <p:cNvSpPr/>
          <p:nvPr/>
        </p:nvSpPr>
        <p:spPr>
          <a:xfrm>
            <a:off x="400050" y="1023342"/>
            <a:ext cx="3871913"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ACKNOWLEDGED LIMITATIONS</a:t>
            </a:r>
            <a:endParaRPr lang="en-US" sz="550" dirty="0"/>
          </a:p>
        </p:txBody>
      </p:sp>
      <p:sp>
        <p:nvSpPr>
          <p:cNvPr id="8" name="Text 4"/>
          <p:cNvSpPr/>
          <p:nvPr/>
        </p:nvSpPr>
        <p:spPr>
          <a:xfrm>
            <a:off x="400050" y="1255514"/>
            <a:ext cx="257175" cy="200025"/>
          </a:xfrm>
          <a:prstGeom prst="rect">
            <a:avLst/>
          </a:prstGeom>
          <a:noFill/>
          <a:ln/>
        </p:spPr>
        <p:txBody>
          <a:bodyPr wrap="none" lIns="0" tIns="0" rIns="0" bIns="0" rtlCol="0" anchor="t">
            <a:spAutoFit/>
          </a:bodyPr>
          <a:lstStyle/>
          <a:p>
            <a:pPr algn="l" indent="0" marL="0">
              <a:lnSpc>
                <a:spcPct val="80000"/>
              </a:lnSpc>
              <a:buNone/>
            </a:pPr>
            <a:r>
              <a:rPr lang="en-US" sz="1400" b="1" dirty="0">
                <a:solidFill>
                  <a:srgbClr val="C8DEFF"/>
                </a:solidFill>
                <a:latin typeface="DM Mono Medium" pitchFamily="34" charset="0"/>
                <a:ea typeface="DM Mono Medium" pitchFamily="34" charset="-122"/>
                <a:cs typeface="DM Mono Medium" pitchFamily="34" charset="-120"/>
              </a:rPr>
              <a:t>01</a:t>
            </a:r>
            <a:endParaRPr lang="en-US" sz="1400" dirty="0"/>
          </a:p>
        </p:txBody>
      </p:sp>
      <p:sp>
        <p:nvSpPr>
          <p:cNvPr id="9" name="Text 5"/>
          <p:cNvSpPr/>
          <p:nvPr/>
        </p:nvSpPr>
        <p:spPr>
          <a:xfrm>
            <a:off x="771525" y="1255514"/>
            <a:ext cx="3500438" cy="137517"/>
          </a:xfrm>
          <a:prstGeom prst="rect">
            <a:avLst/>
          </a:prstGeom>
          <a:noFill/>
          <a:ln/>
        </p:spPr>
        <p:txBody>
          <a:bodyPr wrap="square" lIns="0" tIns="0" rIns="0" bIns="0" rtlCol="0" anchor="t">
            <a:spAutoFit/>
          </a:bodyPr>
          <a:lstStyle/>
          <a:p>
            <a:pPr algn="l" indent="0" marL="0">
              <a:buNone/>
            </a:pPr>
            <a:r>
              <a:rPr lang="en-US" sz="750" b="1" dirty="0">
                <a:solidFill>
                  <a:srgbClr val="0A192F"/>
                </a:solidFill>
                <a:latin typeface="Space Grotesk Bold" pitchFamily="34" charset="0"/>
                <a:ea typeface="Space Grotesk Bold" pitchFamily="34" charset="-122"/>
                <a:cs typeface="Space Grotesk Bold" pitchFamily="34" charset="-120"/>
              </a:rPr>
              <a:t>Temporal Drift</a:t>
            </a:r>
            <a:endParaRPr lang="en-US" sz="750" dirty="0"/>
          </a:p>
        </p:txBody>
      </p:sp>
      <p:sp>
        <p:nvSpPr>
          <p:cNvPr id="10" name="Text 6"/>
          <p:cNvSpPr/>
          <p:nvPr/>
        </p:nvSpPr>
        <p:spPr>
          <a:xfrm>
            <a:off x="771525" y="1428750"/>
            <a:ext cx="3500438" cy="431806"/>
          </a:xfrm>
          <a:prstGeom prst="rect">
            <a:avLst/>
          </a:prstGeom>
          <a:noFill/>
          <a:ln/>
        </p:spPr>
        <p:txBody>
          <a:bodyPr wrap="square" lIns="0" tIns="0" rIns="0" bIns="0" rtlCol="0" anchor="t">
            <a:spAutoFit/>
          </a:bodyPr>
          <a:lstStyle/>
          <a:p>
            <a:pPr algn="l" indent="0" marL="0">
              <a:lnSpc>
                <a:spcPct val="124000"/>
              </a:lnSpc>
              <a:buNone/>
            </a:pPr>
            <a:r>
              <a:rPr lang="en-US" sz="650" dirty="0">
                <a:solidFill>
                  <a:srgbClr val="3A4B6A"/>
                </a:solidFill>
                <a:latin typeface="Space Grotesk" pitchFamily="34" charset="0"/>
                <a:ea typeface="Space Grotesk" pitchFamily="34" charset="-122"/>
                <a:cs typeface="Space Grotesk" pitchFamily="34" charset="-120"/>
              </a:rPr>
              <a:t>The dataset is historical. As phishing tactics evolve, the model requires periodic retraining on fresh data to maintain accuracy in a production environment.</a:t>
            </a:r>
            <a:endParaRPr lang="en-US" sz="650" dirty="0"/>
          </a:p>
        </p:txBody>
      </p:sp>
      <p:sp>
        <p:nvSpPr>
          <p:cNvPr id="11" name="Text 7"/>
          <p:cNvSpPr/>
          <p:nvPr/>
        </p:nvSpPr>
        <p:spPr>
          <a:xfrm>
            <a:off x="400050" y="2153450"/>
            <a:ext cx="257175" cy="200025"/>
          </a:xfrm>
          <a:prstGeom prst="rect">
            <a:avLst/>
          </a:prstGeom>
          <a:noFill/>
          <a:ln/>
        </p:spPr>
        <p:txBody>
          <a:bodyPr wrap="none" lIns="0" tIns="0" rIns="0" bIns="0" rtlCol="0" anchor="t">
            <a:spAutoFit/>
          </a:bodyPr>
          <a:lstStyle/>
          <a:p>
            <a:pPr algn="l" indent="0" marL="0">
              <a:lnSpc>
                <a:spcPct val="80000"/>
              </a:lnSpc>
              <a:buNone/>
            </a:pPr>
            <a:r>
              <a:rPr lang="en-US" sz="1400" b="1" dirty="0">
                <a:solidFill>
                  <a:srgbClr val="C8DEFF"/>
                </a:solidFill>
                <a:latin typeface="DM Mono Medium" pitchFamily="34" charset="0"/>
                <a:ea typeface="DM Mono Medium" pitchFamily="34" charset="-122"/>
                <a:cs typeface="DM Mono Medium" pitchFamily="34" charset="-120"/>
              </a:rPr>
              <a:t>02</a:t>
            </a:r>
            <a:endParaRPr lang="en-US" sz="1400" dirty="0"/>
          </a:p>
        </p:txBody>
      </p:sp>
      <p:sp>
        <p:nvSpPr>
          <p:cNvPr id="12" name="Text 8"/>
          <p:cNvSpPr/>
          <p:nvPr/>
        </p:nvSpPr>
        <p:spPr>
          <a:xfrm>
            <a:off x="771525" y="2153450"/>
            <a:ext cx="3500438" cy="137517"/>
          </a:xfrm>
          <a:prstGeom prst="rect">
            <a:avLst/>
          </a:prstGeom>
          <a:noFill/>
          <a:ln/>
        </p:spPr>
        <p:txBody>
          <a:bodyPr wrap="square" lIns="0" tIns="0" rIns="0" bIns="0" rtlCol="0" anchor="t">
            <a:spAutoFit/>
          </a:bodyPr>
          <a:lstStyle/>
          <a:p>
            <a:pPr algn="l" indent="0" marL="0">
              <a:buNone/>
            </a:pPr>
            <a:r>
              <a:rPr lang="en-US" sz="750" b="1" dirty="0">
                <a:solidFill>
                  <a:srgbClr val="0A192F"/>
                </a:solidFill>
                <a:latin typeface="Space Grotesk Bold" pitchFamily="34" charset="0"/>
                <a:ea typeface="Space Grotesk Bold" pitchFamily="34" charset="-122"/>
                <a:cs typeface="Space Grotesk Bold" pitchFamily="34" charset="-120"/>
              </a:rPr>
              <a:t>Lexical-Only Scope</a:t>
            </a:r>
            <a:endParaRPr lang="en-US" sz="750" dirty="0"/>
          </a:p>
        </p:txBody>
      </p:sp>
      <p:sp>
        <p:nvSpPr>
          <p:cNvPr id="13" name="Text 9"/>
          <p:cNvSpPr/>
          <p:nvPr/>
        </p:nvSpPr>
        <p:spPr>
          <a:xfrm>
            <a:off x="771525" y="2326686"/>
            <a:ext cx="3500438" cy="431806"/>
          </a:xfrm>
          <a:prstGeom prst="rect">
            <a:avLst/>
          </a:prstGeom>
          <a:noFill/>
          <a:ln/>
        </p:spPr>
        <p:txBody>
          <a:bodyPr wrap="square" lIns="0" tIns="0" rIns="0" bIns="0" rtlCol="0" anchor="t">
            <a:spAutoFit/>
          </a:bodyPr>
          <a:lstStyle/>
          <a:p>
            <a:pPr algn="l" indent="0" marL="0">
              <a:lnSpc>
                <a:spcPct val="124000"/>
              </a:lnSpc>
              <a:buNone/>
            </a:pPr>
            <a:r>
              <a:rPr lang="en-US" sz="650" dirty="0">
                <a:solidFill>
                  <a:srgbClr val="3A4B6A"/>
                </a:solidFill>
                <a:latin typeface="Space Grotesk" pitchFamily="34" charset="0"/>
                <a:ea typeface="Space Grotesk" pitchFamily="34" charset="-122"/>
                <a:cs typeface="Space Grotesk" pitchFamily="34" charset="-120"/>
              </a:rPr>
              <a:t>Sophisticated domain-spoofing attacks (e.g. </a:t>
            </a:r>
            <a:r>
              <a:rPr lang="en-US" sz="600" dirty="0">
                <a:solidFill>
                  <a:srgbClr val="3A4B6A"/>
                </a:solidFill>
                <a:latin typeface="DM Mono" pitchFamily="34" charset="0"/>
                <a:ea typeface="DM Mono" pitchFamily="34" charset="-122"/>
                <a:cs typeface="DM Mono" pitchFamily="34" charset="-120"/>
              </a:rPr>
              <a:t>paypal.com.verify-login.net</a:t>
            </a:r>
            <a:r>
              <a:rPr lang="en-US" sz="650" dirty="0">
                <a:solidFill>
                  <a:srgbClr val="3A4B6A"/>
                </a:solidFill>
                <a:latin typeface="Space Grotesk" pitchFamily="34" charset="0"/>
                <a:ea typeface="Space Grotesk" pitchFamily="34" charset="-122"/>
                <a:cs typeface="Space Grotesk" pitchFamily="34" charset="-120"/>
              </a:rPr>
              <a:t>) </a:t>
            </a:r>
            <a:r>
              <a:rPr lang="en-US" sz="650" dirty="0">
                <a:solidFill>
                  <a:srgbClr val="3A4B6A"/>
                </a:solidFill>
                <a:latin typeface="Space Grotesk" pitchFamily="34" charset="0"/>
                <a:ea typeface="Space Grotesk" pitchFamily="34" charset="-122"/>
                <a:cs typeface="Space Grotesk" pitchFamily="34" charset="-120"/>
              </a:rPr>
              <a:t>may score lower than expected. Content-based features would improve </a:t>
            </a:r>
            <a:r>
              <a:rPr lang="en-US" sz="650" dirty="0">
                <a:solidFill>
                  <a:srgbClr val="3A4B6A"/>
                </a:solidFill>
                <a:latin typeface="Space Grotesk" pitchFamily="34" charset="0"/>
                <a:ea typeface="Space Grotesk" pitchFamily="34" charset="-122"/>
                <a:cs typeface="Space Grotesk" pitchFamily="34" charset="-120"/>
              </a:rPr>
              <a:t>detection of these cases.</a:t>
            </a:r>
            <a:endParaRPr lang="en-US" sz="650" dirty="0"/>
          </a:p>
        </p:txBody>
      </p:sp>
      <p:sp>
        <p:nvSpPr>
          <p:cNvPr id="14" name="Text 10"/>
          <p:cNvSpPr/>
          <p:nvPr/>
        </p:nvSpPr>
        <p:spPr>
          <a:xfrm>
            <a:off x="400050" y="3051386"/>
            <a:ext cx="257175" cy="200025"/>
          </a:xfrm>
          <a:prstGeom prst="rect">
            <a:avLst/>
          </a:prstGeom>
          <a:noFill/>
          <a:ln/>
        </p:spPr>
        <p:txBody>
          <a:bodyPr wrap="none" lIns="0" tIns="0" rIns="0" bIns="0" rtlCol="0" anchor="t">
            <a:spAutoFit/>
          </a:bodyPr>
          <a:lstStyle/>
          <a:p>
            <a:pPr algn="l" indent="0" marL="0">
              <a:lnSpc>
                <a:spcPct val="80000"/>
              </a:lnSpc>
              <a:buNone/>
            </a:pPr>
            <a:r>
              <a:rPr lang="en-US" sz="1400" b="1" dirty="0">
                <a:solidFill>
                  <a:srgbClr val="C8DEFF"/>
                </a:solidFill>
                <a:latin typeface="DM Mono Medium" pitchFamily="34" charset="0"/>
                <a:ea typeface="DM Mono Medium" pitchFamily="34" charset="-122"/>
                <a:cs typeface="DM Mono Medium" pitchFamily="34" charset="-120"/>
              </a:rPr>
              <a:t>03</a:t>
            </a:r>
            <a:endParaRPr lang="en-US" sz="1400" dirty="0"/>
          </a:p>
        </p:txBody>
      </p:sp>
      <p:sp>
        <p:nvSpPr>
          <p:cNvPr id="15" name="Text 11"/>
          <p:cNvSpPr/>
          <p:nvPr/>
        </p:nvSpPr>
        <p:spPr>
          <a:xfrm>
            <a:off x="771525" y="3051386"/>
            <a:ext cx="3500438" cy="137517"/>
          </a:xfrm>
          <a:prstGeom prst="rect">
            <a:avLst/>
          </a:prstGeom>
          <a:noFill/>
          <a:ln/>
        </p:spPr>
        <p:txBody>
          <a:bodyPr wrap="square" lIns="0" tIns="0" rIns="0" bIns="0" rtlCol="0" anchor="t">
            <a:spAutoFit/>
          </a:bodyPr>
          <a:lstStyle/>
          <a:p>
            <a:pPr algn="l" indent="0" marL="0">
              <a:buNone/>
            </a:pPr>
            <a:r>
              <a:rPr lang="en-US" sz="750" b="1" dirty="0">
                <a:solidFill>
                  <a:srgbClr val="0A192F"/>
                </a:solidFill>
                <a:latin typeface="Space Grotesk Bold" pitchFamily="34" charset="0"/>
                <a:ea typeface="Space Grotesk Bold" pitchFamily="34" charset="-122"/>
                <a:cs typeface="Space Grotesk Bold" pitchFamily="34" charset="-120"/>
              </a:rPr>
              <a:t>Dataset Representativeness</a:t>
            </a:r>
            <a:endParaRPr lang="en-US" sz="750" dirty="0"/>
          </a:p>
        </p:txBody>
      </p:sp>
      <p:sp>
        <p:nvSpPr>
          <p:cNvPr id="16" name="Text 12"/>
          <p:cNvSpPr/>
          <p:nvPr/>
        </p:nvSpPr>
        <p:spPr>
          <a:xfrm>
            <a:off x="771525" y="3224622"/>
            <a:ext cx="3500438" cy="431806"/>
          </a:xfrm>
          <a:prstGeom prst="rect">
            <a:avLst/>
          </a:prstGeom>
          <a:noFill/>
          <a:ln/>
        </p:spPr>
        <p:txBody>
          <a:bodyPr wrap="square" lIns="0" tIns="0" rIns="0" bIns="0" rtlCol="0" anchor="t">
            <a:spAutoFit/>
          </a:bodyPr>
          <a:lstStyle/>
          <a:p>
            <a:pPr algn="l" indent="0" marL="0">
              <a:lnSpc>
                <a:spcPct val="124000"/>
              </a:lnSpc>
              <a:buNone/>
            </a:pPr>
            <a:r>
              <a:rPr lang="en-US" sz="650" dirty="0">
                <a:solidFill>
                  <a:srgbClr val="3A4B6A"/>
                </a:solidFill>
                <a:latin typeface="Space Grotesk" pitchFamily="34" charset="0"/>
                <a:ea typeface="Space Grotesk" pitchFamily="34" charset="-122"/>
                <a:cs typeface="Space Grotesk" pitchFamily="34" charset="-120"/>
              </a:rPr>
              <a:t>The Kaggle dataset may not fully represent current phishing campaigns, particularly mobile-targeted attacks, homograph attacks, or newly emerging URL obfuscation patterns.</a:t>
            </a:r>
            <a:endParaRPr lang="en-US" sz="650" dirty="0"/>
          </a:p>
        </p:txBody>
      </p:sp>
      <p:sp>
        <p:nvSpPr>
          <p:cNvPr id="17" name="Text 13"/>
          <p:cNvSpPr/>
          <p:nvPr/>
        </p:nvSpPr>
        <p:spPr>
          <a:xfrm>
            <a:off x="4857750" y="1023342"/>
            <a:ext cx="3886200" cy="103584"/>
          </a:xfrm>
          <a:prstGeom prst="rect">
            <a:avLst/>
          </a:prstGeom>
          <a:noFill/>
          <a:ln/>
        </p:spPr>
        <p:txBody>
          <a:bodyPr wrap="square" lIns="0" tIns="0" rIns="0" bIns="0" rtlCol="0" anchor="t">
            <a:spAutoFit/>
          </a:bodyPr>
          <a:lstStyle/>
          <a:p>
            <a:pPr algn="l" indent="0" marL="0">
              <a:buNone/>
            </a:pPr>
            <a:r>
              <a:rPr lang="en-US" sz="550" spc="2" kern="0" dirty="0">
                <a:solidFill>
                  <a:srgbClr val="2E7D32"/>
                </a:solidFill>
                <a:latin typeface="DM Mono" pitchFamily="34" charset="0"/>
                <a:ea typeface="DM Mono" pitchFamily="34" charset="-122"/>
                <a:cs typeface="DM Mono" pitchFamily="34" charset="-120"/>
              </a:rPr>
              <a:t>CONTRIBUTIONS TO LITERATURE</a:t>
            </a:r>
            <a:endParaRPr lang="en-US" sz="550" dirty="0"/>
          </a:p>
        </p:txBody>
      </p:sp>
      <p:sp>
        <p:nvSpPr>
          <p:cNvPr id="18" name="Shape 14"/>
          <p:cNvSpPr/>
          <p:nvPr/>
        </p:nvSpPr>
        <p:spPr>
          <a:xfrm>
            <a:off x="4857750" y="1269802"/>
            <a:ext cx="257175" cy="169664"/>
          </a:xfrm>
          <a:prstGeom prst="rect">
            <a:avLst/>
          </a:prstGeom>
          <a:solidFill>
            <a:srgbClr val="0056B3"/>
          </a:solidFill>
          <a:ln/>
        </p:spPr>
      </p:sp>
      <p:sp>
        <p:nvSpPr>
          <p:cNvPr id="19" name="Text 15"/>
          <p:cNvSpPr/>
          <p:nvPr/>
        </p:nvSpPr>
        <p:spPr>
          <a:xfrm>
            <a:off x="4857750" y="1269802"/>
            <a:ext cx="257175" cy="169664"/>
          </a:xfrm>
          <a:prstGeom prst="rect">
            <a:avLst/>
          </a:prstGeom>
          <a:noFill/>
          <a:ln/>
        </p:spPr>
        <p:txBody>
          <a:bodyPr wrap="none" lIns="85090" tIns="34036" rIns="85090" bIns="34036" rtlCol="0" anchor="t">
            <a:spAutoFit/>
          </a:bodyPr>
          <a:lstStyle/>
          <a:p>
            <a:pPr algn="ctr" indent="0" marL="0">
              <a:buNone/>
            </a:pPr>
            <a:r>
              <a:rPr lang="en-US" sz="600" b="1" dirty="0">
                <a:solidFill>
                  <a:srgbClr val="FFFFFF"/>
                </a:solidFill>
                <a:latin typeface="DM Mono Medium" pitchFamily="34" charset="0"/>
                <a:ea typeface="DM Mono Medium" pitchFamily="34" charset="-122"/>
                <a:cs typeface="DM Mono Medium" pitchFamily="34" charset="-120"/>
              </a:rPr>
              <a:t>C1</a:t>
            </a:r>
            <a:endParaRPr lang="en-US" sz="600" dirty="0"/>
          </a:p>
        </p:txBody>
      </p:sp>
      <p:sp>
        <p:nvSpPr>
          <p:cNvPr id="20" name="Text 16"/>
          <p:cNvSpPr/>
          <p:nvPr/>
        </p:nvSpPr>
        <p:spPr>
          <a:xfrm>
            <a:off x="5229225" y="1255514"/>
            <a:ext cx="3514725" cy="137517"/>
          </a:xfrm>
          <a:prstGeom prst="rect">
            <a:avLst/>
          </a:prstGeom>
          <a:noFill/>
          <a:ln/>
        </p:spPr>
        <p:txBody>
          <a:bodyPr wrap="square" lIns="0" tIns="0" rIns="0" bIns="0" rtlCol="0" anchor="t">
            <a:spAutoFit/>
          </a:bodyPr>
          <a:lstStyle/>
          <a:p>
            <a:pPr algn="l" indent="0" marL="0">
              <a:buNone/>
            </a:pPr>
            <a:r>
              <a:rPr lang="en-US" sz="750" b="1" dirty="0">
                <a:solidFill>
                  <a:srgbClr val="0056B3"/>
                </a:solidFill>
                <a:latin typeface="Space Grotesk Bold" pitchFamily="34" charset="0"/>
                <a:ea typeface="Space Grotesk Bold" pitchFamily="34" charset="-122"/>
                <a:cs typeface="Space Grotesk Bold" pitchFamily="34" charset="-120"/>
              </a:rPr>
              <a:t>Largest Controlled Comparison</a:t>
            </a:r>
            <a:endParaRPr lang="en-US" sz="750" dirty="0"/>
          </a:p>
        </p:txBody>
      </p:sp>
      <p:sp>
        <p:nvSpPr>
          <p:cNvPr id="21" name="Text 17"/>
          <p:cNvSpPr/>
          <p:nvPr/>
        </p:nvSpPr>
        <p:spPr>
          <a:xfrm>
            <a:off x="5229225" y="1428750"/>
            <a:ext cx="3514725" cy="431806"/>
          </a:xfrm>
          <a:prstGeom prst="rect">
            <a:avLst/>
          </a:prstGeom>
          <a:noFill/>
          <a:ln/>
        </p:spPr>
        <p:txBody>
          <a:bodyPr wrap="square" lIns="0" tIns="0" rIns="0" bIns="0" rtlCol="0" anchor="t">
            <a:spAutoFit/>
          </a:bodyPr>
          <a:lstStyle/>
          <a:p>
            <a:pPr algn="l" indent="0" marL="0">
              <a:lnSpc>
                <a:spcPct val="124000"/>
              </a:lnSpc>
              <a:buNone/>
            </a:pPr>
            <a:r>
              <a:rPr lang="en-US" sz="650" dirty="0">
                <a:solidFill>
                  <a:srgbClr val="3A4B6A"/>
                </a:solidFill>
                <a:latin typeface="Space Grotesk" pitchFamily="34" charset="0"/>
                <a:ea typeface="Space Grotesk" pitchFamily="34" charset="-122"/>
                <a:cs typeface="Space Grotesk" pitchFamily="34" charset="-120"/>
              </a:rPr>
              <a:t>Empirical comparison of three classifiers on 641,053 URLs — one of the largest purely lexical datasets in reviewed literature, with a standardised evaluation protocol.</a:t>
            </a:r>
            <a:endParaRPr lang="en-US" sz="650" dirty="0"/>
          </a:p>
        </p:txBody>
      </p:sp>
      <p:sp>
        <p:nvSpPr>
          <p:cNvPr id="22" name="Shape 18"/>
          <p:cNvSpPr/>
          <p:nvPr/>
        </p:nvSpPr>
        <p:spPr>
          <a:xfrm>
            <a:off x="4857750" y="2167737"/>
            <a:ext cx="257175" cy="169664"/>
          </a:xfrm>
          <a:prstGeom prst="rect">
            <a:avLst/>
          </a:prstGeom>
          <a:solidFill>
            <a:srgbClr val="0056B3"/>
          </a:solidFill>
          <a:ln/>
        </p:spPr>
      </p:sp>
      <p:sp>
        <p:nvSpPr>
          <p:cNvPr id="23" name="Text 19"/>
          <p:cNvSpPr/>
          <p:nvPr/>
        </p:nvSpPr>
        <p:spPr>
          <a:xfrm>
            <a:off x="4857750" y="2167737"/>
            <a:ext cx="257175" cy="169664"/>
          </a:xfrm>
          <a:prstGeom prst="rect">
            <a:avLst/>
          </a:prstGeom>
          <a:noFill/>
          <a:ln/>
        </p:spPr>
        <p:txBody>
          <a:bodyPr wrap="none" lIns="85090" tIns="34036" rIns="85090" bIns="34036" rtlCol="0" anchor="t">
            <a:spAutoFit/>
          </a:bodyPr>
          <a:lstStyle/>
          <a:p>
            <a:pPr algn="ctr" indent="0" marL="0">
              <a:buNone/>
            </a:pPr>
            <a:r>
              <a:rPr lang="en-US" sz="600" b="1" dirty="0">
                <a:solidFill>
                  <a:srgbClr val="FFFFFF"/>
                </a:solidFill>
                <a:latin typeface="DM Mono Medium" pitchFamily="34" charset="0"/>
                <a:ea typeface="DM Mono Medium" pitchFamily="34" charset="-122"/>
                <a:cs typeface="DM Mono Medium" pitchFamily="34" charset="-120"/>
              </a:rPr>
              <a:t>C2</a:t>
            </a:r>
            <a:endParaRPr lang="en-US" sz="600" dirty="0"/>
          </a:p>
        </p:txBody>
      </p:sp>
      <p:sp>
        <p:nvSpPr>
          <p:cNvPr id="24" name="Text 20"/>
          <p:cNvSpPr/>
          <p:nvPr/>
        </p:nvSpPr>
        <p:spPr>
          <a:xfrm>
            <a:off x="5229225" y="2153450"/>
            <a:ext cx="3514725" cy="137517"/>
          </a:xfrm>
          <a:prstGeom prst="rect">
            <a:avLst/>
          </a:prstGeom>
          <a:noFill/>
          <a:ln/>
        </p:spPr>
        <p:txBody>
          <a:bodyPr wrap="square" lIns="0" tIns="0" rIns="0" bIns="0" rtlCol="0" anchor="t">
            <a:spAutoFit/>
          </a:bodyPr>
          <a:lstStyle/>
          <a:p>
            <a:pPr algn="l" indent="0" marL="0">
              <a:buNone/>
            </a:pPr>
            <a:r>
              <a:rPr lang="en-US" sz="750" b="1" dirty="0">
                <a:solidFill>
                  <a:srgbClr val="0056B3"/>
                </a:solidFill>
                <a:latin typeface="Space Grotesk Bold" pitchFamily="34" charset="0"/>
                <a:ea typeface="Space Grotesk Bold" pitchFamily="34" charset="-122"/>
                <a:cs typeface="Space Grotesk Bold" pitchFamily="34" charset="-120"/>
              </a:rPr>
              <a:t>Explicit FPR Reporting</a:t>
            </a:r>
            <a:endParaRPr lang="en-US" sz="750" dirty="0"/>
          </a:p>
        </p:txBody>
      </p:sp>
      <p:sp>
        <p:nvSpPr>
          <p:cNvPr id="25" name="Text 21"/>
          <p:cNvSpPr/>
          <p:nvPr/>
        </p:nvSpPr>
        <p:spPr>
          <a:xfrm>
            <a:off x="5229225" y="2326686"/>
            <a:ext cx="3514725" cy="431806"/>
          </a:xfrm>
          <a:prstGeom prst="rect">
            <a:avLst/>
          </a:prstGeom>
          <a:noFill/>
          <a:ln/>
        </p:spPr>
        <p:txBody>
          <a:bodyPr wrap="square" lIns="0" tIns="0" rIns="0" bIns="0" rtlCol="0" anchor="t">
            <a:spAutoFit/>
          </a:bodyPr>
          <a:lstStyle/>
          <a:p>
            <a:pPr algn="l" indent="0" marL="0">
              <a:lnSpc>
                <a:spcPct val="124000"/>
              </a:lnSpc>
              <a:buNone/>
            </a:pPr>
            <a:r>
              <a:rPr lang="en-US" sz="650" dirty="0">
                <a:solidFill>
                  <a:srgbClr val="3A4B6A"/>
                </a:solidFill>
                <a:latin typeface="Space Grotesk" pitchFamily="34" charset="0"/>
                <a:ea typeface="Space Grotesk" pitchFamily="34" charset="-122"/>
                <a:cs typeface="Space Grotesk" pitchFamily="34" charset="-120"/>
              </a:rPr>
              <a:t>False Positive Rate reported for all three models — a metric critical for user experience yet absent from most published studies. RF achieved 5.45% FPR, meeting the &lt;10% non-functional requirement.</a:t>
            </a:r>
            <a:endParaRPr lang="en-US" sz="650" dirty="0"/>
          </a:p>
        </p:txBody>
      </p:sp>
      <p:sp>
        <p:nvSpPr>
          <p:cNvPr id="26" name="Shape 22"/>
          <p:cNvSpPr/>
          <p:nvPr/>
        </p:nvSpPr>
        <p:spPr>
          <a:xfrm>
            <a:off x="4857750" y="3065673"/>
            <a:ext cx="257175" cy="169664"/>
          </a:xfrm>
          <a:prstGeom prst="rect">
            <a:avLst/>
          </a:prstGeom>
          <a:solidFill>
            <a:srgbClr val="0056B3"/>
          </a:solidFill>
          <a:ln/>
        </p:spPr>
      </p:sp>
      <p:sp>
        <p:nvSpPr>
          <p:cNvPr id="27" name="Text 23"/>
          <p:cNvSpPr/>
          <p:nvPr/>
        </p:nvSpPr>
        <p:spPr>
          <a:xfrm>
            <a:off x="4857750" y="3065673"/>
            <a:ext cx="257175" cy="169664"/>
          </a:xfrm>
          <a:prstGeom prst="rect">
            <a:avLst/>
          </a:prstGeom>
          <a:noFill/>
          <a:ln/>
        </p:spPr>
        <p:txBody>
          <a:bodyPr wrap="none" lIns="85090" tIns="34036" rIns="85090" bIns="34036" rtlCol="0" anchor="t">
            <a:spAutoFit/>
          </a:bodyPr>
          <a:lstStyle/>
          <a:p>
            <a:pPr algn="ctr" indent="0" marL="0">
              <a:buNone/>
            </a:pPr>
            <a:r>
              <a:rPr lang="en-US" sz="600" b="1" dirty="0">
                <a:solidFill>
                  <a:srgbClr val="FFFFFF"/>
                </a:solidFill>
                <a:latin typeface="DM Mono Medium" pitchFamily="34" charset="0"/>
                <a:ea typeface="DM Mono Medium" pitchFamily="34" charset="-122"/>
                <a:cs typeface="DM Mono Medium" pitchFamily="34" charset="-120"/>
              </a:rPr>
              <a:t>C3</a:t>
            </a:r>
            <a:endParaRPr lang="en-US" sz="600" dirty="0"/>
          </a:p>
        </p:txBody>
      </p:sp>
      <p:sp>
        <p:nvSpPr>
          <p:cNvPr id="28" name="Text 24"/>
          <p:cNvSpPr/>
          <p:nvPr/>
        </p:nvSpPr>
        <p:spPr>
          <a:xfrm>
            <a:off x="5229225" y="3051386"/>
            <a:ext cx="3514725" cy="137517"/>
          </a:xfrm>
          <a:prstGeom prst="rect">
            <a:avLst/>
          </a:prstGeom>
          <a:noFill/>
          <a:ln/>
        </p:spPr>
        <p:txBody>
          <a:bodyPr wrap="square" lIns="0" tIns="0" rIns="0" bIns="0" rtlCol="0" anchor="t">
            <a:spAutoFit/>
          </a:bodyPr>
          <a:lstStyle/>
          <a:p>
            <a:pPr algn="l" indent="0" marL="0">
              <a:buNone/>
            </a:pPr>
            <a:r>
              <a:rPr lang="en-US" sz="750" b="1" dirty="0">
                <a:solidFill>
                  <a:srgbClr val="0056B3"/>
                </a:solidFill>
                <a:latin typeface="Space Grotesk Bold" pitchFamily="34" charset="0"/>
                <a:ea typeface="Space Grotesk Bold" pitchFamily="34" charset="-122"/>
                <a:cs typeface="Space Grotesk Bold" pitchFamily="34" charset="-120"/>
              </a:rPr>
              <a:t>Open-Source Reproducible Pipeline</a:t>
            </a:r>
            <a:endParaRPr lang="en-US" sz="750" dirty="0"/>
          </a:p>
        </p:txBody>
      </p:sp>
      <p:sp>
        <p:nvSpPr>
          <p:cNvPr id="29" name="Text 25"/>
          <p:cNvSpPr/>
          <p:nvPr/>
        </p:nvSpPr>
        <p:spPr>
          <a:xfrm>
            <a:off x="5229225" y="3224622"/>
            <a:ext cx="3514725" cy="431806"/>
          </a:xfrm>
          <a:prstGeom prst="rect">
            <a:avLst/>
          </a:prstGeom>
          <a:noFill/>
          <a:ln/>
        </p:spPr>
        <p:txBody>
          <a:bodyPr wrap="square" lIns="0" tIns="0" rIns="0" bIns="0" rtlCol="0" anchor="t">
            <a:spAutoFit/>
          </a:bodyPr>
          <a:lstStyle/>
          <a:p>
            <a:pPr algn="l" indent="0" marL="0">
              <a:lnSpc>
                <a:spcPct val="124000"/>
              </a:lnSpc>
              <a:buNone/>
            </a:pPr>
            <a:r>
              <a:rPr lang="en-US" sz="650" dirty="0">
                <a:solidFill>
                  <a:srgbClr val="3A4B6A"/>
                </a:solidFill>
                <a:latin typeface="Space Grotesk" pitchFamily="34" charset="0"/>
                <a:ea typeface="Space Grotesk" pitchFamily="34" charset="-122"/>
                <a:cs typeface="Space Grotesk" pitchFamily="34" charset="-120"/>
              </a:rPr>
              <a:t>Complete codebase on GitHub with fixed random seeds, modular scripts, and a working web prototype — enabling full replication and extension by future researchers.</a:t>
            </a:r>
            <a:endParaRPr lang="en-US" sz="650" dirty="0"/>
          </a:p>
        </p:txBody>
      </p:sp>
      <p:sp>
        <p:nvSpPr>
          <p:cNvPr id="30" name="Shape 26"/>
          <p:cNvSpPr/>
          <p:nvPr/>
        </p:nvSpPr>
        <p:spPr>
          <a:xfrm>
            <a:off x="4857750" y="4325541"/>
            <a:ext cx="3886200" cy="589359"/>
          </a:xfrm>
          <a:prstGeom prst="rect">
            <a:avLst/>
          </a:prstGeom>
          <a:solidFill>
            <a:srgbClr val="0A192F"/>
          </a:solidFill>
          <a:ln/>
        </p:spPr>
      </p:sp>
      <p:sp>
        <p:nvSpPr>
          <p:cNvPr id="31" name="Text 27"/>
          <p:cNvSpPr/>
          <p:nvPr/>
        </p:nvSpPr>
        <p:spPr>
          <a:xfrm>
            <a:off x="5000625" y="4411266"/>
            <a:ext cx="3600450" cy="417909"/>
          </a:xfrm>
          <a:prstGeom prst="rect">
            <a:avLst/>
          </a:prstGeom>
          <a:noFill/>
          <a:ln/>
        </p:spPr>
        <p:txBody>
          <a:bodyPr wrap="square" lIns="0" tIns="0" rIns="0" bIns="0" rtlCol="0" anchor="t">
            <a:spAutoFit/>
          </a:bodyPr>
          <a:lstStyle/>
          <a:p>
            <a:pPr algn="l" indent="0" marL="0">
              <a:lnSpc>
                <a:spcPct val="120000"/>
              </a:lnSpc>
              <a:buNone/>
            </a:pPr>
            <a:r>
              <a:rPr lang="en-US" sz="650" i="1" dirty="0">
                <a:solidFill>
                  <a:srgbClr val="8BA4C0"/>
                </a:solidFill>
                <a:latin typeface="Space Grotesk" pitchFamily="34" charset="0"/>
                <a:ea typeface="Space Grotesk" pitchFamily="34" charset="-122"/>
                <a:cs typeface="Space Grotesk" pitchFamily="34" charset="-120"/>
              </a:rPr>
              <a:t>"Limitations do not undermine the contribution — they define the boundaries </a:t>
            </a:r>
            <a:r>
              <a:rPr lang="en-US" sz="650" i="1" dirty="0">
                <a:solidFill>
                  <a:srgbClr val="8BA4C0"/>
                </a:solidFill>
                <a:latin typeface="Space Grotesk" pitchFamily="34" charset="0"/>
                <a:ea typeface="Space Grotesk" pitchFamily="34" charset="-122"/>
                <a:cs typeface="Space Grotesk" pitchFamily="34" charset="-120"/>
              </a:rPr>
              <a:t>of what this study claims and where future work should focus." · </a:t>
            </a:r>
            <a:r>
              <a:rPr lang="en-US" sz="650" b="1" dirty="0">
                <a:solidFill>
                  <a:srgbClr val="4A90D9"/>
                </a:solidFill>
                <a:latin typeface="Space Grotesk Bold" pitchFamily="34" charset="0"/>
                <a:ea typeface="Space Grotesk Bold" pitchFamily="34" charset="-122"/>
                <a:cs typeface="Space Grotesk Bold" pitchFamily="34" charset="-120"/>
              </a:rPr>
              <a:t>Intellectual honesty is a research strength.</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794742"/>
          </a:xfrm>
          <a:prstGeom prst="rect">
            <a:avLst/>
          </a:prstGeom>
          <a:solidFill>
            <a:srgbClr val="0A192F"/>
          </a:solidFill>
          <a:ln/>
        </p:spPr>
      </p:sp>
      <p:sp>
        <p:nvSpPr>
          <p:cNvPr id="5" name="Text 1"/>
          <p:cNvSpPr/>
          <p:nvPr/>
        </p:nvSpPr>
        <p:spPr>
          <a:xfrm>
            <a:off x="400050" y="200025"/>
            <a:ext cx="2818209" cy="121444"/>
          </a:xfrm>
          <a:prstGeom prst="rect">
            <a:avLst/>
          </a:prstGeom>
          <a:noFill/>
          <a:ln/>
        </p:spPr>
        <p:txBody>
          <a:bodyPr wrap="square" lIns="0" tIns="0" rIns="0" bIns="0" rtlCol="0" anchor="t">
            <a:spAutoFit/>
          </a:bodyPr>
          <a:lstStyle/>
          <a:p>
            <a:pPr algn="l" indent="0" marL="0">
              <a:buNone/>
            </a:pPr>
            <a:r>
              <a:rPr lang="en-US" sz="650" spc="2" kern="0" dirty="0">
                <a:solidFill>
                  <a:srgbClr val="4A90D9"/>
                </a:solidFill>
                <a:latin typeface="DM Mono" pitchFamily="34" charset="0"/>
                <a:ea typeface="DM Mono" pitchFamily="34" charset="-122"/>
                <a:cs typeface="DM Mono" pitchFamily="34" charset="-120"/>
              </a:rPr>
              <a:t>09 / 10</a:t>
            </a:r>
            <a:endParaRPr lang="en-US" sz="650" dirty="0"/>
          </a:p>
        </p:txBody>
      </p:sp>
      <p:sp>
        <p:nvSpPr>
          <p:cNvPr id="6" name="Text 2"/>
          <p:cNvSpPr/>
          <p:nvPr/>
        </p:nvSpPr>
        <p:spPr>
          <a:xfrm>
            <a:off x="400050" y="350044"/>
            <a:ext cx="2818209" cy="273248"/>
          </a:xfrm>
          <a:prstGeom prst="rect">
            <a:avLst/>
          </a:prstGeom>
          <a:noFill/>
          <a:ln/>
        </p:spPr>
        <p:txBody>
          <a:bodyPr wrap="square" lIns="0" tIns="0" rIns="0" bIns="0" rtlCol="0" anchor="t">
            <a:spAutoFit/>
          </a:bodyPr>
          <a:lstStyle/>
          <a:p>
            <a:pPr algn="l" indent="0" marL="0">
              <a:buNone/>
            </a:pPr>
            <a:r>
              <a:rPr lang="en-US" sz="1500" b="1" dirty="0">
                <a:solidFill>
                  <a:srgbClr val="FFFFFF"/>
                </a:solidFill>
                <a:latin typeface="Space Grotesk Bold" pitchFamily="34" charset="0"/>
                <a:ea typeface="Space Grotesk Bold" pitchFamily="34" charset="-122"/>
                <a:cs typeface="Space Grotesk Bold" pitchFamily="34" charset="-120"/>
              </a:rPr>
              <a:t>Conclusion &amp; </a:t>
            </a:r>
            <a:r>
              <a:rPr lang="en-US" sz="1500" b="1" dirty="0">
                <a:solidFill>
                  <a:srgbClr val="4A90D9"/>
                </a:solidFill>
                <a:latin typeface="Space Grotesk Bold" pitchFamily="34" charset="0"/>
                <a:ea typeface="Space Grotesk Bold" pitchFamily="34" charset="-122"/>
                <a:cs typeface="Space Grotesk Bold" pitchFamily="34" charset="-120"/>
              </a:rPr>
              <a:t>Contributions</a:t>
            </a:r>
            <a:endParaRPr lang="en-US" sz="1500" dirty="0"/>
          </a:p>
        </p:txBody>
      </p:sp>
      <p:sp>
        <p:nvSpPr>
          <p:cNvPr id="7" name="Text 3"/>
          <p:cNvSpPr/>
          <p:nvPr/>
        </p:nvSpPr>
        <p:spPr>
          <a:xfrm>
            <a:off x="400050" y="1023342"/>
            <a:ext cx="8343900"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THREE KEY CONTRIBUTIONS TO KNOWLEDGE</a:t>
            </a:r>
            <a:endParaRPr lang="en-US" sz="550" dirty="0"/>
          </a:p>
        </p:txBody>
      </p:sp>
      <p:sp>
        <p:nvSpPr>
          <p:cNvPr id="8" name="Shape 4"/>
          <p:cNvSpPr/>
          <p:nvPr/>
        </p:nvSpPr>
        <p:spPr>
          <a:xfrm>
            <a:off x="414338" y="1241227"/>
            <a:ext cx="2776547" cy="1520809"/>
          </a:xfrm>
          <a:prstGeom prst="rect">
            <a:avLst/>
          </a:prstGeom>
          <a:solidFill>
            <a:srgbClr val="0A192F"/>
          </a:solidFill>
          <a:ln/>
        </p:spPr>
      </p:sp>
      <p:sp>
        <p:nvSpPr>
          <p:cNvPr id="9" name="Shape 5"/>
          <p:cNvSpPr/>
          <p:nvPr/>
        </p:nvSpPr>
        <p:spPr>
          <a:xfrm>
            <a:off x="3176597" y="1241227"/>
            <a:ext cx="14288" cy="1520809"/>
          </a:xfrm>
          <a:prstGeom prst="rect">
            <a:avLst/>
          </a:prstGeom>
          <a:solidFill>
            <a:srgbClr val="1E3A5F"/>
          </a:solidFill>
          <a:ln/>
        </p:spPr>
      </p:sp>
      <p:sp>
        <p:nvSpPr>
          <p:cNvPr id="10" name="Text 6"/>
          <p:cNvSpPr/>
          <p:nvPr/>
        </p:nvSpPr>
        <p:spPr>
          <a:xfrm>
            <a:off x="585788" y="1398389"/>
            <a:ext cx="2424103" cy="103584"/>
          </a:xfrm>
          <a:prstGeom prst="rect">
            <a:avLst/>
          </a:prstGeom>
          <a:noFill/>
          <a:ln/>
        </p:spPr>
        <p:txBody>
          <a:bodyPr wrap="square" lIns="0" tIns="0" rIns="0" bIns="0" rtlCol="0" anchor="t">
            <a:spAutoFit/>
          </a:bodyPr>
          <a:lstStyle/>
          <a:p>
            <a:pPr algn="l" indent="0" marL="0">
              <a:buNone/>
            </a:pPr>
            <a:r>
              <a:rPr lang="en-US" sz="550" spc="2" kern="0" dirty="0">
                <a:solidFill>
                  <a:srgbClr val="4A90D9"/>
                </a:solidFill>
                <a:latin typeface="DM Mono" pitchFamily="34" charset="0"/>
                <a:ea typeface="DM Mono" pitchFamily="34" charset="-122"/>
                <a:cs typeface="DM Mono" pitchFamily="34" charset="-120"/>
              </a:rPr>
              <a:t>CONTRIBUTION 1 — EMPIRICAL</a:t>
            </a:r>
            <a:endParaRPr lang="en-US" sz="550" dirty="0"/>
          </a:p>
        </p:txBody>
      </p:sp>
      <p:sp>
        <p:nvSpPr>
          <p:cNvPr id="11" name="Text 7"/>
          <p:cNvSpPr/>
          <p:nvPr/>
        </p:nvSpPr>
        <p:spPr>
          <a:xfrm>
            <a:off x="585788" y="1559123"/>
            <a:ext cx="2424103" cy="137154"/>
          </a:xfrm>
          <a:prstGeom prst="rect">
            <a:avLst/>
          </a:prstGeom>
          <a:noFill/>
          <a:ln/>
        </p:spPr>
        <p:txBody>
          <a:bodyPr wrap="none" lIns="0" tIns="0" rIns="0" bIns="0" rtlCol="0" anchor="t">
            <a:spAutoFit/>
          </a:bodyPr>
          <a:lstStyle/>
          <a:p>
            <a:pPr algn="l" indent="0" marL="0">
              <a:lnSpc>
                <a:spcPct val="96000"/>
              </a:lnSpc>
              <a:buNone/>
            </a:pPr>
            <a:r>
              <a:rPr lang="en-US" sz="800" b="1" dirty="0">
                <a:solidFill>
                  <a:srgbClr val="FFFFFF"/>
                </a:solidFill>
                <a:latin typeface="Space Grotesk Bold" pitchFamily="34" charset="0"/>
                <a:ea typeface="Space Grotesk Bold" pitchFamily="34" charset="-122"/>
                <a:cs typeface="Space Grotesk Bold" pitchFamily="34" charset="-120"/>
              </a:rPr>
              <a:t>Largest Controlled Lexical Comparison</a:t>
            </a:r>
            <a:endParaRPr lang="en-US" sz="800" dirty="0"/>
          </a:p>
        </p:txBody>
      </p:sp>
      <p:sp>
        <p:nvSpPr>
          <p:cNvPr id="12" name="Text 8"/>
          <p:cNvSpPr/>
          <p:nvPr/>
        </p:nvSpPr>
        <p:spPr>
          <a:xfrm>
            <a:off x="585788" y="1767715"/>
            <a:ext cx="2424103" cy="594271"/>
          </a:xfrm>
          <a:prstGeom prst="rect">
            <a:avLst/>
          </a:prstGeom>
          <a:noFill/>
          <a:ln/>
        </p:spPr>
        <p:txBody>
          <a:bodyPr wrap="square" lIns="0" tIns="0" rIns="0" bIns="0" rtlCol="0" anchor="t">
            <a:spAutoFit/>
          </a:bodyPr>
          <a:lstStyle/>
          <a:p>
            <a:pPr algn="l" indent="0" marL="0">
              <a:lnSpc>
                <a:spcPct val="128000"/>
              </a:lnSpc>
              <a:buNone/>
            </a:pPr>
            <a:r>
              <a:rPr lang="en-US" sz="650" dirty="0">
                <a:solidFill>
                  <a:srgbClr val="8BA4C0"/>
                </a:solidFill>
                <a:latin typeface="Space Grotesk" pitchFamily="34" charset="0"/>
                <a:ea typeface="Space Grotesk" pitchFamily="34" charset="-122"/>
                <a:cs typeface="Space Grotesk" pitchFamily="34" charset="-120"/>
              </a:rPr>
              <a:t>Confirmed that Random Forest significantly outperforms linear classifiers for lexical phishing detection on a large-scale dataset. Provides a reproducible empirical baseline for future research.</a:t>
            </a:r>
            <a:endParaRPr lang="en-US" sz="650" dirty="0"/>
          </a:p>
        </p:txBody>
      </p:sp>
      <p:sp>
        <p:nvSpPr>
          <p:cNvPr id="13" name="Text 9"/>
          <p:cNvSpPr/>
          <p:nvPr/>
        </p:nvSpPr>
        <p:spPr>
          <a:xfrm>
            <a:off x="585788" y="2447711"/>
            <a:ext cx="2424103" cy="157163"/>
          </a:xfrm>
          <a:prstGeom prst="rect">
            <a:avLst/>
          </a:prstGeom>
          <a:noFill/>
          <a:ln/>
        </p:spPr>
        <p:txBody>
          <a:bodyPr wrap="none" lIns="0" tIns="0" rIns="0" bIns="0" rtlCol="0" anchor="t">
            <a:spAutoFit/>
          </a:bodyPr>
          <a:lstStyle/>
          <a:p>
            <a:pPr algn="l" indent="0" marL="0">
              <a:lnSpc>
                <a:spcPct val="80000"/>
              </a:lnSpc>
              <a:buNone/>
            </a:pPr>
            <a:r>
              <a:rPr lang="en-US" sz="1100" b="1" dirty="0">
                <a:solidFill>
                  <a:srgbClr val="4A90D9"/>
                </a:solidFill>
                <a:latin typeface="DM Mono Medium" pitchFamily="34" charset="0"/>
                <a:ea typeface="DM Mono Medium" pitchFamily="34" charset="-122"/>
                <a:cs typeface="DM Mono Medium" pitchFamily="34" charset="-120"/>
              </a:rPr>
              <a:t>94.03% Accuracy</a:t>
            </a:r>
            <a:endParaRPr lang="en-US" sz="1100" dirty="0"/>
          </a:p>
        </p:txBody>
      </p:sp>
      <p:sp>
        <p:nvSpPr>
          <p:cNvPr id="14" name="Shape 10"/>
          <p:cNvSpPr/>
          <p:nvPr/>
        </p:nvSpPr>
        <p:spPr>
          <a:xfrm>
            <a:off x="3181341" y="1241227"/>
            <a:ext cx="2781291" cy="1520809"/>
          </a:xfrm>
          <a:prstGeom prst="rect">
            <a:avLst/>
          </a:prstGeom>
          <a:solidFill>
            <a:srgbClr val="0A192F"/>
          </a:solidFill>
          <a:ln/>
        </p:spPr>
      </p:sp>
      <p:sp>
        <p:nvSpPr>
          <p:cNvPr id="15" name="Shape 11"/>
          <p:cNvSpPr/>
          <p:nvPr/>
        </p:nvSpPr>
        <p:spPr>
          <a:xfrm>
            <a:off x="5948344" y="1241227"/>
            <a:ext cx="14288" cy="1520809"/>
          </a:xfrm>
          <a:prstGeom prst="rect">
            <a:avLst/>
          </a:prstGeom>
          <a:solidFill>
            <a:srgbClr val="1E3A5F"/>
          </a:solidFill>
          <a:ln/>
        </p:spPr>
      </p:sp>
      <p:sp>
        <p:nvSpPr>
          <p:cNvPr id="16" name="Text 12"/>
          <p:cNvSpPr/>
          <p:nvPr/>
        </p:nvSpPr>
        <p:spPr>
          <a:xfrm>
            <a:off x="3357563" y="1398389"/>
            <a:ext cx="2428875" cy="103584"/>
          </a:xfrm>
          <a:prstGeom prst="rect">
            <a:avLst/>
          </a:prstGeom>
          <a:noFill/>
          <a:ln/>
        </p:spPr>
        <p:txBody>
          <a:bodyPr wrap="square" lIns="0" tIns="0" rIns="0" bIns="0" rtlCol="0" anchor="t">
            <a:spAutoFit/>
          </a:bodyPr>
          <a:lstStyle/>
          <a:p>
            <a:pPr algn="l" indent="0" marL="0">
              <a:buNone/>
            </a:pPr>
            <a:r>
              <a:rPr lang="en-US" sz="550" spc="2" kern="0" dirty="0">
                <a:solidFill>
                  <a:srgbClr val="4A90D9"/>
                </a:solidFill>
                <a:latin typeface="DM Mono" pitchFamily="34" charset="0"/>
                <a:ea typeface="DM Mono" pitchFamily="34" charset="-122"/>
                <a:cs typeface="DM Mono" pitchFamily="34" charset="-120"/>
              </a:rPr>
              <a:t>CONTRIBUTION 2 — TECHNICAL</a:t>
            </a:r>
            <a:endParaRPr lang="en-US" sz="550" dirty="0"/>
          </a:p>
        </p:txBody>
      </p:sp>
      <p:sp>
        <p:nvSpPr>
          <p:cNvPr id="17" name="Text 13"/>
          <p:cNvSpPr/>
          <p:nvPr/>
        </p:nvSpPr>
        <p:spPr>
          <a:xfrm>
            <a:off x="3357563" y="1559123"/>
            <a:ext cx="2428875" cy="137154"/>
          </a:xfrm>
          <a:prstGeom prst="rect">
            <a:avLst/>
          </a:prstGeom>
          <a:noFill/>
          <a:ln/>
        </p:spPr>
        <p:txBody>
          <a:bodyPr wrap="none" lIns="0" tIns="0" rIns="0" bIns="0" rtlCol="0" anchor="t">
            <a:spAutoFit/>
          </a:bodyPr>
          <a:lstStyle/>
          <a:p>
            <a:pPr algn="l" indent="0" marL="0">
              <a:lnSpc>
                <a:spcPct val="96000"/>
              </a:lnSpc>
              <a:buNone/>
            </a:pPr>
            <a:r>
              <a:rPr lang="en-US" sz="800" b="1" dirty="0">
                <a:solidFill>
                  <a:srgbClr val="FFFFFF"/>
                </a:solidFill>
                <a:latin typeface="Space Grotesk Bold" pitchFamily="34" charset="0"/>
                <a:ea typeface="Space Grotesk Bold" pitchFamily="34" charset="-122"/>
                <a:cs typeface="Space Grotesk Bold" pitchFamily="34" charset="-120"/>
              </a:rPr>
              <a:t>Open-Source Reproducible Pipeline</a:t>
            </a:r>
            <a:endParaRPr lang="en-US" sz="800" dirty="0"/>
          </a:p>
        </p:txBody>
      </p:sp>
      <p:sp>
        <p:nvSpPr>
          <p:cNvPr id="18" name="Text 14"/>
          <p:cNvSpPr/>
          <p:nvPr/>
        </p:nvSpPr>
        <p:spPr>
          <a:xfrm>
            <a:off x="3357563" y="1767715"/>
            <a:ext cx="2428875" cy="594271"/>
          </a:xfrm>
          <a:prstGeom prst="rect">
            <a:avLst/>
          </a:prstGeom>
          <a:noFill/>
          <a:ln/>
        </p:spPr>
        <p:txBody>
          <a:bodyPr wrap="square" lIns="0" tIns="0" rIns="0" bIns="0" rtlCol="0" anchor="t">
            <a:spAutoFit/>
          </a:bodyPr>
          <a:lstStyle/>
          <a:p>
            <a:pPr algn="l" indent="0" marL="0">
              <a:lnSpc>
                <a:spcPct val="128000"/>
              </a:lnSpc>
              <a:buNone/>
            </a:pPr>
            <a:r>
              <a:rPr lang="en-US" sz="650" dirty="0">
                <a:solidFill>
                  <a:srgbClr val="8BA4C0"/>
                </a:solidFill>
                <a:latin typeface="Space Grotesk" pitchFamily="34" charset="0"/>
                <a:ea typeface="Space Grotesk" pitchFamily="34" charset="-122"/>
                <a:cs typeface="Space Grotesk" pitchFamily="34" charset="-120"/>
              </a:rPr>
              <a:t>Complete codebase with fixed random seeds, modular scripts, and full documentation on GitHub. All preprocessing, feature engineering, model training, and evaluation scripts available for replication.</a:t>
            </a:r>
            <a:endParaRPr lang="en-US" sz="650" dirty="0"/>
          </a:p>
        </p:txBody>
      </p:sp>
      <p:sp>
        <p:nvSpPr>
          <p:cNvPr id="19" name="Text 15"/>
          <p:cNvSpPr/>
          <p:nvPr/>
        </p:nvSpPr>
        <p:spPr>
          <a:xfrm>
            <a:off x="3357563" y="2447711"/>
            <a:ext cx="2428875" cy="157163"/>
          </a:xfrm>
          <a:prstGeom prst="rect">
            <a:avLst/>
          </a:prstGeom>
          <a:noFill/>
          <a:ln/>
        </p:spPr>
        <p:txBody>
          <a:bodyPr wrap="none" lIns="0" tIns="0" rIns="0" bIns="0" rtlCol="0" anchor="t">
            <a:spAutoFit/>
          </a:bodyPr>
          <a:lstStyle/>
          <a:p>
            <a:pPr algn="l" indent="0" marL="0">
              <a:lnSpc>
                <a:spcPct val="80000"/>
              </a:lnSpc>
              <a:buNone/>
            </a:pPr>
            <a:r>
              <a:rPr lang="en-US" sz="1100" b="1" dirty="0">
                <a:solidFill>
                  <a:srgbClr val="4A90D9"/>
                </a:solidFill>
                <a:latin typeface="DM Mono Medium" pitchFamily="34" charset="0"/>
                <a:ea typeface="DM Mono Medium" pitchFamily="34" charset="-122"/>
                <a:cs typeface="DM Mono Medium" pitchFamily="34" charset="-120"/>
              </a:rPr>
              <a:t>github.com/s3giu</a:t>
            </a:r>
            <a:endParaRPr lang="en-US" sz="1100" dirty="0"/>
          </a:p>
        </p:txBody>
      </p:sp>
      <p:sp>
        <p:nvSpPr>
          <p:cNvPr id="20" name="Shape 16"/>
          <p:cNvSpPr/>
          <p:nvPr/>
        </p:nvSpPr>
        <p:spPr>
          <a:xfrm>
            <a:off x="5957888" y="1241227"/>
            <a:ext cx="2771775" cy="1520809"/>
          </a:xfrm>
          <a:prstGeom prst="rect">
            <a:avLst/>
          </a:prstGeom>
          <a:solidFill>
            <a:srgbClr val="0A192F"/>
          </a:solidFill>
          <a:ln/>
        </p:spPr>
      </p:sp>
      <p:sp>
        <p:nvSpPr>
          <p:cNvPr id="21" name="Text 17"/>
          <p:cNvSpPr/>
          <p:nvPr/>
        </p:nvSpPr>
        <p:spPr>
          <a:xfrm>
            <a:off x="6129338" y="1398389"/>
            <a:ext cx="2428875" cy="103584"/>
          </a:xfrm>
          <a:prstGeom prst="rect">
            <a:avLst/>
          </a:prstGeom>
          <a:noFill/>
          <a:ln/>
        </p:spPr>
        <p:txBody>
          <a:bodyPr wrap="square" lIns="0" tIns="0" rIns="0" bIns="0" rtlCol="0" anchor="t">
            <a:spAutoFit/>
          </a:bodyPr>
          <a:lstStyle/>
          <a:p>
            <a:pPr algn="l" indent="0" marL="0">
              <a:buNone/>
            </a:pPr>
            <a:r>
              <a:rPr lang="en-US" sz="550" spc="2" kern="0" dirty="0">
                <a:solidFill>
                  <a:srgbClr val="4A90D9"/>
                </a:solidFill>
                <a:latin typeface="DM Mono" pitchFamily="34" charset="0"/>
                <a:ea typeface="DM Mono" pitchFamily="34" charset="-122"/>
                <a:cs typeface="DM Mono" pitchFamily="34" charset="-120"/>
              </a:rPr>
              <a:t>CONTRIBUTION 3 — APPLIED</a:t>
            </a:r>
            <a:endParaRPr lang="en-US" sz="550" dirty="0"/>
          </a:p>
        </p:txBody>
      </p:sp>
      <p:sp>
        <p:nvSpPr>
          <p:cNvPr id="22" name="Text 18"/>
          <p:cNvSpPr/>
          <p:nvPr/>
        </p:nvSpPr>
        <p:spPr>
          <a:xfrm>
            <a:off x="6129338" y="1559123"/>
            <a:ext cx="2428875" cy="137154"/>
          </a:xfrm>
          <a:prstGeom prst="rect">
            <a:avLst/>
          </a:prstGeom>
          <a:noFill/>
          <a:ln/>
        </p:spPr>
        <p:txBody>
          <a:bodyPr wrap="none" lIns="0" tIns="0" rIns="0" bIns="0" rtlCol="0" anchor="t">
            <a:spAutoFit/>
          </a:bodyPr>
          <a:lstStyle/>
          <a:p>
            <a:pPr algn="l" indent="0" marL="0">
              <a:lnSpc>
                <a:spcPct val="96000"/>
              </a:lnSpc>
              <a:buNone/>
            </a:pPr>
            <a:r>
              <a:rPr lang="en-US" sz="800" b="1" dirty="0">
                <a:solidFill>
                  <a:srgbClr val="FFFFFF"/>
                </a:solidFill>
                <a:latin typeface="Space Grotesk Bold" pitchFamily="34" charset="0"/>
                <a:ea typeface="Space Grotesk Bold" pitchFamily="34" charset="-122"/>
                <a:cs typeface="Space Grotesk Bold" pitchFamily="34" charset="-120"/>
              </a:rPr>
              <a:t>Working Web Prototype</a:t>
            </a:r>
            <a:endParaRPr lang="en-US" sz="800" dirty="0"/>
          </a:p>
        </p:txBody>
      </p:sp>
      <p:sp>
        <p:nvSpPr>
          <p:cNvPr id="23" name="Text 19"/>
          <p:cNvSpPr/>
          <p:nvPr/>
        </p:nvSpPr>
        <p:spPr>
          <a:xfrm>
            <a:off x="6129338" y="1767715"/>
            <a:ext cx="2428875" cy="594271"/>
          </a:xfrm>
          <a:prstGeom prst="rect">
            <a:avLst/>
          </a:prstGeom>
          <a:noFill/>
          <a:ln/>
        </p:spPr>
        <p:txBody>
          <a:bodyPr wrap="square" lIns="0" tIns="0" rIns="0" bIns="0" rtlCol="0" anchor="t">
            <a:spAutoFit/>
          </a:bodyPr>
          <a:lstStyle/>
          <a:p>
            <a:pPr algn="l" indent="0" marL="0">
              <a:lnSpc>
                <a:spcPct val="128000"/>
              </a:lnSpc>
              <a:buNone/>
            </a:pPr>
            <a:r>
              <a:rPr lang="en-US" sz="650" dirty="0">
                <a:solidFill>
                  <a:srgbClr val="8BA4C0"/>
                </a:solidFill>
                <a:latin typeface="Space Grotesk" pitchFamily="34" charset="0"/>
                <a:ea typeface="Space Grotesk" pitchFamily="34" charset="-122"/>
                <a:cs typeface="Space Grotesk" pitchFamily="34" charset="-120"/>
              </a:rPr>
              <a:t>PhishGuard demonstrates real-world viability — any URL analysed in real time using the trained Random Forest model. Proves the system is fast, accurate, and privacy-preserving.</a:t>
            </a:r>
            <a:endParaRPr lang="en-US" sz="650" dirty="0"/>
          </a:p>
        </p:txBody>
      </p:sp>
      <p:sp>
        <p:nvSpPr>
          <p:cNvPr id="24" name="Text 20"/>
          <p:cNvSpPr/>
          <p:nvPr/>
        </p:nvSpPr>
        <p:spPr>
          <a:xfrm>
            <a:off x="6129338" y="2447711"/>
            <a:ext cx="2428875" cy="157163"/>
          </a:xfrm>
          <a:prstGeom prst="rect">
            <a:avLst/>
          </a:prstGeom>
          <a:noFill/>
          <a:ln/>
        </p:spPr>
        <p:txBody>
          <a:bodyPr wrap="none" lIns="0" tIns="0" rIns="0" bIns="0" rtlCol="0" anchor="t">
            <a:spAutoFit/>
          </a:bodyPr>
          <a:lstStyle/>
          <a:p>
            <a:pPr algn="l" indent="0" marL="0">
              <a:lnSpc>
                <a:spcPct val="80000"/>
              </a:lnSpc>
              <a:buNone/>
            </a:pPr>
            <a:r>
              <a:rPr lang="en-US" sz="1100" b="1" dirty="0">
                <a:solidFill>
                  <a:srgbClr val="4A90D9"/>
                </a:solidFill>
                <a:latin typeface="DM Mono Medium" pitchFamily="34" charset="0"/>
                <a:ea typeface="DM Mono Medium" pitchFamily="34" charset="-122"/>
                <a:cs typeface="DM Mono Medium" pitchFamily="34" charset="-120"/>
              </a:rPr>
              <a:t>phishguardapp.manus.space</a:t>
            </a:r>
            <a:endParaRPr lang="en-US" sz="1100" dirty="0"/>
          </a:p>
        </p:txBody>
      </p:sp>
      <p:sp>
        <p:nvSpPr>
          <p:cNvPr id="25" name="Shape 21"/>
          <p:cNvSpPr/>
          <p:nvPr/>
        </p:nvSpPr>
        <p:spPr>
          <a:xfrm>
            <a:off x="400050" y="2947774"/>
            <a:ext cx="5743575" cy="1934170"/>
          </a:xfrm>
          <a:prstGeom prst="rect">
            <a:avLst/>
          </a:prstGeom>
          <a:solidFill>
            <a:srgbClr val="E6F0FA"/>
          </a:solidFill>
          <a:ln/>
        </p:spPr>
      </p:sp>
      <p:sp>
        <p:nvSpPr>
          <p:cNvPr id="26" name="Shape 22"/>
          <p:cNvSpPr/>
          <p:nvPr/>
        </p:nvSpPr>
        <p:spPr>
          <a:xfrm>
            <a:off x="400050" y="2947774"/>
            <a:ext cx="5743575" cy="21431"/>
          </a:xfrm>
          <a:prstGeom prst="rect">
            <a:avLst/>
          </a:prstGeom>
          <a:solidFill>
            <a:srgbClr val="0056B3"/>
          </a:solidFill>
          <a:ln/>
        </p:spPr>
      </p:sp>
      <p:sp>
        <p:nvSpPr>
          <p:cNvPr id="27" name="Text 23"/>
          <p:cNvSpPr/>
          <p:nvPr/>
        </p:nvSpPr>
        <p:spPr>
          <a:xfrm>
            <a:off x="557213" y="3076361"/>
            <a:ext cx="5429250"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RECOMMENDATIONS FOR FUTURE RESEARCH</a:t>
            </a:r>
            <a:endParaRPr lang="en-US" sz="550" dirty="0"/>
          </a:p>
        </p:txBody>
      </p:sp>
      <p:sp>
        <p:nvSpPr>
          <p:cNvPr id="28" name="Text 24"/>
          <p:cNvSpPr/>
          <p:nvPr/>
        </p:nvSpPr>
        <p:spPr>
          <a:xfrm>
            <a:off x="671513" y="3265670"/>
            <a:ext cx="5314950" cy="278606"/>
          </a:xfrm>
          <a:prstGeom prst="rect">
            <a:avLst/>
          </a:prstGeom>
          <a:noFill/>
          <a:ln/>
        </p:spPr>
        <p:txBody>
          <a:bodyPr wrap="square" lIns="0" tIns="0" rIns="0" bIns="0" rtlCol="0" anchor="t">
            <a:spAutoFit/>
          </a:bodyPr>
          <a:lstStyle/>
          <a:p>
            <a:pPr algn="l" indent="0" marL="0">
              <a:lnSpc>
                <a:spcPct val="120000"/>
              </a:lnSpc>
              <a:buNone/>
            </a:pPr>
            <a:r>
              <a:rPr lang="en-US" sz="650" b="1" dirty="0">
                <a:solidFill>
                  <a:srgbClr val="0A192F"/>
                </a:solidFill>
                <a:latin typeface="Space Grotesk Bold" pitchFamily="34" charset="0"/>
                <a:ea typeface="Space Grotesk Bold" pitchFamily="34" charset="-122"/>
                <a:cs typeface="Space Grotesk Bold" pitchFamily="34" charset="-120"/>
              </a:rPr>
              <a:t>Lightweight NLP:</a:t>
            </a:r>
            <a:r>
              <a:rPr lang="en-US" sz="650" dirty="0">
                <a:solidFill>
                  <a:srgbClr val="1A2B4A"/>
                </a:solidFill>
                <a:latin typeface="Space Grotesk" pitchFamily="34" charset="0"/>
                <a:ea typeface="Space Grotesk" pitchFamily="34" charset="-122"/>
                <a:cs typeface="Space Grotesk" pitchFamily="34" charset="-120"/>
              </a:rPr>
              <a:t> Character-level n-gram analysis to complement lexical features and improve detection of domain-</a:t>
            </a:r>
            <a:r>
              <a:rPr lang="en-US" sz="650" dirty="0">
                <a:solidFill>
                  <a:srgbClr val="1A2B4A"/>
                </a:solidFill>
                <a:latin typeface="Space Grotesk" pitchFamily="34" charset="0"/>
                <a:ea typeface="Space Grotesk" pitchFamily="34" charset="-122"/>
                <a:cs typeface="Space Grotesk" pitchFamily="34" charset="-120"/>
              </a:rPr>
              <a:t>spoofing attacks</a:t>
            </a:r>
            <a:endParaRPr lang="en-US" sz="650" dirty="0"/>
          </a:p>
        </p:txBody>
      </p:sp>
      <p:sp>
        <p:nvSpPr>
          <p:cNvPr id="29" name="Text 25"/>
          <p:cNvSpPr/>
          <p:nvPr/>
        </p:nvSpPr>
        <p:spPr>
          <a:xfrm>
            <a:off x="671513" y="3601427"/>
            <a:ext cx="5314950" cy="278606"/>
          </a:xfrm>
          <a:prstGeom prst="rect">
            <a:avLst/>
          </a:prstGeom>
          <a:noFill/>
          <a:ln/>
        </p:spPr>
        <p:txBody>
          <a:bodyPr wrap="square" lIns="0" tIns="0" rIns="0" bIns="0" rtlCol="0" anchor="t">
            <a:spAutoFit/>
          </a:bodyPr>
          <a:lstStyle/>
          <a:p>
            <a:pPr algn="l" indent="0" marL="0">
              <a:lnSpc>
                <a:spcPct val="120000"/>
              </a:lnSpc>
              <a:buNone/>
            </a:pPr>
            <a:r>
              <a:rPr lang="en-US" sz="650" b="1" dirty="0">
                <a:solidFill>
                  <a:srgbClr val="0A192F"/>
                </a:solidFill>
                <a:latin typeface="Space Grotesk Bold" pitchFamily="34" charset="0"/>
                <a:ea typeface="Space Grotesk Bold" pitchFamily="34" charset="-122"/>
                <a:cs typeface="Space Grotesk Bold" pitchFamily="34" charset="-120"/>
              </a:rPr>
              <a:t>Temporal retraining pipeline:</a:t>
            </a:r>
            <a:r>
              <a:rPr lang="en-US" sz="650" dirty="0">
                <a:solidFill>
                  <a:srgbClr val="1A2B4A"/>
                </a:solidFill>
                <a:latin typeface="Space Grotesk" pitchFamily="34" charset="0"/>
                <a:ea typeface="Space Grotesk" pitchFamily="34" charset="-122"/>
                <a:cs typeface="Space Grotesk" pitchFamily="34" charset="-120"/>
              </a:rPr>
              <a:t> Automated periodic retraining on fresh data to address model drift in production </a:t>
            </a:r>
            <a:r>
              <a:rPr lang="en-US" sz="650" dirty="0">
                <a:solidFill>
                  <a:srgbClr val="1A2B4A"/>
                </a:solidFill>
                <a:latin typeface="Space Grotesk" pitchFamily="34" charset="0"/>
                <a:ea typeface="Space Grotesk" pitchFamily="34" charset="-122"/>
                <a:cs typeface="Space Grotesk" pitchFamily="34" charset="-120"/>
              </a:rPr>
              <a:t>deployment</a:t>
            </a:r>
            <a:endParaRPr lang="en-US" sz="650" dirty="0"/>
          </a:p>
        </p:txBody>
      </p:sp>
      <p:sp>
        <p:nvSpPr>
          <p:cNvPr id="30" name="Text 26"/>
          <p:cNvSpPr/>
          <p:nvPr/>
        </p:nvSpPr>
        <p:spPr>
          <a:xfrm>
            <a:off x="671513" y="3937183"/>
            <a:ext cx="5314950" cy="278606"/>
          </a:xfrm>
          <a:prstGeom prst="rect">
            <a:avLst/>
          </a:prstGeom>
          <a:noFill/>
          <a:ln/>
        </p:spPr>
        <p:txBody>
          <a:bodyPr wrap="square" lIns="0" tIns="0" rIns="0" bIns="0" rtlCol="0" anchor="t">
            <a:spAutoFit/>
          </a:bodyPr>
          <a:lstStyle/>
          <a:p>
            <a:pPr algn="l" indent="0" marL="0">
              <a:lnSpc>
                <a:spcPct val="120000"/>
              </a:lnSpc>
              <a:buNone/>
            </a:pPr>
            <a:r>
              <a:rPr lang="en-US" sz="650" b="1" dirty="0">
                <a:solidFill>
                  <a:srgbClr val="0A192F"/>
                </a:solidFill>
                <a:latin typeface="Space Grotesk Bold" pitchFamily="34" charset="0"/>
                <a:ea typeface="Space Grotesk Bold" pitchFamily="34" charset="-122"/>
                <a:cs typeface="Space Grotesk Bold" pitchFamily="34" charset="-120"/>
              </a:rPr>
              <a:t>Multi-class classification:</a:t>
            </a:r>
            <a:r>
              <a:rPr lang="en-US" sz="650" dirty="0">
                <a:solidFill>
                  <a:srgbClr val="1A2B4A"/>
                </a:solidFill>
                <a:latin typeface="Space Grotesk" pitchFamily="34" charset="0"/>
                <a:ea typeface="Space Grotesk" pitchFamily="34" charset="-122"/>
                <a:cs typeface="Space Grotesk" pitchFamily="34" charset="-120"/>
              </a:rPr>
              <a:t> Extend binary detection to four classes — phishing, malware, defacement, and benign — for </a:t>
            </a:r>
            <a:r>
              <a:rPr lang="en-US" sz="650" dirty="0">
                <a:solidFill>
                  <a:srgbClr val="1A2B4A"/>
                </a:solidFill>
                <a:latin typeface="Space Grotesk" pitchFamily="34" charset="0"/>
                <a:ea typeface="Space Grotesk" pitchFamily="34" charset="-122"/>
                <a:cs typeface="Space Grotesk" pitchFamily="34" charset="-120"/>
              </a:rPr>
              <a:t>richer threat intelligence</a:t>
            </a:r>
            <a:endParaRPr lang="en-US" sz="650" dirty="0"/>
          </a:p>
        </p:txBody>
      </p:sp>
      <p:sp>
        <p:nvSpPr>
          <p:cNvPr id="31" name="Shape 27"/>
          <p:cNvSpPr/>
          <p:nvPr/>
        </p:nvSpPr>
        <p:spPr>
          <a:xfrm>
            <a:off x="6315075" y="2947774"/>
            <a:ext cx="2428875" cy="1934170"/>
          </a:xfrm>
          <a:prstGeom prst="rect">
            <a:avLst/>
          </a:prstGeom>
          <a:solidFill>
            <a:srgbClr val="0056B3"/>
          </a:solidFill>
          <a:ln/>
        </p:spPr>
      </p:sp>
      <p:sp>
        <p:nvSpPr>
          <p:cNvPr id="32" name="Text 28"/>
          <p:cNvSpPr/>
          <p:nvPr/>
        </p:nvSpPr>
        <p:spPr>
          <a:xfrm>
            <a:off x="6472238" y="3076361"/>
            <a:ext cx="2114550" cy="103584"/>
          </a:xfrm>
          <a:prstGeom prst="rect">
            <a:avLst/>
          </a:prstGeom>
          <a:noFill/>
          <a:ln/>
        </p:spPr>
        <p:txBody>
          <a:bodyPr wrap="square" lIns="0" tIns="0" rIns="0" bIns="0" rtlCol="0" anchor="t">
            <a:spAutoFit/>
          </a:bodyPr>
          <a:lstStyle/>
          <a:p>
            <a:pPr algn="l" indent="0" marL="0">
              <a:buNone/>
            </a:pPr>
            <a:r>
              <a:rPr lang="en-US" sz="550" spc="2" kern="0" dirty="0">
                <a:solidFill>
                  <a:srgbClr val="C8DEFF"/>
                </a:solidFill>
                <a:latin typeface="DM Mono" pitchFamily="34" charset="0"/>
                <a:ea typeface="DM Mono" pitchFamily="34" charset="-122"/>
                <a:cs typeface="DM Mono" pitchFamily="34" charset="-120"/>
              </a:rPr>
              <a:t>FINAL RESULTS SUMMARY</a:t>
            </a:r>
            <a:endParaRPr lang="en-US" sz="550" dirty="0"/>
          </a:p>
        </p:txBody>
      </p:sp>
      <p:sp>
        <p:nvSpPr>
          <p:cNvPr id="33" name="Text 29"/>
          <p:cNvSpPr/>
          <p:nvPr/>
        </p:nvSpPr>
        <p:spPr>
          <a:xfrm>
            <a:off x="6472238" y="3327285"/>
            <a:ext cx="500063" cy="117872"/>
          </a:xfrm>
          <a:prstGeom prst="rect">
            <a:avLst/>
          </a:prstGeom>
          <a:noFill/>
          <a:ln/>
        </p:spPr>
        <p:txBody>
          <a:bodyPr wrap="none" lIns="0" tIns="0" rIns="0" bIns="0" rtlCol="0" anchor="t">
            <a:spAutoFit/>
          </a:bodyPr>
          <a:lstStyle/>
          <a:p>
            <a:pPr algn="l" indent="0" marL="0">
              <a:buNone/>
            </a:pPr>
            <a:r>
              <a:rPr lang="en-US" sz="650" dirty="0">
                <a:solidFill>
                  <a:srgbClr val="E6F0FA"/>
                </a:solidFill>
                <a:latin typeface="Space Grotesk Medium" pitchFamily="34" charset="0"/>
                <a:ea typeface="Space Grotesk Medium" pitchFamily="34" charset="-122"/>
                <a:cs typeface="Space Grotesk Medium" pitchFamily="34" charset="-120"/>
              </a:rPr>
              <a:t>Best Model</a:t>
            </a:r>
            <a:endParaRPr lang="en-US" sz="650" dirty="0"/>
          </a:p>
        </p:txBody>
      </p:sp>
      <p:sp>
        <p:nvSpPr>
          <p:cNvPr id="34" name="Text 30"/>
          <p:cNvSpPr/>
          <p:nvPr/>
        </p:nvSpPr>
        <p:spPr>
          <a:xfrm>
            <a:off x="7750969" y="3315677"/>
            <a:ext cx="835819" cy="141089"/>
          </a:xfrm>
          <a:prstGeom prst="rect">
            <a:avLst/>
          </a:prstGeom>
          <a:noFill/>
          <a:ln/>
        </p:spPr>
        <p:txBody>
          <a:bodyPr wrap="none" lIns="0" tIns="0" rIns="0" bIns="0" rtlCol="0" anchor="t">
            <a:spAutoFit/>
          </a:bodyPr>
          <a:lstStyle/>
          <a:p>
            <a:pPr algn="l" indent="0" marL="0">
              <a:buNone/>
            </a:pPr>
            <a:r>
              <a:rPr lang="en-US" sz="750" b="1" dirty="0">
                <a:solidFill>
                  <a:srgbClr val="FFFFFF"/>
                </a:solidFill>
                <a:latin typeface="DM Mono Medium" pitchFamily="34" charset="0"/>
                <a:ea typeface="DM Mono Medium" pitchFamily="34" charset="-122"/>
                <a:cs typeface="DM Mono Medium" pitchFamily="34" charset="-120"/>
              </a:rPr>
              <a:t>Random Forest</a:t>
            </a:r>
            <a:endParaRPr lang="en-US" sz="750" dirty="0"/>
          </a:p>
        </p:txBody>
      </p:sp>
      <p:sp>
        <p:nvSpPr>
          <p:cNvPr id="35" name="Text 31"/>
          <p:cNvSpPr/>
          <p:nvPr/>
        </p:nvSpPr>
        <p:spPr>
          <a:xfrm>
            <a:off x="6472238" y="3589818"/>
            <a:ext cx="425053" cy="117872"/>
          </a:xfrm>
          <a:prstGeom prst="rect">
            <a:avLst/>
          </a:prstGeom>
          <a:noFill/>
          <a:ln/>
        </p:spPr>
        <p:txBody>
          <a:bodyPr wrap="none" lIns="0" tIns="0" rIns="0" bIns="0" rtlCol="0" anchor="t">
            <a:spAutoFit/>
          </a:bodyPr>
          <a:lstStyle/>
          <a:p>
            <a:pPr algn="l" indent="0" marL="0">
              <a:buNone/>
            </a:pPr>
            <a:r>
              <a:rPr lang="en-US" sz="650" dirty="0">
                <a:solidFill>
                  <a:srgbClr val="E6F0FA"/>
                </a:solidFill>
                <a:latin typeface="Space Grotesk Medium" pitchFamily="34" charset="0"/>
                <a:ea typeface="Space Grotesk Medium" pitchFamily="34" charset="-122"/>
                <a:cs typeface="Space Grotesk Medium" pitchFamily="34" charset="-120"/>
              </a:rPr>
              <a:t>Accuracy</a:t>
            </a:r>
            <a:endParaRPr lang="en-US" sz="650" dirty="0"/>
          </a:p>
        </p:txBody>
      </p:sp>
      <p:sp>
        <p:nvSpPr>
          <p:cNvPr id="36" name="Text 32"/>
          <p:cNvSpPr/>
          <p:nvPr/>
        </p:nvSpPr>
        <p:spPr>
          <a:xfrm>
            <a:off x="8201025" y="3578209"/>
            <a:ext cx="385763" cy="141089"/>
          </a:xfrm>
          <a:prstGeom prst="rect">
            <a:avLst/>
          </a:prstGeom>
          <a:noFill/>
          <a:ln/>
        </p:spPr>
        <p:txBody>
          <a:bodyPr wrap="none" lIns="0" tIns="0" rIns="0" bIns="0" rtlCol="0" anchor="t">
            <a:spAutoFit/>
          </a:bodyPr>
          <a:lstStyle/>
          <a:p>
            <a:pPr algn="l" indent="0" marL="0">
              <a:buNone/>
            </a:pPr>
            <a:r>
              <a:rPr lang="en-US" sz="750" b="1" dirty="0">
                <a:solidFill>
                  <a:srgbClr val="FFFFFF"/>
                </a:solidFill>
                <a:latin typeface="DM Mono Medium" pitchFamily="34" charset="0"/>
                <a:ea typeface="DM Mono Medium" pitchFamily="34" charset="-122"/>
                <a:cs typeface="DM Mono Medium" pitchFamily="34" charset="-120"/>
              </a:rPr>
              <a:t>94.03%</a:t>
            </a:r>
            <a:endParaRPr lang="en-US" sz="750" dirty="0"/>
          </a:p>
        </p:txBody>
      </p:sp>
      <p:sp>
        <p:nvSpPr>
          <p:cNvPr id="37" name="Text 33"/>
          <p:cNvSpPr/>
          <p:nvPr/>
        </p:nvSpPr>
        <p:spPr>
          <a:xfrm>
            <a:off x="6472238" y="3852351"/>
            <a:ext cx="389334" cy="117872"/>
          </a:xfrm>
          <a:prstGeom prst="rect">
            <a:avLst/>
          </a:prstGeom>
          <a:noFill/>
          <a:ln/>
        </p:spPr>
        <p:txBody>
          <a:bodyPr wrap="none" lIns="0" tIns="0" rIns="0" bIns="0" rtlCol="0" anchor="t">
            <a:spAutoFit/>
          </a:bodyPr>
          <a:lstStyle/>
          <a:p>
            <a:pPr algn="l" indent="0" marL="0">
              <a:buNone/>
            </a:pPr>
            <a:r>
              <a:rPr lang="en-US" sz="650" dirty="0">
                <a:solidFill>
                  <a:srgbClr val="E6F0FA"/>
                </a:solidFill>
                <a:latin typeface="Space Grotesk Medium" pitchFamily="34" charset="0"/>
                <a:ea typeface="Space Grotesk Medium" pitchFamily="34" charset="-122"/>
                <a:cs typeface="Space Grotesk Medium" pitchFamily="34" charset="-120"/>
              </a:rPr>
              <a:t>F1-Score</a:t>
            </a:r>
            <a:endParaRPr lang="en-US" sz="650" dirty="0"/>
          </a:p>
        </p:txBody>
      </p:sp>
      <p:sp>
        <p:nvSpPr>
          <p:cNvPr id="38" name="Text 34"/>
          <p:cNvSpPr/>
          <p:nvPr/>
        </p:nvSpPr>
        <p:spPr>
          <a:xfrm>
            <a:off x="8201025" y="3840742"/>
            <a:ext cx="385763" cy="141089"/>
          </a:xfrm>
          <a:prstGeom prst="rect">
            <a:avLst/>
          </a:prstGeom>
          <a:noFill/>
          <a:ln/>
        </p:spPr>
        <p:txBody>
          <a:bodyPr wrap="none" lIns="0" tIns="0" rIns="0" bIns="0" rtlCol="0" anchor="t">
            <a:spAutoFit/>
          </a:bodyPr>
          <a:lstStyle/>
          <a:p>
            <a:pPr algn="l" indent="0" marL="0">
              <a:buNone/>
            </a:pPr>
            <a:r>
              <a:rPr lang="en-US" sz="750" b="1" dirty="0">
                <a:solidFill>
                  <a:srgbClr val="FFFFFF"/>
                </a:solidFill>
                <a:latin typeface="DM Mono Medium" pitchFamily="34" charset="0"/>
                <a:ea typeface="DM Mono Medium" pitchFamily="34" charset="-122"/>
                <a:cs typeface="DM Mono Medium" pitchFamily="34" charset="-120"/>
              </a:rPr>
              <a:t>0.9120</a:t>
            </a:r>
            <a:endParaRPr lang="en-US" sz="750" dirty="0"/>
          </a:p>
        </p:txBody>
      </p:sp>
      <p:sp>
        <p:nvSpPr>
          <p:cNvPr id="39" name="Text 35"/>
          <p:cNvSpPr/>
          <p:nvPr/>
        </p:nvSpPr>
        <p:spPr>
          <a:xfrm>
            <a:off x="6472238" y="4114884"/>
            <a:ext cx="828675" cy="117872"/>
          </a:xfrm>
          <a:prstGeom prst="rect">
            <a:avLst/>
          </a:prstGeom>
          <a:noFill/>
          <a:ln/>
        </p:spPr>
        <p:txBody>
          <a:bodyPr wrap="none" lIns="0" tIns="0" rIns="0" bIns="0" rtlCol="0" anchor="t">
            <a:spAutoFit/>
          </a:bodyPr>
          <a:lstStyle/>
          <a:p>
            <a:pPr algn="l" indent="0" marL="0">
              <a:buNone/>
            </a:pPr>
            <a:r>
              <a:rPr lang="en-US" sz="650" dirty="0">
                <a:solidFill>
                  <a:srgbClr val="E6F0FA"/>
                </a:solidFill>
                <a:latin typeface="Space Grotesk Medium" pitchFamily="34" charset="0"/>
                <a:ea typeface="Space Grotesk Medium" pitchFamily="34" charset="-122"/>
                <a:cs typeface="Space Grotesk Medium" pitchFamily="34" charset="-120"/>
              </a:rPr>
              <a:t>False Positive Rate</a:t>
            </a:r>
            <a:endParaRPr lang="en-US" sz="650" dirty="0"/>
          </a:p>
        </p:txBody>
      </p:sp>
      <p:sp>
        <p:nvSpPr>
          <p:cNvPr id="40" name="Text 36"/>
          <p:cNvSpPr/>
          <p:nvPr/>
        </p:nvSpPr>
        <p:spPr>
          <a:xfrm>
            <a:off x="8265319" y="4103275"/>
            <a:ext cx="321469" cy="141089"/>
          </a:xfrm>
          <a:prstGeom prst="rect">
            <a:avLst/>
          </a:prstGeom>
          <a:noFill/>
          <a:ln/>
        </p:spPr>
        <p:txBody>
          <a:bodyPr wrap="none" lIns="0" tIns="0" rIns="0" bIns="0" rtlCol="0" anchor="t">
            <a:spAutoFit/>
          </a:bodyPr>
          <a:lstStyle/>
          <a:p>
            <a:pPr algn="l" indent="0" marL="0">
              <a:buNone/>
            </a:pPr>
            <a:r>
              <a:rPr lang="en-US" sz="750" b="1" dirty="0">
                <a:solidFill>
                  <a:srgbClr val="FFFFFF"/>
                </a:solidFill>
                <a:latin typeface="DM Mono Medium" pitchFamily="34" charset="0"/>
                <a:ea typeface="DM Mono Medium" pitchFamily="34" charset="-122"/>
                <a:cs typeface="DM Mono Medium" pitchFamily="34" charset="-120"/>
              </a:rPr>
              <a:t>5.45%</a:t>
            </a:r>
            <a:endParaRPr lang="en-US" sz="750" dirty="0"/>
          </a:p>
        </p:txBody>
      </p:sp>
      <p:sp>
        <p:nvSpPr>
          <p:cNvPr id="41" name="Text 37"/>
          <p:cNvSpPr/>
          <p:nvPr/>
        </p:nvSpPr>
        <p:spPr>
          <a:xfrm>
            <a:off x="6472238" y="4377417"/>
            <a:ext cx="380405" cy="117872"/>
          </a:xfrm>
          <a:prstGeom prst="rect">
            <a:avLst/>
          </a:prstGeom>
          <a:noFill/>
          <a:ln/>
        </p:spPr>
        <p:txBody>
          <a:bodyPr wrap="none" lIns="0" tIns="0" rIns="0" bIns="0" rtlCol="0" anchor="t">
            <a:spAutoFit/>
          </a:bodyPr>
          <a:lstStyle/>
          <a:p>
            <a:pPr algn="l" indent="0" marL="0">
              <a:buNone/>
            </a:pPr>
            <a:r>
              <a:rPr lang="en-US" sz="650" dirty="0">
                <a:solidFill>
                  <a:srgbClr val="E6F0FA"/>
                </a:solidFill>
                <a:latin typeface="Space Grotesk Medium" pitchFamily="34" charset="0"/>
                <a:ea typeface="Space Grotesk Medium" pitchFamily="34" charset="-122"/>
                <a:cs typeface="Space Grotesk Medium" pitchFamily="34" charset="-120"/>
              </a:rPr>
              <a:t>ROC AUC</a:t>
            </a:r>
            <a:endParaRPr lang="en-US" sz="650" dirty="0"/>
          </a:p>
        </p:txBody>
      </p:sp>
      <p:sp>
        <p:nvSpPr>
          <p:cNvPr id="42" name="Text 38"/>
          <p:cNvSpPr/>
          <p:nvPr/>
        </p:nvSpPr>
        <p:spPr>
          <a:xfrm>
            <a:off x="8201025" y="4365808"/>
            <a:ext cx="385763" cy="141089"/>
          </a:xfrm>
          <a:prstGeom prst="rect">
            <a:avLst/>
          </a:prstGeom>
          <a:noFill/>
          <a:ln/>
        </p:spPr>
        <p:txBody>
          <a:bodyPr wrap="none" lIns="0" tIns="0" rIns="0" bIns="0" rtlCol="0" anchor="t">
            <a:spAutoFit/>
          </a:bodyPr>
          <a:lstStyle/>
          <a:p>
            <a:pPr algn="l" indent="0" marL="0">
              <a:buNone/>
            </a:pPr>
            <a:r>
              <a:rPr lang="en-US" sz="750" b="1" dirty="0">
                <a:solidFill>
                  <a:srgbClr val="FFFFFF"/>
                </a:solidFill>
                <a:latin typeface="DM Mono Medium" pitchFamily="34" charset="0"/>
                <a:ea typeface="DM Mono Medium" pitchFamily="34" charset="-122"/>
                <a:cs typeface="DM Mono Medium" pitchFamily="34" charset="-120"/>
              </a:rPr>
              <a:t>0.9855</a:t>
            </a:r>
            <a:endParaRPr lang="en-US" sz="750" dirty="0"/>
          </a:p>
        </p:txBody>
      </p:sp>
      <p:sp>
        <p:nvSpPr>
          <p:cNvPr id="43" name="Text 39"/>
          <p:cNvSpPr/>
          <p:nvPr/>
        </p:nvSpPr>
        <p:spPr>
          <a:xfrm>
            <a:off x="6472238" y="4649772"/>
            <a:ext cx="2114550" cy="103584"/>
          </a:xfrm>
          <a:prstGeom prst="rect">
            <a:avLst/>
          </a:prstGeom>
          <a:noFill/>
          <a:ln/>
        </p:spPr>
        <p:txBody>
          <a:bodyPr wrap="square" lIns="0" tIns="0" rIns="0" bIns="0" rtlCol="0" anchor="t">
            <a:spAutoFit/>
          </a:bodyPr>
          <a:lstStyle/>
          <a:p>
            <a:pPr algn="l" indent="0" marL="0">
              <a:buNone/>
            </a:pPr>
            <a:r>
              <a:rPr lang="en-US" sz="550" dirty="0">
                <a:solidFill>
                  <a:srgbClr val="C8DEFF"/>
                </a:solidFill>
                <a:latin typeface="DM Mono" pitchFamily="34" charset="0"/>
                <a:ea typeface="DM Mono" pitchFamily="34" charset="-122"/>
                <a:cs typeface="DM Mono" pitchFamily="34" charset="-120"/>
              </a:rPr>
              <a:t>Live prototype: phishguardapp.manus.space</a:t>
            </a:r>
            <a:endParaRPr lang="en-US" sz="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794742"/>
          </a:xfrm>
          <a:prstGeom prst="rect">
            <a:avLst/>
          </a:prstGeom>
          <a:solidFill>
            <a:srgbClr val="0A192F"/>
          </a:solidFill>
          <a:ln/>
        </p:spPr>
      </p:sp>
      <p:sp>
        <p:nvSpPr>
          <p:cNvPr id="5" name="Text 1"/>
          <p:cNvSpPr/>
          <p:nvPr/>
        </p:nvSpPr>
        <p:spPr>
          <a:xfrm>
            <a:off x="400050" y="200025"/>
            <a:ext cx="2509242" cy="121444"/>
          </a:xfrm>
          <a:prstGeom prst="rect">
            <a:avLst/>
          </a:prstGeom>
          <a:noFill/>
          <a:ln/>
        </p:spPr>
        <p:txBody>
          <a:bodyPr wrap="square" lIns="0" tIns="0" rIns="0" bIns="0" rtlCol="0" anchor="t">
            <a:spAutoFit/>
          </a:bodyPr>
          <a:lstStyle/>
          <a:p>
            <a:pPr algn="l" indent="0" marL="0">
              <a:buNone/>
            </a:pPr>
            <a:r>
              <a:rPr lang="en-US" sz="650" spc="2" kern="0" dirty="0">
                <a:solidFill>
                  <a:srgbClr val="4A90D9"/>
                </a:solidFill>
                <a:latin typeface="DM Mono" pitchFamily="34" charset="0"/>
                <a:ea typeface="DM Mono" pitchFamily="34" charset="-122"/>
                <a:cs typeface="DM Mono" pitchFamily="34" charset="-120"/>
              </a:rPr>
              <a:t>10 / 10</a:t>
            </a:r>
            <a:endParaRPr lang="en-US" sz="650" dirty="0"/>
          </a:p>
        </p:txBody>
      </p:sp>
      <p:sp>
        <p:nvSpPr>
          <p:cNvPr id="6" name="Text 2"/>
          <p:cNvSpPr/>
          <p:nvPr/>
        </p:nvSpPr>
        <p:spPr>
          <a:xfrm>
            <a:off x="400050" y="350044"/>
            <a:ext cx="2509242" cy="273248"/>
          </a:xfrm>
          <a:prstGeom prst="rect">
            <a:avLst/>
          </a:prstGeom>
          <a:noFill/>
          <a:ln/>
        </p:spPr>
        <p:txBody>
          <a:bodyPr wrap="square" lIns="0" tIns="0" rIns="0" bIns="0" rtlCol="0" anchor="t">
            <a:spAutoFit/>
          </a:bodyPr>
          <a:lstStyle/>
          <a:p>
            <a:pPr algn="l" indent="0" marL="0">
              <a:buNone/>
            </a:pPr>
            <a:r>
              <a:rPr lang="en-US" sz="1500" b="1" dirty="0">
                <a:solidFill>
                  <a:srgbClr val="4A90D9"/>
                </a:solidFill>
                <a:latin typeface="Space Grotesk Bold" pitchFamily="34" charset="0"/>
                <a:ea typeface="Space Grotesk Bold" pitchFamily="34" charset="-122"/>
                <a:cs typeface="Space Grotesk Bold" pitchFamily="34" charset="-120"/>
              </a:rPr>
              <a:t>Live Demo</a:t>
            </a:r>
            <a:r>
              <a:rPr lang="en-US" sz="1500" b="1" dirty="0">
                <a:solidFill>
                  <a:srgbClr val="FFFFFF"/>
                </a:solidFill>
                <a:latin typeface="Space Grotesk Bold" pitchFamily="34" charset="0"/>
                <a:ea typeface="Space Grotesk Bold" pitchFamily="34" charset="-122"/>
                <a:cs typeface="Space Grotesk Bold" pitchFamily="34" charset="-120"/>
              </a:rPr>
              <a:t> — PhishGuard</a:t>
            </a:r>
            <a:endParaRPr lang="en-US" sz="1500" dirty="0"/>
          </a:p>
        </p:txBody>
      </p:sp>
      <p:sp>
        <p:nvSpPr>
          <p:cNvPr id="7" name="Shape 3"/>
          <p:cNvSpPr/>
          <p:nvPr/>
        </p:nvSpPr>
        <p:spPr>
          <a:xfrm>
            <a:off x="8090632" y="310753"/>
            <a:ext cx="653318" cy="201811"/>
          </a:xfrm>
          <a:prstGeom prst="rect">
            <a:avLst/>
          </a:prstGeom>
          <a:solidFill>
            <a:srgbClr val="4A90D9"/>
          </a:solidFill>
          <a:ln/>
        </p:spPr>
      </p:sp>
      <p:sp>
        <p:nvSpPr>
          <p:cNvPr id="8" name="Text 4"/>
          <p:cNvSpPr/>
          <p:nvPr/>
        </p:nvSpPr>
        <p:spPr>
          <a:xfrm>
            <a:off x="8090632" y="310753"/>
            <a:ext cx="653318" cy="201811"/>
          </a:xfrm>
          <a:prstGeom prst="rect">
            <a:avLst/>
          </a:prstGeom>
          <a:noFill/>
          <a:ln/>
        </p:spPr>
        <p:txBody>
          <a:bodyPr wrap="none" lIns="153035" tIns="51054" rIns="153035" bIns="51054" rtlCol="0" anchor="t">
            <a:spAutoFit/>
          </a:bodyPr>
          <a:lstStyle/>
          <a:p>
            <a:pPr algn="l" indent="0" marL="0">
              <a:buNone/>
            </a:pPr>
            <a:r>
              <a:rPr lang="en-US" sz="600" spc="2" kern="0" dirty="0">
                <a:solidFill>
                  <a:srgbClr val="0A192F"/>
                </a:solidFill>
                <a:latin typeface="DM Mono Medium" pitchFamily="34" charset="0"/>
                <a:ea typeface="DM Mono Medium" pitchFamily="34" charset="-122"/>
                <a:cs typeface="DM Mono Medium" pitchFamily="34" charset="-120"/>
              </a:rPr>
              <a:t>● LIVE</a:t>
            </a:r>
            <a:endParaRPr lang="en-US" sz="600" dirty="0"/>
          </a:p>
        </p:txBody>
      </p:sp>
      <p:sp>
        <p:nvSpPr>
          <p:cNvPr id="9" name="Text 5"/>
          <p:cNvSpPr/>
          <p:nvPr/>
        </p:nvSpPr>
        <p:spPr>
          <a:xfrm>
            <a:off x="400050" y="909042"/>
            <a:ext cx="4786313"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APPLICATION URL</a:t>
            </a:r>
            <a:endParaRPr lang="en-US" sz="550" dirty="0"/>
          </a:p>
        </p:txBody>
      </p:sp>
      <p:sp>
        <p:nvSpPr>
          <p:cNvPr id="10" name="Shape 6"/>
          <p:cNvSpPr/>
          <p:nvPr/>
        </p:nvSpPr>
        <p:spPr>
          <a:xfrm>
            <a:off x="400050" y="1112639"/>
            <a:ext cx="4786313" cy="312539"/>
          </a:xfrm>
          <a:prstGeom prst="rect">
            <a:avLst/>
          </a:prstGeom>
          <a:solidFill>
            <a:srgbClr val="0A192F"/>
          </a:solidFill>
          <a:ln/>
        </p:spPr>
      </p:sp>
      <p:sp>
        <p:nvSpPr>
          <p:cNvPr id="11" name="Text 7"/>
          <p:cNvSpPr/>
          <p:nvPr/>
        </p:nvSpPr>
        <p:spPr>
          <a:xfrm>
            <a:off x="514350" y="1212652"/>
            <a:ext cx="428625" cy="112514"/>
          </a:xfrm>
          <a:prstGeom prst="rect">
            <a:avLst/>
          </a:prstGeom>
          <a:noFill/>
          <a:ln/>
        </p:spPr>
        <p:txBody>
          <a:bodyPr wrap="none" lIns="0" tIns="0" rIns="0" bIns="0" rtlCol="0" anchor="t">
            <a:spAutoFit/>
          </a:bodyPr>
          <a:lstStyle/>
          <a:p>
            <a:pPr algn="l" indent="0" marL="0">
              <a:buNone/>
            </a:pPr>
            <a:r>
              <a:rPr lang="en-US" sz="600" dirty="0">
                <a:solidFill>
                  <a:srgbClr val="4A90D9"/>
                </a:solidFill>
                <a:latin typeface="DM Mono" pitchFamily="34" charset="0"/>
                <a:ea typeface="DM Mono" pitchFamily="34" charset="-122"/>
                <a:cs typeface="DM Mono" pitchFamily="34" charset="-120"/>
              </a:rPr>
              <a:t>https://</a:t>
            </a:r>
            <a:endParaRPr lang="en-US" sz="600" dirty="0"/>
          </a:p>
        </p:txBody>
      </p:sp>
      <p:sp>
        <p:nvSpPr>
          <p:cNvPr id="12" name="Text 8"/>
          <p:cNvSpPr/>
          <p:nvPr/>
        </p:nvSpPr>
        <p:spPr>
          <a:xfrm>
            <a:off x="1028700" y="1198364"/>
            <a:ext cx="1607344" cy="141089"/>
          </a:xfrm>
          <a:prstGeom prst="rect">
            <a:avLst/>
          </a:prstGeom>
          <a:noFill/>
          <a:ln/>
        </p:spPr>
        <p:txBody>
          <a:bodyPr wrap="square" lIns="0" tIns="0" rIns="0" bIns="0" rtlCol="0" anchor="t">
            <a:spAutoFit/>
          </a:bodyPr>
          <a:lstStyle/>
          <a:p>
            <a:pPr algn="l" indent="0" marL="0">
              <a:buNone/>
            </a:pPr>
            <a:r>
              <a:rPr lang="en-US" sz="800" dirty="0">
                <a:solidFill>
                  <a:srgbClr val="FFFFFF"/>
                </a:solidFill>
                <a:latin typeface="DM Mono Medium" pitchFamily="34" charset="0"/>
                <a:ea typeface="DM Mono Medium" pitchFamily="34" charset="-122"/>
                <a:cs typeface="DM Mono Medium" pitchFamily="34" charset="-120"/>
              </a:rPr>
              <a:t>phishguardapp.manus.space</a:t>
            </a:r>
            <a:endParaRPr lang="en-US" sz="800" dirty="0"/>
          </a:p>
        </p:txBody>
      </p:sp>
      <p:sp>
        <p:nvSpPr>
          <p:cNvPr id="13" name="Text 9"/>
          <p:cNvSpPr/>
          <p:nvPr/>
        </p:nvSpPr>
        <p:spPr>
          <a:xfrm>
            <a:off x="400050" y="1525191"/>
            <a:ext cx="4786313"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DEMO SEQUENCE — THREE TEST URLS</a:t>
            </a:r>
            <a:endParaRPr lang="en-US" sz="550" dirty="0"/>
          </a:p>
        </p:txBody>
      </p:sp>
      <p:sp>
        <p:nvSpPr>
          <p:cNvPr id="14" name="Shape 10"/>
          <p:cNvSpPr/>
          <p:nvPr/>
        </p:nvSpPr>
        <p:spPr>
          <a:xfrm>
            <a:off x="407194" y="1735931"/>
            <a:ext cx="4772025" cy="228600"/>
          </a:xfrm>
          <a:prstGeom prst="rect">
            <a:avLst/>
          </a:prstGeom>
          <a:solidFill>
            <a:srgbClr val="0A192F"/>
          </a:solidFill>
          <a:ln/>
        </p:spPr>
      </p:sp>
      <p:sp>
        <p:nvSpPr>
          <p:cNvPr id="15" name="Text 11"/>
          <p:cNvSpPr/>
          <p:nvPr/>
        </p:nvSpPr>
        <p:spPr>
          <a:xfrm>
            <a:off x="407194" y="1735931"/>
            <a:ext cx="814388" cy="228600"/>
          </a:xfrm>
          <a:prstGeom prst="rect">
            <a:avLst/>
          </a:prstGeom>
          <a:noFill/>
          <a:ln/>
        </p:spPr>
        <p:txBody>
          <a:bodyPr wrap="none" lIns="102108" tIns="68072" rIns="102108" bIns="68072" rtlCol="0" anchor="ctr">
            <a:spAutoFit/>
          </a:bodyPr>
          <a:lstStyle/>
          <a:p>
            <a:pPr algn="l" indent="0" marL="0">
              <a:buNone/>
            </a:pPr>
            <a:r>
              <a:rPr lang="en-US" sz="550" spc="1" kern="0" dirty="0">
                <a:solidFill>
                  <a:srgbClr val="8BA4C0"/>
                </a:solidFill>
                <a:latin typeface="DM Mono Medium" pitchFamily="34" charset="0"/>
                <a:ea typeface="DM Mono Medium" pitchFamily="34" charset="-122"/>
                <a:cs typeface="DM Mono Medium" pitchFamily="34" charset="-120"/>
              </a:rPr>
              <a:t>VERDICT</a:t>
            </a:r>
            <a:endParaRPr lang="en-US" sz="550" dirty="0"/>
          </a:p>
        </p:txBody>
      </p:sp>
      <p:sp>
        <p:nvSpPr>
          <p:cNvPr id="16" name="Text 12"/>
          <p:cNvSpPr/>
          <p:nvPr/>
        </p:nvSpPr>
        <p:spPr>
          <a:xfrm>
            <a:off x="1221581" y="1735931"/>
            <a:ext cx="1522037" cy="228600"/>
          </a:xfrm>
          <a:prstGeom prst="rect">
            <a:avLst/>
          </a:prstGeom>
          <a:noFill/>
          <a:ln/>
        </p:spPr>
        <p:txBody>
          <a:bodyPr wrap="square" lIns="102108" tIns="68072" rIns="102108" bIns="68072" rtlCol="0" anchor="ctr">
            <a:spAutoFit/>
          </a:bodyPr>
          <a:lstStyle/>
          <a:p>
            <a:pPr algn="l" indent="0" marL="0">
              <a:buNone/>
            </a:pPr>
            <a:r>
              <a:rPr lang="en-US" sz="550" spc="1" kern="0" dirty="0">
                <a:solidFill>
                  <a:srgbClr val="8BA4C0"/>
                </a:solidFill>
                <a:latin typeface="DM Mono Medium" pitchFamily="34" charset="0"/>
                <a:ea typeface="DM Mono Medium" pitchFamily="34" charset="-122"/>
                <a:cs typeface="DM Mono Medium" pitchFamily="34" charset="-120"/>
              </a:rPr>
              <a:t>URL TO ENTER</a:t>
            </a:r>
            <a:endParaRPr lang="en-US" sz="550" dirty="0"/>
          </a:p>
        </p:txBody>
      </p:sp>
      <p:sp>
        <p:nvSpPr>
          <p:cNvPr id="17" name="Text 13"/>
          <p:cNvSpPr/>
          <p:nvPr/>
        </p:nvSpPr>
        <p:spPr>
          <a:xfrm>
            <a:off x="2743619" y="1735931"/>
            <a:ext cx="566142" cy="228600"/>
          </a:xfrm>
          <a:prstGeom prst="rect">
            <a:avLst/>
          </a:prstGeom>
          <a:noFill/>
          <a:ln/>
        </p:spPr>
        <p:txBody>
          <a:bodyPr wrap="none" lIns="102108" tIns="68072" rIns="102108" bIns="68072" rtlCol="0" anchor="ctr">
            <a:spAutoFit/>
          </a:bodyPr>
          <a:lstStyle/>
          <a:p>
            <a:pPr algn="l" indent="0" marL="0">
              <a:buNone/>
            </a:pPr>
            <a:r>
              <a:rPr lang="en-US" sz="550" spc="1" kern="0" dirty="0">
                <a:solidFill>
                  <a:srgbClr val="8BA4C0"/>
                </a:solidFill>
                <a:latin typeface="DM Mono Medium" pitchFamily="34" charset="0"/>
                <a:ea typeface="DM Mono Medium" pitchFamily="34" charset="-122"/>
                <a:cs typeface="DM Mono Medium" pitchFamily="34" charset="-120"/>
              </a:rPr>
              <a:t>SCORE</a:t>
            </a:r>
            <a:endParaRPr lang="en-US" sz="550" dirty="0"/>
          </a:p>
        </p:txBody>
      </p:sp>
      <p:sp>
        <p:nvSpPr>
          <p:cNvPr id="18" name="Text 14"/>
          <p:cNvSpPr/>
          <p:nvPr/>
        </p:nvSpPr>
        <p:spPr>
          <a:xfrm>
            <a:off x="3309761" y="1735931"/>
            <a:ext cx="1869458" cy="228600"/>
          </a:xfrm>
          <a:prstGeom prst="rect">
            <a:avLst/>
          </a:prstGeom>
          <a:noFill/>
          <a:ln/>
        </p:spPr>
        <p:txBody>
          <a:bodyPr wrap="square" lIns="102108" tIns="68072" rIns="102108" bIns="68072" rtlCol="0" anchor="ctr">
            <a:spAutoFit/>
          </a:bodyPr>
          <a:lstStyle/>
          <a:p>
            <a:pPr algn="l" indent="0" marL="0">
              <a:buNone/>
            </a:pPr>
            <a:r>
              <a:rPr lang="en-US" sz="550" spc="1" kern="0" dirty="0">
                <a:solidFill>
                  <a:srgbClr val="8BA4C0"/>
                </a:solidFill>
                <a:latin typeface="DM Mono Medium" pitchFamily="34" charset="0"/>
                <a:ea typeface="DM Mono Medium" pitchFamily="34" charset="-122"/>
                <a:cs typeface="DM Mono Medium" pitchFamily="34" charset="-120"/>
              </a:rPr>
              <a:t>SAY TO EXAMINERS</a:t>
            </a:r>
            <a:endParaRPr lang="en-US" sz="550" dirty="0"/>
          </a:p>
        </p:txBody>
      </p:sp>
      <p:sp>
        <p:nvSpPr>
          <p:cNvPr id="19" name="Shape 15"/>
          <p:cNvSpPr/>
          <p:nvPr/>
        </p:nvSpPr>
        <p:spPr>
          <a:xfrm>
            <a:off x="407194" y="1964531"/>
            <a:ext cx="4772025" cy="400720"/>
          </a:xfrm>
          <a:prstGeom prst="rect">
            <a:avLst/>
          </a:prstGeom>
          <a:solidFill>
            <a:srgbClr val="E6F0FA"/>
          </a:solidFill>
          <a:ln/>
        </p:spPr>
      </p:sp>
      <p:sp>
        <p:nvSpPr>
          <p:cNvPr id="20" name="Shape 16"/>
          <p:cNvSpPr/>
          <p:nvPr/>
        </p:nvSpPr>
        <p:spPr>
          <a:xfrm>
            <a:off x="500063" y="2039541"/>
            <a:ext cx="321469" cy="158586"/>
          </a:xfrm>
          <a:prstGeom prst="rect">
            <a:avLst/>
          </a:prstGeom>
          <a:solidFill>
            <a:srgbClr val="D4EDDA"/>
          </a:solidFill>
          <a:ln/>
        </p:spPr>
      </p:sp>
      <p:sp>
        <p:nvSpPr>
          <p:cNvPr id="21" name="Text 17"/>
          <p:cNvSpPr/>
          <p:nvPr/>
        </p:nvSpPr>
        <p:spPr>
          <a:xfrm>
            <a:off x="500063" y="2039541"/>
            <a:ext cx="321469" cy="158586"/>
          </a:xfrm>
          <a:prstGeom prst="rect">
            <a:avLst/>
          </a:prstGeom>
          <a:noFill/>
          <a:ln/>
        </p:spPr>
        <p:txBody>
          <a:bodyPr wrap="none" lIns="68072" tIns="25527" rIns="68072" bIns="25527" rtlCol="0" anchor="t">
            <a:spAutoFit/>
          </a:bodyPr>
          <a:lstStyle/>
          <a:p>
            <a:pPr algn="l" indent="0" marL="0">
              <a:lnSpc>
                <a:spcPct val="108000"/>
              </a:lnSpc>
              <a:buNone/>
            </a:pPr>
            <a:r>
              <a:rPr lang="en-US" sz="600" b="1" dirty="0">
                <a:solidFill>
                  <a:srgbClr val="1B6B3A"/>
                </a:solidFill>
                <a:latin typeface="DM Mono Medium" pitchFamily="34" charset="0"/>
                <a:ea typeface="DM Mono Medium" pitchFamily="34" charset="-122"/>
                <a:cs typeface="DM Mono Medium" pitchFamily="34" charset="-120"/>
              </a:rPr>
              <a:t>SAFE</a:t>
            </a:r>
            <a:endParaRPr lang="en-US" sz="600" dirty="0"/>
          </a:p>
        </p:txBody>
      </p:sp>
      <p:sp>
        <p:nvSpPr>
          <p:cNvPr id="22" name="Text 18"/>
          <p:cNvSpPr/>
          <p:nvPr/>
        </p:nvSpPr>
        <p:spPr>
          <a:xfrm>
            <a:off x="1310878" y="2048470"/>
            <a:ext cx="1139428" cy="112514"/>
          </a:xfrm>
          <a:prstGeom prst="rect">
            <a:avLst/>
          </a:prstGeom>
          <a:noFill/>
          <a:ln/>
        </p:spPr>
        <p:txBody>
          <a:bodyPr wrap="none" lIns="0" tIns="0" rIns="0" bIns="0" rtlCol="0" anchor="t">
            <a:spAutoFit/>
          </a:bodyPr>
          <a:lstStyle/>
          <a:p>
            <a:pPr algn="l" indent="0" marL="0">
              <a:lnSpc>
                <a:spcPct val="112000"/>
              </a:lnSpc>
              <a:buNone/>
            </a:pPr>
            <a:r>
              <a:rPr lang="en-US" sz="600" dirty="0">
                <a:solidFill>
                  <a:srgbClr val="0A192F"/>
                </a:solidFill>
                <a:latin typeface="DM Mono" pitchFamily="34" charset="0"/>
                <a:ea typeface="DM Mono" pitchFamily="34" charset="-122"/>
                <a:cs typeface="DM Mono" pitchFamily="34" charset="-120"/>
              </a:rPr>
              <a:t>https://www.google.com</a:t>
            </a:r>
            <a:endParaRPr lang="en-US" sz="600" dirty="0"/>
          </a:p>
        </p:txBody>
      </p:sp>
      <p:sp>
        <p:nvSpPr>
          <p:cNvPr id="23" name="Text 19"/>
          <p:cNvSpPr/>
          <p:nvPr/>
        </p:nvSpPr>
        <p:spPr>
          <a:xfrm>
            <a:off x="2832915" y="2041327"/>
            <a:ext cx="332184" cy="121444"/>
          </a:xfrm>
          <a:prstGeom prst="rect">
            <a:avLst/>
          </a:prstGeom>
          <a:noFill/>
          <a:ln/>
        </p:spPr>
        <p:txBody>
          <a:bodyPr wrap="none" lIns="0" tIns="0" rIns="0" bIns="0" rtlCol="0" anchor="t">
            <a:spAutoFit/>
          </a:bodyPr>
          <a:lstStyle/>
          <a:p>
            <a:pPr algn="l" indent="0" marL="0">
              <a:lnSpc>
                <a:spcPct val="108000"/>
              </a:lnSpc>
              <a:buNone/>
            </a:pPr>
            <a:r>
              <a:rPr lang="en-US" sz="650" b="1" dirty="0">
                <a:solidFill>
                  <a:srgbClr val="0056B3"/>
                </a:solidFill>
                <a:latin typeface="DM Mono Medium" pitchFamily="34" charset="0"/>
                <a:ea typeface="DM Mono Medium" pitchFamily="34" charset="-122"/>
                <a:cs typeface="DM Mono Medium" pitchFamily="34" charset="-120"/>
              </a:rPr>
              <a:t>~5/100</a:t>
            </a:r>
            <a:endParaRPr lang="en-US" sz="650" dirty="0"/>
          </a:p>
        </p:txBody>
      </p:sp>
      <p:sp>
        <p:nvSpPr>
          <p:cNvPr id="24" name="Text 20"/>
          <p:cNvSpPr/>
          <p:nvPr/>
        </p:nvSpPr>
        <p:spPr>
          <a:xfrm>
            <a:off x="3399058" y="2050256"/>
            <a:ext cx="1548408" cy="234293"/>
          </a:xfrm>
          <a:prstGeom prst="rect">
            <a:avLst/>
          </a:prstGeom>
          <a:noFill/>
          <a:ln/>
        </p:spPr>
        <p:txBody>
          <a:bodyPr wrap="square" lIns="0" tIns="0" rIns="0" bIns="0" rtlCol="0" anchor="t">
            <a:spAutoFit/>
          </a:bodyPr>
          <a:lstStyle/>
          <a:p>
            <a:pPr algn="l" indent="0" marL="0">
              <a:lnSpc>
                <a:spcPct val="112000"/>
              </a:lnSpc>
              <a:buNone/>
            </a:pPr>
            <a:r>
              <a:rPr lang="en-US" sz="600" i="1" dirty="0">
                <a:solidFill>
                  <a:srgbClr val="3A4B6A"/>
                </a:solidFill>
                <a:latin typeface="Space Grotesk" pitchFamily="34" charset="0"/>
                <a:ea typeface="Space Grotesk" pitchFamily="34" charset="-122"/>
                <a:cs typeface="Space Grotesk" pitchFamily="34" charset="-120"/>
              </a:rPr>
              <a:t>Short URL, low entropy, no suspicious characters — all features at low risk</a:t>
            </a:r>
            <a:endParaRPr lang="en-US" sz="600" dirty="0"/>
          </a:p>
        </p:txBody>
      </p:sp>
      <p:sp>
        <p:nvSpPr>
          <p:cNvPr id="25" name="Shape 21"/>
          <p:cNvSpPr/>
          <p:nvPr/>
        </p:nvSpPr>
        <p:spPr>
          <a:xfrm>
            <a:off x="407194" y="2365251"/>
            <a:ext cx="4772025" cy="526070"/>
          </a:xfrm>
          <a:prstGeom prst="rect">
            <a:avLst/>
          </a:prstGeom>
          <a:solidFill>
            <a:srgbClr val="FFF8E6"/>
          </a:solidFill>
          <a:ln/>
        </p:spPr>
      </p:sp>
      <p:sp>
        <p:nvSpPr>
          <p:cNvPr id="26" name="Shape 22"/>
          <p:cNvSpPr/>
          <p:nvPr/>
        </p:nvSpPr>
        <p:spPr>
          <a:xfrm>
            <a:off x="500063" y="2440260"/>
            <a:ext cx="632222" cy="158586"/>
          </a:xfrm>
          <a:prstGeom prst="rect">
            <a:avLst/>
          </a:prstGeom>
          <a:solidFill>
            <a:srgbClr val="FFF0B3"/>
          </a:solidFill>
          <a:ln/>
        </p:spPr>
      </p:sp>
      <p:sp>
        <p:nvSpPr>
          <p:cNvPr id="27" name="Text 23"/>
          <p:cNvSpPr/>
          <p:nvPr/>
        </p:nvSpPr>
        <p:spPr>
          <a:xfrm>
            <a:off x="500063" y="2440260"/>
            <a:ext cx="632222" cy="158586"/>
          </a:xfrm>
          <a:prstGeom prst="rect">
            <a:avLst/>
          </a:prstGeom>
          <a:noFill/>
          <a:ln/>
        </p:spPr>
        <p:txBody>
          <a:bodyPr wrap="none" lIns="68072" tIns="25527" rIns="68072" bIns="25527" rtlCol="0" anchor="t">
            <a:spAutoFit/>
          </a:bodyPr>
          <a:lstStyle/>
          <a:p>
            <a:pPr algn="l" indent="0" marL="0">
              <a:lnSpc>
                <a:spcPct val="108000"/>
              </a:lnSpc>
              <a:buNone/>
            </a:pPr>
            <a:r>
              <a:rPr lang="en-US" sz="600" b="1" dirty="0">
                <a:solidFill>
                  <a:srgbClr val="7B5800"/>
                </a:solidFill>
                <a:latin typeface="DM Mono Medium" pitchFamily="34" charset="0"/>
                <a:ea typeface="DM Mono Medium" pitchFamily="34" charset="-122"/>
                <a:cs typeface="DM Mono Medium" pitchFamily="34" charset="-120"/>
              </a:rPr>
              <a:t>SUSPICIOUS</a:t>
            </a:r>
            <a:endParaRPr lang="en-US" sz="600" dirty="0"/>
          </a:p>
        </p:txBody>
      </p:sp>
      <p:sp>
        <p:nvSpPr>
          <p:cNvPr id="28" name="Text 24"/>
          <p:cNvSpPr/>
          <p:nvPr/>
        </p:nvSpPr>
        <p:spPr>
          <a:xfrm>
            <a:off x="1310878" y="2449190"/>
            <a:ext cx="1294805" cy="237865"/>
          </a:xfrm>
          <a:prstGeom prst="rect">
            <a:avLst/>
          </a:prstGeom>
          <a:noFill/>
          <a:ln/>
        </p:spPr>
        <p:txBody>
          <a:bodyPr wrap="square" lIns="0" tIns="0" rIns="0" bIns="0" rtlCol="0" anchor="t">
            <a:spAutoFit/>
          </a:bodyPr>
          <a:lstStyle/>
          <a:p>
            <a:pPr algn="l" indent="0" marL="0">
              <a:lnSpc>
                <a:spcPct val="112000"/>
              </a:lnSpc>
              <a:buNone/>
            </a:pPr>
            <a:r>
              <a:rPr lang="en-US" sz="600" dirty="0">
                <a:solidFill>
                  <a:srgbClr val="0A192F"/>
                </a:solidFill>
                <a:latin typeface="DM Mono" pitchFamily="34" charset="0"/>
                <a:ea typeface="DM Mono" pitchFamily="34" charset="-122"/>
                <a:cs typeface="DM Mono" pitchFamily="34" charset="-120"/>
              </a:rPr>
              <a:t>http://myaccount-update.net/verify</a:t>
            </a:r>
            <a:endParaRPr lang="en-US" sz="600" dirty="0"/>
          </a:p>
        </p:txBody>
      </p:sp>
      <p:sp>
        <p:nvSpPr>
          <p:cNvPr id="29" name="Text 25"/>
          <p:cNvSpPr/>
          <p:nvPr/>
        </p:nvSpPr>
        <p:spPr>
          <a:xfrm>
            <a:off x="2832915" y="2442046"/>
            <a:ext cx="387548" cy="121444"/>
          </a:xfrm>
          <a:prstGeom prst="rect">
            <a:avLst/>
          </a:prstGeom>
          <a:noFill/>
          <a:ln/>
        </p:spPr>
        <p:txBody>
          <a:bodyPr wrap="none" lIns="0" tIns="0" rIns="0" bIns="0" rtlCol="0" anchor="t">
            <a:spAutoFit/>
          </a:bodyPr>
          <a:lstStyle/>
          <a:p>
            <a:pPr algn="l" indent="0" marL="0">
              <a:lnSpc>
                <a:spcPct val="108000"/>
              </a:lnSpc>
              <a:buNone/>
            </a:pPr>
            <a:r>
              <a:rPr lang="en-US" sz="650" b="1" dirty="0">
                <a:solidFill>
                  <a:srgbClr val="0056B3"/>
                </a:solidFill>
                <a:latin typeface="DM Mono Medium" pitchFamily="34" charset="0"/>
                <a:ea typeface="DM Mono Medium" pitchFamily="34" charset="-122"/>
                <a:cs typeface="DM Mono Medium" pitchFamily="34" charset="-120"/>
              </a:rPr>
              <a:t>~50/100</a:t>
            </a:r>
            <a:endParaRPr lang="en-US" sz="650" dirty="0"/>
          </a:p>
        </p:txBody>
      </p:sp>
      <p:sp>
        <p:nvSpPr>
          <p:cNvPr id="30" name="Text 26"/>
          <p:cNvSpPr/>
          <p:nvPr/>
        </p:nvSpPr>
        <p:spPr>
          <a:xfrm>
            <a:off x="3399058" y="2450976"/>
            <a:ext cx="1489472" cy="359643"/>
          </a:xfrm>
          <a:prstGeom prst="rect">
            <a:avLst/>
          </a:prstGeom>
          <a:noFill/>
          <a:ln/>
        </p:spPr>
        <p:txBody>
          <a:bodyPr wrap="square" lIns="0" tIns="0" rIns="0" bIns="0" rtlCol="0" anchor="t">
            <a:spAutoFit/>
          </a:bodyPr>
          <a:lstStyle/>
          <a:p>
            <a:pPr algn="l" indent="0" marL="0">
              <a:lnSpc>
                <a:spcPct val="112000"/>
              </a:lnSpc>
              <a:buNone/>
            </a:pPr>
            <a:r>
              <a:rPr lang="en-US" sz="600" i="1" dirty="0">
                <a:solidFill>
                  <a:srgbClr val="3A4B6A"/>
                </a:solidFill>
                <a:latin typeface="Space Grotesk" pitchFamily="34" charset="0"/>
                <a:ea typeface="Space Grotesk" pitchFamily="34" charset="-122"/>
                <a:cs typeface="Space Grotesk" pitchFamily="34" charset="-120"/>
              </a:rPr>
              <a:t>Hyphenated domain, no HTTPS, path keyword "verify" — medium risk indicators</a:t>
            </a:r>
            <a:endParaRPr lang="en-US" sz="600" dirty="0"/>
          </a:p>
        </p:txBody>
      </p:sp>
      <p:sp>
        <p:nvSpPr>
          <p:cNvPr id="31" name="Shape 27"/>
          <p:cNvSpPr/>
          <p:nvPr/>
        </p:nvSpPr>
        <p:spPr>
          <a:xfrm>
            <a:off x="407194" y="2891321"/>
            <a:ext cx="4772025" cy="529642"/>
          </a:xfrm>
          <a:prstGeom prst="rect">
            <a:avLst/>
          </a:prstGeom>
          <a:solidFill>
            <a:srgbClr val="FFF0EE"/>
          </a:solidFill>
          <a:ln/>
        </p:spPr>
      </p:sp>
      <p:sp>
        <p:nvSpPr>
          <p:cNvPr id="32" name="Shape 28"/>
          <p:cNvSpPr/>
          <p:nvPr/>
        </p:nvSpPr>
        <p:spPr>
          <a:xfrm>
            <a:off x="500063" y="2966331"/>
            <a:ext cx="580430" cy="158586"/>
          </a:xfrm>
          <a:prstGeom prst="rect">
            <a:avLst/>
          </a:prstGeom>
          <a:solidFill>
            <a:srgbClr val="FFCDD2"/>
          </a:solidFill>
          <a:ln/>
        </p:spPr>
      </p:sp>
      <p:sp>
        <p:nvSpPr>
          <p:cNvPr id="33" name="Text 29"/>
          <p:cNvSpPr/>
          <p:nvPr/>
        </p:nvSpPr>
        <p:spPr>
          <a:xfrm>
            <a:off x="500063" y="2966331"/>
            <a:ext cx="580430" cy="158586"/>
          </a:xfrm>
          <a:prstGeom prst="rect">
            <a:avLst/>
          </a:prstGeom>
          <a:noFill/>
          <a:ln/>
        </p:spPr>
        <p:txBody>
          <a:bodyPr wrap="none" lIns="68072" tIns="25527" rIns="68072" bIns="25527" rtlCol="0" anchor="t">
            <a:spAutoFit/>
          </a:bodyPr>
          <a:lstStyle/>
          <a:p>
            <a:pPr algn="l" indent="0" marL="0">
              <a:lnSpc>
                <a:spcPct val="108000"/>
              </a:lnSpc>
              <a:buNone/>
            </a:pPr>
            <a:r>
              <a:rPr lang="en-US" sz="600" b="1" dirty="0">
                <a:solidFill>
                  <a:srgbClr val="8B1A1A"/>
                </a:solidFill>
                <a:latin typeface="DM Mono Medium" pitchFamily="34" charset="0"/>
                <a:ea typeface="DM Mono Medium" pitchFamily="34" charset="-122"/>
                <a:cs typeface="DM Mono Medium" pitchFamily="34" charset="-120"/>
              </a:rPr>
              <a:t>MALICIOUS</a:t>
            </a:r>
            <a:endParaRPr lang="en-US" sz="600" dirty="0"/>
          </a:p>
        </p:txBody>
      </p:sp>
      <p:sp>
        <p:nvSpPr>
          <p:cNvPr id="34" name="Text 30"/>
          <p:cNvSpPr/>
          <p:nvPr/>
        </p:nvSpPr>
        <p:spPr>
          <a:xfrm>
            <a:off x="1310878" y="2975260"/>
            <a:ext cx="1294805" cy="363215"/>
          </a:xfrm>
          <a:prstGeom prst="rect">
            <a:avLst/>
          </a:prstGeom>
          <a:noFill/>
          <a:ln/>
        </p:spPr>
        <p:txBody>
          <a:bodyPr wrap="square" lIns="0" tIns="0" rIns="0" bIns="0" rtlCol="0" anchor="t">
            <a:spAutoFit/>
          </a:bodyPr>
          <a:lstStyle/>
          <a:p>
            <a:pPr algn="l" indent="0" marL="0">
              <a:lnSpc>
                <a:spcPct val="112000"/>
              </a:lnSpc>
              <a:buNone/>
            </a:pPr>
            <a:r>
              <a:rPr lang="en-US" sz="600" dirty="0">
                <a:solidFill>
                  <a:srgbClr val="0A192F"/>
                </a:solidFill>
                <a:latin typeface="DM Mono" pitchFamily="34" charset="0"/>
                <a:ea typeface="DM Mono" pitchFamily="34" charset="-122"/>
                <a:cs typeface="DM Mono" pitchFamily="34" charset="-120"/>
              </a:rPr>
              <a:t>http://192.168.1.1/paypal/login/secure/verify/account</a:t>
            </a:r>
            <a:endParaRPr lang="en-US" sz="600" dirty="0"/>
          </a:p>
        </p:txBody>
      </p:sp>
      <p:sp>
        <p:nvSpPr>
          <p:cNvPr id="35" name="Text 31"/>
          <p:cNvSpPr/>
          <p:nvPr/>
        </p:nvSpPr>
        <p:spPr>
          <a:xfrm>
            <a:off x="2832915" y="2968117"/>
            <a:ext cx="387548" cy="121444"/>
          </a:xfrm>
          <a:prstGeom prst="rect">
            <a:avLst/>
          </a:prstGeom>
          <a:noFill/>
          <a:ln/>
        </p:spPr>
        <p:txBody>
          <a:bodyPr wrap="none" lIns="0" tIns="0" rIns="0" bIns="0" rtlCol="0" anchor="t">
            <a:spAutoFit/>
          </a:bodyPr>
          <a:lstStyle/>
          <a:p>
            <a:pPr algn="l" indent="0" marL="0">
              <a:lnSpc>
                <a:spcPct val="108000"/>
              </a:lnSpc>
              <a:buNone/>
            </a:pPr>
            <a:r>
              <a:rPr lang="en-US" sz="650" b="1" dirty="0">
                <a:solidFill>
                  <a:srgbClr val="0056B3"/>
                </a:solidFill>
                <a:latin typeface="DM Mono Medium" pitchFamily="34" charset="0"/>
                <a:ea typeface="DM Mono Medium" pitchFamily="34" charset="-122"/>
                <a:cs typeface="DM Mono Medium" pitchFamily="34" charset="-120"/>
              </a:rPr>
              <a:t>100/100</a:t>
            </a:r>
            <a:endParaRPr lang="en-US" sz="650" dirty="0"/>
          </a:p>
        </p:txBody>
      </p:sp>
      <p:sp>
        <p:nvSpPr>
          <p:cNvPr id="36" name="Text 32"/>
          <p:cNvSpPr/>
          <p:nvPr/>
        </p:nvSpPr>
        <p:spPr>
          <a:xfrm>
            <a:off x="3399058" y="2977046"/>
            <a:ext cx="1641277" cy="234293"/>
          </a:xfrm>
          <a:prstGeom prst="rect">
            <a:avLst/>
          </a:prstGeom>
          <a:noFill/>
          <a:ln/>
        </p:spPr>
        <p:txBody>
          <a:bodyPr wrap="square" lIns="0" tIns="0" rIns="0" bIns="0" rtlCol="0" anchor="t">
            <a:spAutoFit/>
          </a:bodyPr>
          <a:lstStyle/>
          <a:p>
            <a:pPr algn="l" indent="0" marL="0">
              <a:lnSpc>
                <a:spcPct val="112000"/>
              </a:lnSpc>
              <a:buNone/>
            </a:pPr>
            <a:r>
              <a:rPr lang="en-US" sz="600" i="1" dirty="0">
                <a:solidFill>
                  <a:srgbClr val="3A4B6A"/>
                </a:solidFill>
                <a:latin typeface="Space Grotesk" pitchFamily="34" charset="0"/>
                <a:ea typeface="Space Grotesk" pitchFamily="34" charset="-122"/>
                <a:cs typeface="Space Grotesk" pitchFamily="34" charset="-120"/>
              </a:rPr>
              <a:t>Raw IP address, 9 slashes, 13 digits, high entropy — all 10 features flagged</a:t>
            </a:r>
            <a:endParaRPr lang="en-US" sz="600" dirty="0"/>
          </a:p>
        </p:txBody>
      </p:sp>
      <p:sp>
        <p:nvSpPr>
          <p:cNvPr id="37" name="Text 33"/>
          <p:cNvSpPr/>
          <p:nvPr/>
        </p:nvSpPr>
        <p:spPr>
          <a:xfrm>
            <a:off x="5772150" y="937617"/>
            <a:ext cx="2971800"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WHAT TO HIGHLIGHT DURING DEMO</a:t>
            </a:r>
            <a:endParaRPr lang="en-US" sz="550" dirty="0"/>
          </a:p>
        </p:txBody>
      </p:sp>
      <p:sp>
        <p:nvSpPr>
          <p:cNvPr id="38" name="Text 34"/>
          <p:cNvSpPr/>
          <p:nvPr/>
        </p:nvSpPr>
        <p:spPr>
          <a:xfrm>
            <a:off x="5772150" y="1126927"/>
            <a:ext cx="157163" cy="126802"/>
          </a:xfrm>
          <a:prstGeom prst="rect">
            <a:avLst/>
          </a:prstGeom>
          <a:noFill/>
          <a:ln/>
        </p:spPr>
        <p:txBody>
          <a:bodyPr wrap="none" lIns="0" tIns="0" rIns="0" bIns="0" rtlCol="0" anchor="t">
            <a:spAutoFit/>
          </a:bodyPr>
          <a:lstStyle/>
          <a:p>
            <a:pPr algn="l" indent="0" marL="0">
              <a:buNone/>
            </a:pPr>
            <a:r>
              <a:rPr lang="en-US" sz="650" b="1" dirty="0">
                <a:solidFill>
                  <a:srgbClr val="0056B3"/>
                </a:solidFill>
                <a:latin typeface="DM Mono Medium" pitchFamily="34" charset="0"/>
                <a:ea typeface="DM Mono Medium" pitchFamily="34" charset="-122"/>
                <a:cs typeface="DM Mono Medium" pitchFamily="34" charset="-120"/>
              </a:rPr>
              <a:t>→</a:t>
            </a:r>
            <a:endParaRPr lang="en-US" sz="650" dirty="0"/>
          </a:p>
        </p:txBody>
      </p:sp>
      <p:sp>
        <p:nvSpPr>
          <p:cNvPr id="39" name="Text 35"/>
          <p:cNvSpPr/>
          <p:nvPr/>
        </p:nvSpPr>
        <p:spPr>
          <a:xfrm>
            <a:off x="6015038" y="1126927"/>
            <a:ext cx="2728913" cy="269286"/>
          </a:xfrm>
          <a:prstGeom prst="rect">
            <a:avLst/>
          </a:prstGeom>
          <a:noFill/>
          <a:ln/>
        </p:spPr>
        <p:txBody>
          <a:bodyPr wrap="square" lIns="0" tIns="0" rIns="0" bIns="0" rtlCol="0" anchor="t">
            <a:spAutoFit/>
          </a:bodyPr>
          <a:lstStyle/>
          <a:p>
            <a:pPr algn="l" indent="0" marL="0">
              <a:lnSpc>
                <a:spcPct val="116000"/>
              </a:lnSpc>
              <a:buNone/>
            </a:pPr>
            <a:r>
              <a:rPr lang="en-US" sz="650" b="1" dirty="0">
                <a:solidFill>
                  <a:srgbClr val="0A192F"/>
                </a:solidFill>
                <a:latin typeface="Space Grotesk Bold" pitchFamily="34" charset="0"/>
                <a:ea typeface="Space Grotesk Bold" pitchFamily="34" charset="-122"/>
                <a:cs typeface="Space Grotesk Bold" pitchFamily="34" charset="-120"/>
              </a:rPr>
              <a:t>Risk Score (0–100)</a:t>
            </a:r>
            <a:r>
              <a:rPr lang="en-US" sz="650" dirty="0">
                <a:solidFill>
                  <a:srgbClr val="1A2B4A"/>
                </a:solidFill>
                <a:latin typeface="Space Grotesk" pitchFamily="34" charset="0"/>
                <a:ea typeface="Space Grotesk" pitchFamily="34" charset="-122"/>
                <a:cs typeface="Space Grotesk" pitchFamily="34" charset="-120"/>
              </a:rPr>
              <a:t> — colour-coded verdict badge (green / </a:t>
            </a:r>
            <a:r>
              <a:rPr lang="en-US" sz="650" dirty="0">
                <a:solidFill>
                  <a:srgbClr val="1A2B4A"/>
                </a:solidFill>
                <a:latin typeface="Space Grotesk" pitchFamily="34" charset="0"/>
                <a:ea typeface="Space Grotesk" pitchFamily="34" charset="-122"/>
                <a:cs typeface="Space Grotesk" pitchFamily="34" charset="-120"/>
              </a:rPr>
              <a:t>amber / red)</a:t>
            </a:r>
            <a:endParaRPr lang="en-US" sz="650" dirty="0"/>
          </a:p>
        </p:txBody>
      </p:sp>
      <p:sp>
        <p:nvSpPr>
          <p:cNvPr id="40" name="Text 36"/>
          <p:cNvSpPr/>
          <p:nvPr/>
        </p:nvSpPr>
        <p:spPr>
          <a:xfrm>
            <a:off x="5772150" y="1539087"/>
            <a:ext cx="157163" cy="126802"/>
          </a:xfrm>
          <a:prstGeom prst="rect">
            <a:avLst/>
          </a:prstGeom>
          <a:noFill/>
          <a:ln/>
        </p:spPr>
        <p:txBody>
          <a:bodyPr wrap="none" lIns="0" tIns="0" rIns="0" bIns="0" rtlCol="0" anchor="t">
            <a:spAutoFit/>
          </a:bodyPr>
          <a:lstStyle/>
          <a:p>
            <a:pPr algn="l" indent="0" marL="0">
              <a:buNone/>
            </a:pPr>
            <a:r>
              <a:rPr lang="en-US" sz="650" b="1" dirty="0">
                <a:solidFill>
                  <a:srgbClr val="0056B3"/>
                </a:solidFill>
                <a:latin typeface="DM Mono Medium" pitchFamily="34" charset="0"/>
                <a:ea typeface="DM Mono Medium" pitchFamily="34" charset="-122"/>
                <a:cs typeface="DM Mono Medium" pitchFamily="34" charset="-120"/>
              </a:rPr>
              <a:t>→</a:t>
            </a:r>
            <a:endParaRPr lang="en-US" sz="650" dirty="0"/>
          </a:p>
        </p:txBody>
      </p:sp>
      <p:sp>
        <p:nvSpPr>
          <p:cNvPr id="41" name="Text 37"/>
          <p:cNvSpPr/>
          <p:nvPr/>
        </p:nvSpPr>
        <p:spPr>
          <a:xfrm>
            <a:off x="6015038" y="1539087"/>
            <a:ext cx="2728913" cy="269286"/>
          </a:xfrm>
          <a:prstGeom prst="rect">
            <a:avLst/>
          </a:prstGeom>
          <a:noFill/>
          <a:ln/>
        </p:spPr>
        <p:txBody>
          <a:bodyPr wrap="square" lIns="0" tIns="0" rIns="0" bIns="0" rtlCol="0" anchor="t">
            <a:spAutoFit/>
          </a:bodyPr>
          <a:lstStyle/>
          <a:p>
            <a:pPr algn="l" indent="0" marL="0">
              <a:lnSpc>
                <a:spcPct val="116000"/>
              </a:lnSpc>
              <a:buNone/>
            </a:pPr>
            <a:r>
              <a:rPr lang="en-US" sz="650" b="1" dirty="0">
                <a:solidFill>
                  <a:srgbClr val="0A192F"/>
                </a:solidFill>
                <a:latin typeface="Space Grotesk Bold" pitchFamily="34" charset="0"/>
                <a:ea typeface="Space Grotesk Bold" pitchFamily="34" charset="-122"/>
                <a:cs typeface="Space Grotesk Bold" pitchFamily="34" charset="-120"/>
              </a:rPr>
              <a:t>Feature Table</a:t>
            </a:r>
            <a:r>
              <a:rPr lang="en-US" sz="650" dirty="0">
                <a:solidFill>
                  <a:srgbClr val="1A2B4A"/>
                </a:solidFill>
                <a:latin typeface="Space Grotesk" pitchFamily="34" charset="0"/>
                <a:ea typeface="Space Grotesk" pitchFamily="34" charset="-122"/>
                <a:cs typeface="Space Grotesk" pitchFamily="34" charset="-120"/>
              </a:rPr>
              <a:t> — each of the 10 features shown with its value </a:t>
            </a:r>
            <a:r>
              <a:rPr lang="en-US" sz="650" dirty="0">
                <a:solidFill>
                  <a:srgbClr val="1A2B4A"/>
                </a:solidFill>
                <a:latin typeface="Space Grotesk" pitchFamily="34" charset="0"/>
                <a:ea typeface="Space Grotesk" pitchFamily="34" charset="-122"/>
                <a:cs typeface="Space Grotesk" pitchFamily="34" charset="-120"/>
              </a:rPr>
              <a:t>and risk level</a:t>
            </a:r>
            <a:endParaRPr lang="en-US" sz="650" dirty="0"/>
          </a:p>
        </p:txBody>
      </p:sp>
      <p:sp>
        <p:nvSpPr>
          <p:cNvPr id="42" name="Text 38"/>
          <p:cNvSpPr/>
          <p:nvPr/>
        </p:nvSpPr>
        <p:spPr>
          <a:xfrm>
            <a:off x="5772150" y="1951248"/>
            <a:ext cx="157163" cy="126802"/>
          </a:xfrm>
          <a:prstGeom prst="rect">
            <a:avLst/>
          </a:prstGeom>
          <a:noFill/>
          <a:ln/>
        </p:spPr>
        <p:txBody>
          <a:bodyPr wrap="none" lIns="0" tIns="0" rIns="0" bIns="0" rtlCol="0" anchor="t">
            <a:spAutoFit/>
          </a:bodyPr>
          <a:lstStyle/>
          <a:p>
            <a:pPr algn="l" indent="0" marL="0">
              <a:buNone/>
            </a:pPr>
            <a:r>
              <a:rPr lang="en-US" sz="650" b="1" dirty="0">
                <a:solidFill>
                  <a:srgbClr val="0056B3"/>
                </a:solidFill>
                <a:latin typeface="DM Mono Medium" pitchFamily="34" charset="0"/>
                <a:ea typeface="DM Mono Medium" pitchFamily="34" charset="-122"/>
                <a:cs typeface="DM Mono Medium" pitchFamily="34" charset="-120"/>
              </a:rPr>
              <a:t>→</a:t>
            </a:r>
            <a:endParaRPr lang="en-US" sz="650" dirty="0"/>
          </a:p>
        </p:txBody>
      </p:sp>
      <p:sp>
        <p:nvSpPr>
          <p:cNvPr id="43" name="Text 39"/>
          <p:cNvSpPr/>
          <p:nvPr/>
        </p:nvSpPr>
        <p:spPr>
          <a:xfrm>
            <a:off x="6015038" y="1951248"/>
            <a:ext cx="2728913" cy="269286"/>
          </a:xfrm>
          <a:prstGeom prst="rect">
            <a:avLst/>
          </a:prstGeom>
          <a:noFill/>
          <a:ln/>
        </p:spPr>
        <p:txBody>
          <a:bodyPr wrap="square" lIns="0" tIns="0" rIns="0" bIns="0" rtlCol="0" anchor="t">
            <a:spAutoFit/>
          </a:bodyPr>
          <a:lstStyle/>
          <a:p>
            <a:pPr algn="l" indent="0" marL="0">
              <a:lnSpc>
                <a:spcPct val="116000"/>
              </a:lnSpc>
              <a:buNone/>
            </a:pPr>
            <a:r>
              <a:rPr lang="en-US" sz="650" b="1" dirty="0">
                <a:solidFill>
                  <a:srgbClr val="0A192F"/>
                </a:solidFill>
                <a:latin typeface="Space Grotesk Bold" pitchFamily="34" charset="0"/>
                <a:ea typeface="Space Grotesk Bold" pitchFamily="34" charset="-122"/>
                <a:cs typeface="Space Grotesk Bold" pitchFamily="34" charset="-120"/>
              </a:rPr>
              <a:t>Importance %</a:t>
            </a:r>
            <a:r>
              <a:rPr lang="en-US" sz="650" dirty="0">
                <a:solidFill>
                  <a:srgbClr val="1A2B4A"/>
                </a:solidFill>
                <a:latin typeface="Space Grotesk" pitchFamily="34" charset="0"/>
                <a:ea typeface="Space Grotesk" pitchFamily="34" charset="-122"/>
                <a:cs typeface="Space Grotesk" pitchFamily="34" charset="-120"/>
              </a:rPr>
              <a:t> — shows which features drove the decision for </a:t>
            </a:r>
            <a:r>
              <a:rPr lang="en-US" sz="650" dirty="0">
                <a:solidFill>
                  <a:srgbClr val="1A2B4A"/>
                </a:solidFill>
                <a:latin typeface="Space Grotesk" pitchFamily="34" charset="0"/>
                <a:ea typeface="Space Grotesk" pitchFamily="34" charset="-122"/>
                <a:cs typeface="Space Grotesk" pitchFamily="34" charset="-120"/>
              </a:rPr>
              <a:t>that specific URL</a:t>
            </a:r>
            <a:endParaRPr lang="en-US" sz="650" dirty="0"/>
          </a:p>
        </p:txBody>
      </p:sp>
      <p:sp>
        <p:nvSpPr>
          <p:cNvPr id="44" name="Text 40"/>
          <p:cNvSpPr/>
          <p:nvPr/>
        </p:nvSpPr>
        <p:spPr>
          <a:xfrm>
            <a:off x="5772150" y="2363409"/>
            <a:ext cx="157163" cy="126802"/>
          </a:xfrm>
          <a:prstGeom prst="rect">
            <a:avLst/>
          </a:prstGeom>
          <a:noFill/>
          <a:ln/>
        </p:spPr>
        <p:txBody>
          <a:bodyPr wrap="none" lIns="0" tIns="0" rIns="0" bIns="0" rtlCol="0" anchor="t">
            <a:spAutoFit/>
          </a:bodyPr>
          <a:lstStyle/>
          <a:p>
            <a:pPr algn="l" indent="0" marL="0">
              <a:buNone/>
            </a:pPr>
            <a:r>
              <a:rPr lang="en-US" sz="650" b="1" dirty="0">
                <a:solidFill>
                  <a:srgbClr val="0056B3"/>
                </a:solidFill>
                <a:latin typeface="DM Mono Medium" pitchFamily="34" charset="0"/>
                <a:ea typeface="DM Mono Medium" pitchFamily="34" charset="-122"/>
                <a:cs typeface="DM Mono Medium" pitchFamily="34" charset="-120"/>
              </a:rPr>
              <a:t>→</a:t>
            </a:r>
            <a:endParaRPr lang="en-US" sz="650" dirty="0"/>
          </a:p>
        </p:txBody>
      </p:sp>
      <p:sp>
        <p:nvSpPr>
          <p:cNvPr id="45" name="Text 41"/>
          <p:cNvSpPr/>
          <p:nvPr/>
        </p:nvSpPr>
        <p:spPr>
          <a:xfrm>
            <a:off x="6015038" y="2363409"/>
            <a:ext cx="2728913" cy="269286"/>
          </a:xfrm>
          <a:prstGeom prst="rect">
            <a:avLst/>
          </a:prstGeom>
          <a:noFill/>
          <a:ln/>
        </p:spPr>
        <p:txBody>
          <a:bodyPr wrap="square" lIns="0" tIns="0" rIns="0" bIns="0" rtlCol="0" anchor="t">
            <a:spAutoFit/>
          </a:bodyPr>
          <a:lstStyle/>
          <a:p>
            <a:pPr algn="l" indent="0" marL="0">
              <a:lnSpc>
                <a:spcPct val="116000"/>
              </a:lnSpc>
              <a:buNone/>
            </a:pPr>
            <a:r>
              <a:rPr lang="en-US" sz="650" b="1" dirty="0">
                <a:solidFill>
                  <a:srgbClr val="0A192F"/>
                </a:solidFill>
                <a:latin typeface="Space Grotesk Bold" pitchFamily="34" charset="0"/>
                <a:ea typeface="Space Grotesk Bold" pitchFamily="34" charset="-122"/>
                <a:cs typeface="Space Grotesk Bold" pitchFamily="34" charset="-120"/>
              </a:rPr>
              <a:t>About the Model</a:t>
            </a:r>
            <a:r>
              <a:rPr lang="en-US" sz="650" dirty="0">
                <a:solidFill>
                  <a:srgbClr val="1A2B4A"/>
                </a:solidFill>
                <a:latin typeface="Space Grotesk" pitchFamily="34" charset="0"/>
                <a:ea typeface="Space Grotesk" pitchFamily="34" charset="-122"/>
                <a:cs typeface="Space Grotesk" pitchFamily="34" charset="-120"/>
              </a:rPr>
              <a:t> panel — confirms Random Forest, 94.03% </a:t>
            </a:r>
            <a:r>
              <a:rPr lang="en-US" sz="650" dirty="0">
                <a:solidFill>
                  <a:srgbClr val="1A2B4A"/>
                </a:solidFill>
                <a:latin typeface="Space Grotesk" pitchFamily="34" charset="0"/>
                <a:ea typeface="Space Grotesk" pitchFamily="34" charset="-122"/>
                <a:cs typeface="Space Grotesk" pitchFamily="34" charset="-120"/>
              </a:rPr>
              <a:t>accuracy, 641K training URLs</a:t>
            </a:r>
            <a:endParaRPr lang="en-US" sz="650" dirty="0"/>
          </a:p>
        </p:txBody>
      </p:sp>
      <p:sp>
        <p:nvSpPr>
          <p:cNvPr id="46" name="Text 42"/>
          <p:cNvSpPr/>
          <p:nvPr/>
        </p:nvSpPr>
        <p:spPr>
          <a:xfrm>
            <a:off x="5772150" y="2775570"/>
            <a:ext cx="157163" cy="126802"/>
          </a:xfrm>
          <a:prstGeom prst="rect">
            <a:avLst/>
          </a:prstGeom>
          <a:noFill/>
          <a:ln/>
        </p:spPr>
        <p:txBody>
          <a:bodyPr wrap="none" lIns="0" tIns="0" rIns="0" bIns="0" rtlCol="0" anchor="t">
            <a:spAutoFit/>
          </a:bodyPr>
          <a:lstStyle/>
          <a:p>
            <a:pPr algn="l" indent="0" marL="0">
              <a:buNone/>
            </a:pPr>
            <a:r>
              <a:rPr lang="en-US" sz="650" b="1" dirty="0">
                <a:solidFill>
                  <a:srgbClr val="0056B3"/>
                </a:solidFill>
                <a:latin typeface="DM Mono Medium" pitchFamily="34" charset="0"/>
                <a:ea typeface="DM Mono Medium" pitchFamily="34" charset="-122"/>
                <a:cs typeface="DM Mono Medium" pitchFamily="34" charset="-120"/>
              </a:rPr>
              <a:t>→</a:t>
            </a:r>
            <a:endParaRPr lang="en-US" sz="650" dirty="0"/>
          </a:p>
        </p:txBody>
      </p:sp>
      <p:sp>
        <p:nvSpPr>
          <p:cNvPr id="47" name="Text 43"/>
          <p:cNvSpPr/>
          <p:nvPr/>
        </p:nvSpPr>
        <p:spPr>
          <a:xfrm>
            <a:off x="6015038" y="2775570"/>
            <a:ext cx="2728913" cy="269286"/>
          </a:xfrm>
          <a:prstGeom prst="rect">
            <a:avLst/>
          </a:prstGeom>
          <a:noFill/>
          <a:ln/>
        </p:spPr>
        <p:txBody>
          <a:bodyPr wrap="square" lIns="0" tIns="0" rIns="0" bIns="0" rtlCol="0" anchor="t">
            <a:spAutoFit/>
          </a:bodyPr>
          <a:lstStyle/>
          <a:p>
            <a:pPr algn="l" indent="0" marL="0">
              <a:lnSpc>
                <a:spcPct val="116000"/>
              </a:lnSpc>
              <a:buNone/>
            </a:pPr>
            <a:r>
              <a:rPr lang="en-US" sz="650" b="1" dirty="0">
                <a:solidFill>
                  <a:srgbClr val="0A192F"/>
                </a:solidFill>
                <a:latin typeface="Space Grotesk Bold" pitchFamily="34" charset="0"/>
                <a:ea typeface="Space Grotesk Bold" pitchFamily="34" charset="-122"/>
                <a:cs typeface="Space Grotesk Bold" pitchFamily="34" charset="-120"/>
              </a:rPr>
              <a:t>Response time</a:t>
            </a:r>
            <a:r>
              <a:rPr lang="en-US" sz="650" dirty="0">
                <a:solidFill>
                  <a:srgbClr val="1A2B4A"/>
                </a:solidFill>
                <a:latin typeface="Space Grotesk" pitchFamily="34" charset="0"/>
                <a:ea typeface="Space Grotesk" pitchFamily="34" charset="-122"/>
                <a:cs typeface="Space Grotesk" pitchFamily="34" charset="-120"/>
              </a:rPr>
              <a:t> — analysis completes in under 1 second, </a:t>
            </a:r>
            <a:r>
              <a:rPr lang="en-US" sz="650" dirty="0">
                <a:solidFill>
                  <a:srgbClr val="1A2B4A"/>
                </a:solidFill>
                <a:latin typeface="Space Grotesk" pitchFamily="34" charset="0"/>
                <a:ea typeface="Space Grotesk" pitchFamily="34" charset="-122"/>
                <a:cs typeface="Space Grotesk" pitchFamily="34" charset="-120"/>
              </a:rPr>
              <a:t>demonstrating real-time capability</a:t>
            </a:r>
            <a:endParaRPr lang="en-US" sz="650" dirty="0"/>
          </a:p>
        </p:txBody>
      </p:sp>
      <p:sp>
        <p:nvSpPr>
          <p:cNvPr id="48" name="Shape 44"/>
          <p:cNvSpPr/>
          <p:nvPr/>
        </p:nvSpPr>
        <p:spPr>
          <a:xfrm>
            <a:off x="5772150" y="3669795"/>
            <a:ext cx="2971800" cy="736113"/>
          </a:xfrm>
          <a:prstGeom prst="rect">
            <a:avLst/>
          </a:prstGeom>
          <a:solidFill>
            <a:srgbClr val="0A192F"/>
          </a:solidFill>
          <a:ln/>
        </p:spPr>
      </p:sp>
      <p:sp>
        <p:nvSpPr>
          <p:cNvPr id="49" name="Text 45"/>
          <p:cNvSpPr/>
          <p:nvPr/>
        </p:nvSpPr>
        <p:spPr>
          <a:xfrm>
            <a:off x="5886450" y="3755520"/>
            <a:ext cx="2743200" cy="103584"/>
          </a:xfrm>
          <a:prstGeom prst="rect">
            <a:avLst/>
          </a:prstGeom>
          <a:noFill/>
          <a:ln/>
        </p:spPr>
        <p:txBody>
          <a:bodyPr wrap="square" lIns="0" tIns="0" rIns="0" bIns="0" rtlCol="0" anchor="t">
            <a:spAutoFit/>
          </a:bodyPr>
          <a:lstStyle/>
          <a:p>
            <a:pPr algn="l" indent="0" marL="0">
              <a:buNone/>
            </a:pPr>
            <a:r>
              <a:rPr lang="en-US" sz="550" spc="2" kern="0" dirty="0">
                <a:solidFill>
                  <a:srgbClr val="4A90D9"/>
                </a:solidFill>
                <a:latin typeface="DM Mono" pitchFamily="34" charset="0"/>
                <a:ea typeface="DM Mono" pitchFamily="34" charset="-122"/>
                <a:cs typeface="DM Mono" pitchFamily="34" charset="-120"/>
              </a:rPr>
              <a:t>BACKUP PLAN — IF INTERNET FAILS</a:t>
            </a:r>
            <a:endParaRPr lang="en-US" sz="550" dirty="0"/>
          </a:p>
        </p:txBody>
      </p:sp>
      <p:sp>
        <p:nvSpPr>
          <p:cNvPr id="50" name="Text 46"/>
          <p:cNvSpPr/>
          <p:nvPr/>
        </p:nvSpPr>
        <p:spPr>
          <a:xfrm>
            <a:off x="5886450" y="3916254"/>
            <a:ext cx="2743200" cy="403929"/>
          </a:xfrm>
          <a:prstGeom prst="rect">
            <a:avLst/>
          </a:prstGeom>
          <a:noFill/>
          <a:ln/>
        </p:spPr>
        <p:txBody>
          <a:bodyPr wrap="square" lIns="0" tIns="0" rIns="0" bIns="0" rtlCol="0" anchor="t">
            <a:spAutoFit/>
          </a:bodyPr>
          <a:lstStyle/>
          <a:p>
            <a:pPr algn="l" indent="0" marL="0">
              <a:lnSpc>
                <a:spcPct val="116000"/>
              </a:lnSpc>
              <a:buNone/>
            </a:pPr>
            <a:r>
              <a:rPr lang="en-US" sz="650" dirty="0">
                <a:solidFill>
                  <a:srgbClr val="8BA4C0"/>
                </a:solidFill>
                <a:latin typeface="Space Grotesk" pitchFamily="34" charset="0"/>
                <a:ea typeface="Space Grotesk" pitchFamily="34" charset="-122"/>
                <a:cs typeface="Space Grotesk" pitchFamily="34" charset="-120"/>
              </a:rPr>
              <a:t>Show </a:t>
            </a:r>
            <a:r>
              <a:rPr lang="en-US" sz="650" b="1" dirty="0">
                <a:solidFill>
                  <a:srgbClr val="C8DEFF"/>
                </a:solidFill>
                <a:latin typeface="Space Grotesk Bold" pitchFamily="34" charset="0"/>
                <a:ea typeface="Space Grotesk Bold" pitchFamily="34" charset="-122"/>
                <a:cs typeface="Space Grotesk Bold" pitchFamily="34" charset="-120"/>
              </a:rPr>
              <a:t>Figures F.1–F.6</a:t>
            </a:r>
            <a:r>
              <a:rPr lang="en-US" sz="650" dirty="0">
                <a:solidFill>
                  <a:srgbClr val="8BA4C0"/>
                </a:solidFill>
                <a:latin typeface="Space Grotesk" pitchFamily="34" charset="0"/>
                <a:ea typeface="Space Grotesk" pitchFamily="34" charset="-122"/>
                <a:cs typeface="Space Grotesk" pitchFamily="34" charset="-120"/>
              </a:rPr>
              <a:t> from Appendix F of the dissertation — </a:t>
            </a:r>
            <a:r>
              <a:rPr lang="en-US" sz="650" dirty="0">
                <a:solidFill>
                  <a:srgbClr val="8BA4C0"/>
                </a:solidFill>
                <a:latin typeface="Space Grotesk" pitchFamily="34" charset="0"/>
                <a:ea typeface="Space Grotesk" pitchFamily="34" charset="-122"/>
                <a:cs typeface="Space Grotesk" pitchFamily="34" charset="-120"/>
              </a:rPr>
              <a:t>six pre-captured screenshots covering Safe, Suspicious, and </a:t>
            </a:r>
            <a:r>
              <a:rPr lang="en-US" sz="650" dirty="0">
                <a:solidFill>
                  <a:srgbClr val="8BA4C0"/>
                </a:solidFill>
                <a:latin typeface="Space Grotesk" pitchFamily="34" charset="0"/>
                <a:ea typeface="Space Grotesk" pitchFamily="34" charset="-122"/>
                <a:cs typeface="Space Grotesk" pitchFamily="34" charset="-120"/>
              </a:rPr>
              <a:t>Malicious results with full feature tables.</a:t>
            </a:r>
            <a:endParaRPr lang="en-US" sz="650" dirty="0"/>
          </a:p>
        </p:txBody>
      </p:sp>
      <p:sp>
        <p:nvSpPr>
          <p:cNvPr id="51" name="Shape 47"/>
          <p:cNvSpPr/>
          <p:nvPr/>
        </p:nvSpPr>
        <p:spPr>
          <a:xfrm>
            <a:off x="5772150" y="4548783"/>
            <a:ext cx="2971800" cy="451842"/>
          </a:xfrm>
          <a:prstGeom prst="rect">
            <a:avLst/>
          </a:prstGeom>
          <a:solidFill>
            <a:srgbClr val="E6F0FA"/>
          </a:solidFill>
          <a:ln/>
        </p:spPr>
      </p:sp>
      <p:sp>
        <p:nvSpPr>
          <p:cNvPr id="52" name="Shape 48"/>
          <p:cNvSpPr/>
          <p:nvPr/>
        </p:nvSpPr>
        <p:spPr>
          <a:xfrm>
            <a:off x="5772150" y="4548783"/>
            <a:ext cx="2971800" cy="21431"/>
          </a:xfrm>
          <a:prstGeom prst="rect">
            <a:avLst/>
          </a:prstGeom>
          <a:solidFill>
            <a:srgbClr val="0056B3"/>
          </a:solidFill>
          <a:ln/>
        </p:spPr>
      </p:sp>
      <p:sp>
        <p:nvSpPr>
          <p:cNvPr id="53" name="Text 49"/>
          <p:cNvSpPr/>
          <p:nvPr/>
        </p:nvSpPr>
        <p:spPr>
          <a:xfrm>
            <a:off x="5886450" y="4655939"/>
            <a:ext cx="2743200" cy="103584"/>
          </a:xfrm>
          <a:prstGeom prst="rect">
            <a:avLst/>
          </a:prstGeom>
          <a:noFill/>
          <a:ln/>
        </p:spPr>
        <p:txBody>
          <a:bodyPr wrap="square" lIns="0" tIns="0" rIns="0" bIns="0" rtlCol="0" anchor="t">
            <a:spAutoFit/>
          </a:bodyPr>
          <a:lstStyle/>
          <a:p>
            <a:pPr algn="l" indent="0" marL="0">
              <a:buNone/>
            </a:pPr>
            <a:r>
              <a:rPr lang="en-US" sz="550" spc="2" kern="0" dirty="0">
                <a:solidFill>
                  <a:srgbClr val="0056B3"/>
                </a:solidFill>
                <a:latin typeface="DM Mono" pitchFamily="34" charset="0"/>
                <a:ea typeface="DM Mono" pitchFamily="34" charset="-122"/>
                <a:cs typeface="DM Mono" pitchFamily="34" charset="-120"/>
              </a:rPr>
              <a:t>GITHUB REPOSITORY</a:t>
            </a:r>
            <a:endParaRPr lang="en-US" sz="550" dirty="0"/>
          </a:p>
        </p:txBody>
      </p:sp>
      <p:sp>
        <p:nvSpPr>
          <p:cNvPr id="54" name="Text 50"/>
          <p:cNvSpPr/>
          <p:nvPr/>
        </p:nvSpPr>
        <p:spPr>
          <a:xfrm>
            <a:off x="5886450" y="4802386"/>
            <a:ext cx="2743200" cy="112514"/>
          </a:xfrm>
          <a:prstGeom prst="rect">
            <a:avLst/>
          </a:prstGeom>
          <a:noFill/>
          <a:ln/>
        </p:spPr>
        <p:txBody>
          <a:bodyPr wrap="square" lIns="0" tIns="0" rIns="0" bIns="0" rtlCol="0" anchor="t">
            <a:spAutoFit/>
          </a:bodyPr>
          <a:lstStyle/>
          <a:p>
            <a:pPr algn="l" indent="0" marL="0">
              <a:buNone/>
            </a:pPr>
            <a:r>
              <a:rPr lang="en-US" sz="600" dirty="0">
                <a:solidFill>
                  <a:srgbClr val="0A192F"/>
                </a:solidFill>
                <a:latin typeface="DM Mono" pitchFamily="34" charset="0"/>
                <a:ea typeface="DM Mono" pitchFamily="34" charset="-122"/>
                <a:cs typeface="DM Mono" pitchFamily="34" charset="-120"/>
              </a:rPr>
              <a:t>github.com/s3giu/phishing-url-detection</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2026-06-06T00:16:08Z</dcterms:created>
  <dcterms:modified xsi:type="dcterms:W3CDTF">2026-06-06T00:16:08Z</dcterms:modified>
</cp:coreProperties>
</file>